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526" r:id="rId3"/>
    <p:sldId id="293" r:id="rId4"/>
    <p:sldId id="614" r:id="rId5"/>
    <p:sldId id="619" r:id="rId6"/>
    <p:sldId id="787" r:id="rId7"/>
    <p:sldId id="617" r:id="rId8"/>
    <p:sldId id="538" r:id="rId9"/>
    <p:sldId id="627" r:id="rId10"/>
    <p:sldId id="800" r:id="rId11"/>
    <p:sldId id="615" r:id="rId12"/>
    <p:sldId id="616" r:id="rId13"/>
    <p:sldId id="618" r:id="rId14"/>
    <p:sldId id="743" r:id="rId15"/>
    <p:sldId id="314" r:id="rId16"/>
    <p:sldId id="315" r:id="rId17"/>
    <p:sldId id="804" r:id="rId18"/>
    <p:sldId id="805" r:id="rId19"/>
    <p:sldId id="807" r:id="rId20"/>
    <p:sldId id="809" r:id="rId21"/>
    <p:sldId id="810" r:id="rId22"/>
    <p:sldId id="811" r:id="rId23"/>
    <p:sldId id="808" r:id="rId24"/>
    <p:sldId id="768" r:id="rId25"/>
    <p:sldId id="313" r:id="rId26"/>
    <p:sldId id="798" r:id="rId27"/>
    <p:sldId id="328" r:id="rId28"/>
    <p:sldId id="622" r:id="rId29"/>
    <p:sldId id="799" r:id="rId30"/>
    <p:sldId id="62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24" userDrawn="1">
          <p15:clr>
            <a:srgbClr val="A4A3A4"/>
          </p15:clr>
        </p15:guide>
        <p15:guide id="3" orient="horz" pos="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0"/>
    <a:srgbClr val="0012A0"/>
    <a:srgbClr val="6EBFF0"/>
    <a:srgbClr val="66ACD3"/>
    <a:srgbClr val="9AE0FF"/>
    <a:srgbClr val="011199"/>
    <a:srgbClr val="8FAADC"/>
    <a:srgbClr val="B9C2C9"/>
    <a:srgbClr val="E7E7E7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54"/>
    <p:restoredTop sz="59660"/>
  </p:normalViewPr>
  <p:slideViewPr>
    <p:cSldViewPr snapToGrid="0" snapToObjects="1">
      <p:cViewPr varScale="1">
        <p:scale>
          <a:sx n="73" d="100"/>
          <a:sy n="73" d="100"/>
        </p:scale>
        <p:origin x="1616" y="192"/>
      </p:cViewPr>
      <p:guideLst>
        <p:guide pos="624"/>
        <p:guide orient="horz" pos="840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12/10/25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7D9FC2DB-DC29-5146-9DFE-A39D7FF360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D7D467C6-82A2-904B-9FFF-D7F0E092B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F4E172AA-C303-B549-82C7-136D20C32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830DD52-D4AC-C242-8399-506E70DF3415}" type="slidenum">
              <a:rPr lang="en-US" altLang="en-US" sz="1300">
                <a:latin typeface="Times New Roman" panose="02020603050405020304" pitchFamily="18" charset="0"/>
              </a:rPr>
              <a:pPr/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850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F9FF6-D926-A94F-A344-B91DF399E6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78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00B5D03E-1811-424E-8F25-33F74AEE23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5AD055A7-1374-6D44-A210-158A8592E32A}" type="slidenum">
              <a:rPr lang="en-US" altLang="en-US" i="0" smtClean="0">
                <a:latin typeface="Times New Roman" panose="02020603050405020304" pitchFamily="18" charset="0"/>
              </a:rPr>
              <a:pPr/>
              <a:t>4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0A24E6F9-916F-AC49-8EE1-9B2F95E451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EC6D692-C2FC-ED41-A342-7DB32242EA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8294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044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08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F9FF6-D926-A94F-A344-B91DF399E6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13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7" name="Slide Image Placeholder 1">
            <a:extLst>
              <a:ext uri="{FF2B5EF4-FFF2-40B4-BE49-F238E27FC236}">
                <a16:creationId xmlns:a16="http://schemas.microsoft.com/office/drawing/2014/main" id="{F69CDD4F-F6C6-9C43-AC30-7CB40978A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8" name="Notes Placeholder 2">
            <a:extLst>
              <a:ext uri="{FF2B5EF4-FFF2-40B4-BE49-F238E27FC236}">
                <a16:creationId xmlns:a16="http://schemas.microsoft.com/office/drawing/2014/main" id="{EA567A8A-CF73-6746-87FF-612B62C45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249859" name="Slide Number Placeholder 3">
            <a:extLst>
              <a:ext uri="{FF2B5EF4-FFF2-40B4-BE49-F238E27FC236}">
                <a16:creationId xmlns:a16="http://schemas.microsoft.com/office/drawing/2014/main" id="{33F59C06-A2E2-F04B-84B9-C10F9F540C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DEE22A37-B6B4-F74C-984A-CE0EAF07E3A6}" type="slidenum">
              <a:rPr lang="en-US" altLang="en-US" i="0">
                <a:latin typeface="Times New Roman" panose="02020603050405020304" pitchFamily="18" charset="0"/>
              </a:rPr>
              <a:pPr/>
              <a:t>8</a:t>
            </a:fld>
            <a:endParaRPr lang="en-US" altLang="en-US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384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854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83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59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590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arenBoth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F9FF6-D926-A94F-A344-B91DF399E6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04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F9FF6-D926-A94F-A344-B91DF399E6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34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6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563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FA6FB-5E6B-8837-E760-3E85DF47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67B35-63F8-CF11-CA9E-5FFCF7C1E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8DF47-41F2-1454-1BCB-50F606918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40F2E-67E1-0BB0-2C46-80F939C51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F9FF6-D926-A94F-A344-B91DF399E64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71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D6E78-B238-547D-BA8B-DAA53350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3403F-BCE2-EFAF-5139-A1C20713D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BF634-7A44-6158-5FAF-C1A32FBD1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963BC-2E41-9BEB-C101-A8E9B91B4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F9FF6-D926-A94F-A344-B91DF399E64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2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881E-9D20-9C46-EFCC-99F62B0B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618A0-1602-8C8F-EE7B-CBB295E96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500D7-56C4-1C26-7D97-90F106C26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5BDF2-6D89-B494-7BBD-82F24A172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F9FF6-D926-A94F-A344-B91DF399E64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42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AF96-510D-28DF-0A20-D6B7E1639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5B637C4C-1B69-4870-EEBC-C9F66E0777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02756" indent="-270291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081164" indent="-216233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513629" indent="-216233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1946095" indent="-216233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64214C2-55D9-C14B-9DC7-A94D993D9231}" type="slidenum">
              <a:rPr lang="en-US" i="0" smtClean="0">
                <a:latin typeface="Times New Roman" charset="0"/>
              </a:rPr>
              <a:pPr>
                <a:defRPr/>
              </a:pPr>
              <a:t>23</a:t>
            </a:fld>
            <a:endParaRPr lang="en-US" i="0">
              <a:latin typeface="Times New Roman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7DE590CD-D4D5-3BD5-7380-9891A4154A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2D6FFE52-EB3B-E9C5-E194-C268DC43C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3797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02756" indent="-270291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081164" indent="-216233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513629" indent="-216233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1946095" indent="-216233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E40171A-998E-5D43-84CC-CC7DF931BC2C}" type="slidenum">
              <a:rPr lang="en-US" i="0" smtClean="0">
                <a:latin typeface="Times New Roman" charset="0"/>
              </a:rPr>
              <a:pPr>
                <a:defRPr/>
              </a:pPr>
              <a:t>25</a:t>
            </a:fld>
            <a:endParaRPr lang="en-US" i="0">
              <a:latin typeface="Times New Roman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02756" indent="-270291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081164" indent="-216233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513629" indent="-216233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1946095" indent="-216233" defTabSz="914485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64214C2-55D9-C14B-9DC7-A94D993D9231}" type="slidenum">
              <a:rPr lang="en-US" i="0" smtClean="0">
                <a:latin typeface="Times New Roman" charset="0"/>
              </a:rPr>
              <a:pPr>
                <a:defRPr/>
              </a:pPr>
              <a:t>27</a:t>
            </a:fld>
            <a:endParaRPr lang="en-US" i="0">
              <a:latin typeface="Times New Roman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11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cs422-ta@cs.purdue.edu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CS422 Final Review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CBEE147-E647-8C02-33AE-79D5F1F58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itle 5">
            <a:extLst>
              <a:ext uri="{FF2B5EF4-FFF2-40B4-BE49-F238E27FC236}">
                <a16:creationId xmlns:a16="http://schemas.microsoft.com/office/drawing/2014/main" id="{0BC4E898-5B23-B740-9ADC-9763551C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Grading Policy</a:t>
            </a:r>
          </a:p>
        </p:txBody>
      </p:sp>
      <p:sp>
        <p:nvSpPr>
          <p:cNvPr id="30721" name="Content Placeholder 2">
            <a:extLst>
              <a:ext uri="{FF2B5EF4-FFF2-40B4-BE49-F238E27FC236}">
                <a16:creationId xmlns:a16="http://schemas.microsoft.com/office/drawing/2014/main" id="{97CE1526-55C7-BB43-BB2D-C7929BA87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Homework: 					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20%</a:t>
            </a:r>
          </a:p>
          <a:p>
            <a:pPr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Labs: 							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20% </a:t>
            </a:r>
          </a:p>
          <a:p>
            <a:pPr lvl="1"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Lab 1: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4%, </a:t>
            </a:r>
            <a:r>
              <a:rPr lang="en-US" altLang="en-US" dirty="0">
                <a:ea typeface="ＭＳ Ｐゴシック" panose="020B0600070205080204" pitchFamily="34" charset="-128"/>
              </a:rPr>
              <a:t>Lab 2: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7%, </a:t>
            </a:r>
            <a:r>
              <a:rPr lang="en-US" altLang="en-US" dirty="0">
                <a:ea typeface="ＭＳ Ｐゴシック" panose="020B0600070205080204" pitchFamily="34" charset="-128"/>
              </a:rPr>
              <a:t>Lab 3: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6%, </a:t>
            </a:r>
            <a:r>
              <a:rPr lang="en-US" altLang="en-US" dirty="0">
                <a:ea typeface="ＭＳ Ｐゴシック" panose="020B0600070205080204" pitchFamily="34" charset="-128"/>
              </a:rPr>
              <a:t>Lab 4: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3% (total 20%)</a:t>
            </a:r>
          </a:p>
          <a:p>
            <a:pPr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Exam:							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55% </a:t>
            </a:r>
            <a:r>
              <a:rPr lang="en-US" altLang="en-US" dirty="0">
                <a:ea typeface="ＭＳ Ｐゴシック" panose="020B0600070205080204" pitchFamily="34" charset="-128"/>
              </a:rPr>
              <a:t>	</a:t>
            </a:r>
          </a:p>
          <a:p>
            <a:pPr lvl="1"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Midterm 1: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15% (in-class)</a:t>
            </a:r>
          </a:p>
          <a:p>
            <a:pPr lvl="1"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Midterm 2: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15% (in-class)</a:t>
            </a:r>
          </a:p>
          <a:p>
            <a:pPr lvl="1"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Final exam: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25%</a:t>
            </a:r>
          </a:p>
          <a:p>
            <a:pPr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Participation:    				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 your grades at Brightspace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Final grades will be curved … </a:t>
            </a:r>
          </a:p>
          <a:p>
            <a:pPr marL="0" indent="0">
              <a:buNone/>
              <a:defRPr/>
            </a:pPr>
            <a:endParaRPr lang="en-US" altLang="en-US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marL="0" indent="0">
              <a:buNone/>
              <a:defRPr/>
            </a:pPr>
            <a:endParaRPr lang="en-US" altLang="en-US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  <a:p>
            <a:pPr marL="457200" lvl="1" indent="0">
              <a:buNone/>
              <a:defRPr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F7A4D6E9-749F-BA42-A9F8-4BEA5611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CDCA94-61A0-9A42-88E0-93C3B469A435}" type="slidenum">
              <a:rPr lang="en-US" altLang="x-none" smtClean="0"/>
              <a:pPr>
                <a:defRPr/>
              </a:pPr>
              <a:t>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7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43DBCB-5AB7-2C41-84A6-5B47BC9B4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@ARMS B061</a:t>
            </a:r>
          </a:p>
          <a:p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Bring your PUID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Closed-book, closed-note … 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No make-up exam 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Exception only for emergency (with written document), according to University policy; 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Contact us ASAP if any question </a:t>
            </a:r>
          </a:p>
          <a:p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dirty="0"/>
          </a:p>
          <a:p>
            <a:endParaRPr lang="en-US" sz="3000" dirty="0"/>
          </a:p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Final: 19:00PM – 21:00PM, Dec 16 (Tue)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2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3">
            <a:extLst>
              <a:ext uri="{FF2B5EF4-FFF2-40B4-BE49-F238E27FC236}">
                <a16:creationId xmlns:a16="http://schemas.microsoft.com/office/drawing/2014/main" id="{E5BDCF33-F2B6-B149-BDC6-C3C9385C0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Gill Sans MT" panose="020B0502020104020203" pitchFamily="34" charset="77"/>
                <a:ea typeface="ＭＳ Ｐゴシック" panose="020B0600070205080204" pitchFamily="34" charset="-128"/>
                <a:cs typeface="Calibri" panose="020F0502020204030204" pitchFamily="34" charset="0"/>
              </a:rPr>
              <a:t>Internet protocol stack</a:t>
            </a:r>
          </a:p>
        </p:txBody>
      </p:sp>
      <p:sp>
        <p:nvSpPr>
          <p:cNvPr id="166916" name="Rectangle 4">
            <a:extLst>
              <a:ext uri="{FF2B5EF4-FFF2-40B4-BE49-F238E27FC236}">
                <a16:creationId xmlns:a16="http://schemas.microsoft.com/office/drawing/2014/main" id="{5CEE2359-55B1-3C4A-A6FE-033235C48E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94497" y="1346443"/>
            <a:ext cx="5605670" cy="452596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altLang="en-US" b="1" dirty="0">
                <a:latin typeface="Times New Roman" charset="0"/>
                <a:ea typeface="ＭＳ Ｐゴシック" charset="-128"/>
              </a:rPr>
              <a:t>Applications</a:t>
            </a:r>
          </a:p>
          <a:p>
            <a:pPr marL="0" indent="0" algn="ctr">
              <a:buNone/>
              <a:defRPr/>
            </a:pPr>
            <a:r>
              <a:rPr lang="is-IS" altLang="en-US" dirty="0">
                <a:latin typeface="Times New Roman" charset="0"/>
                <a:ea typeface="ＭＳ Ｐゴシック" charset="-128"/>
              </a:rPr>
              <a:t>… built on ...</a:t>
            </a:r>
          </a:p>
          <a:p>
            <a:pPr marL="0" indent="0" algn="ctr">
              <a:buNone/>
              <a:defRPr/>
            </a:pPr>
            <a:r>
              <a:rPr lang="en-US" altLang="en-US" b="1" u="sng" dirty="0">
                <a:latin typeface="Times New Roman" charset="0"/>
                <a:ea typeface="ＭＳ Ｐゴシック" charset="-128"/>
              </a:rPr>
              <a:t>R</a:t>
            </a:r>
            <a:r>
              <a:rPr lang="is-IS" altLang="en-US" b="1" u="sng" dirty="0">
                <a:latin typeface="Times New Roman" charset="0"/>
                <a:ea typeface="ＭＳ Ｐゴシック" charset="-128"/>
              </a:rPr>
              <a:t>eliable (or unreliable) transport </a:t>
            </a:r>
          </a:p>
          <a:p>
            <a:pPr marL="0" indent="0" algn="ctr">
              <a:buNone/>
              <a:defRPr/>
            </a:pPr>
            <a:r>
              <a:rPr lang="is-IS" altLang="en-US" dirty="0">
                <a:latin typeface="Times New Roman" charset="0"/>
                <a:ea typeface="ＭＳ Ｐゴシック" charset="-128"/>
              </a:rPr>
              <a:t>… built on ...</a:t>
            </a:r>
          </a:p>
          <a:p>
            <a:pPr marL="0" indent="0" algn="ctr">
              <a:buNone/>
              <a:defRPr/>
            </a:pPr>
            <a:r>
              <a:rPr lang="en-US" altLang="en-US" b="1" u="sng" dirty="0">
                <a:latin typeface="Times New Roman" charset="0"/>
                <a:ea typeface="ＭＳ Ｐゴシック" charset="-128"/>
              </a:rPr>
              <a:t>Best-effort</a:t>
            </a:r>
            <a:r>
              <a:rPr lang="en-US" altLang="en-US" b="1" dirty="0">
                <a:latin typeface="Times New Roman" charset="0"/>
                <a:ea typeface="ＭＳ Ｐゴシック" charset="-128"/>
              </a:rPr>
              <a:t> </a:t>
            </a:r>
            <a:r>
              <a:rPr lang="en-US" altLang="en-US" b="1" u="sng" dirty="0">
                <a:latin typeface="Times New Roman" charset="0"/>
                <a:ea typeface="ＭＳ Ｐゴシック" charset="-128"/>
              </a:rPr>
              <a:t>global</a:t>
            </a:r>
            <a:r>
              <a:rPr lang="en-US" altLang="en-US" dirty="0">
                <a:latin typeface="Times New Roman" charset="0"/>
                <a:ea typeface="ＭＳ Ｐゴシック" charset="-128"/>
              </a:rPr>
              <a:t> packet delivery </a:t>
            </a:r>
          </a:p>
          <a:p>
            <a:pPr marL="0" indent="0" algn="ctr">
              <a:buNone/>
              <a:defRPr/>
            </a:pPr>
            <a:r>
              <a:rPr lang="is-IS" altLang="en-US" dirty="0">
                <a:latin typeface="Times New Roman" charset="0"/>
                <a:ea typeface="ＭＳ Ｐゴシック" charset="-128"/>
              </a:rPr>
              <a:t>… built on ...</a:t>
            </a:r>
          </a:p>
          <a:p>
            <a:pPr marL="0" indent="0" algn="ctr">
              <a:buNone/>
              <a:defRPr/>
            </a:pPr>
            <a:r>
              <a:rPr lang="en-US" altLang="en-US" b="1" u="sng" dirty="0">
                <a:latin typeface="Times New Roman" charset="0"/>
                <a:ea typeface="ＭＳ Ｐゴシック" charset="-128"/>
              </a:rPr>
              <a:t>Best-effort</a:t>
            </a:r>
            <a:r>
              <a:rPr lang="en-US" altLang="en-US" dirty="0">
                <a:latin typeface="Times New Roman" charset="0"/>
                <a:ea typeface="ＭＳ Ｐゴシック" charset="-128"/>
              </a:rPr>
              <a:t> </a:t>
            </a:r>
            <a:r>
              <a:rPr lang="en-US" altLang="en-US" b="1" u="sng" dirty="0">
                <a:latin typeface="Times New Roman" charset="0"/>
                <a:ea typeface="ＭＳ Ｐゴシック" charset="-128"/>
              </a:rPr>
              <a:t>local</a:t>
            </a:r>
            <a:r>
              <a:rPr lang="en-US" altLang="en-US" dirty="0">
                <a:latin typeface="Times New Roman" charset="0"/>
                <a:ea typeface="ＭＳ Ｐゴシック" charset="-128"/>
              </a:rPr>
              <a:t> packet delivery </a:t>
            </a:r>
          </a:p>
          <a:p>
            <a:pPr marL="0" indent="0" algn="ctr">
              <a:buNone/>
              <a:defRPr/>
            </a:pPr>
            <a:r>
              <a:rPr lang="is-IS" altLang="en-US" dirty="0">
                <a:solidFill>
                  <a:schemeClr val="bg1">
                    <a:lumMod val="85000"/>
                  </a:schemeClr>
                </a:solidFill>
                <a:latin typeface="Times New Roman" charset="0"/>
                <a:ea typeface="ＭＳ Ｐゴシック" charset="-128"/>
              </a:rPr>
              <a:t>… built on ...</a:t>
            </a:r>
          </a:p>
          <a:p>
            <a:pPr marL="0" indent="0" algn="ctr">
              <a:buNone/>
              <a:defRPr/>
            </a:pP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latin typeface="Times New Roman" charset="0"/>
                <a:ea typeface="ＭＳ Ｐゴシック" charset="-128"/>
              </a:rPr>
              <a:t>Physical transfer of bits </a:t>
            </a:r>
          </a:p>
          <a:p>
            <a:pPr marL="0" indent="0">
              <a:lnSpc>
                <a:spcPct val="80000"/>
              </a:lnSpc>
              <a:buNone/>
              <a:defRPr/>
            </a:pPr>
            <a:endParaRPr lang="en-US" altLang="en-US" dirty="0">
              <a:latin typeface="Gill Sans MT" charset="0"/>
              <a:ea typeface="ＭＳ Ｐゴシック" charset="-128"/>
            </a:endParaRPr>
          </a:p>
        </p:txBody>
      </p:sp>
      <p:sp>
        <p:nvSpPr>
          <p:cNvPr id="29704" name="Rectangle 1">
            <a:extLst>
              <a:ext uri="{FF2B5EF4-FFF2-40B4-BE49-F238E27FC236}">
                <a16:creationId xmlns:a16="http://schemas.microsoft.com/office/drawing/2014/main" id="{A1003000-F98D-E34E-9410-2EFCC7027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914" y="6027738"/>
            <a:ext cx="84978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Gill Sans MT" panose="020B0502020104020203" pitchFamily="34" charset="77"/>
              </a:rPr>
              <a:t>Source: Scott Shenker (UC Berkeley): slide 7 at The Future of Networking, and the Past of Protocols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Gill Sans MT" panose="020B0502020104020203" pitchFamily="34" charset="77"/>
              </a:rPr>
              <a:t>https://www.youtube.com/watch?v=YHeyuD89n1Y&amp;t=111s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648AE6-91FB-FE5D-0352-F2DE2C2BB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83" y="1839225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326FAD48-CC05-4A3F-87F2-317964B7C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70" y="1936062"/>
            <a:ext cx="1659429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dirty="0"/>
              <a:t>application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transport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network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link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physical</a:t>
            </a:r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75E85132-2426-3A00-124B-9EA49FC3E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33" y="253137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0513B7F0-73AF-C7D7-337A-8BAA10BFE6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33" y="32362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2935E6B1-0113-7BAC-7881-058A8ABA7B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33" y="39474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36264D14-36A3-4102-D403-B5D287DCB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33" y="4658625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F47141-AC36-2E1C-D1F2-F600DE2D2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151" y="1181312"/>
            <a:ext cx="3150177" cy="484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4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062E-2EB3-CB44-85C3-E9E6186E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One-page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CB3FC-CF6E-5542-B290-2E618DE13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Knowing </a:t>
            </a:r>
            <a:r>
              <a:rPr lang="en-US" b="1" u="sng" dirty="0">
                <a:solidFill>
                  <a:srgbClr val="C00000"/>
                </a:solidFill>
              </a:rPr>
              <a:t>how</a:t>
            </a:r>
            <a:r>
              <a:rPr lang="en-US" dirty="0">
                <a:solidFill>
                  <a:srgbClr val="0432FF"/>
                </a:solidFill>
              </a:rPr>
              <a:t> </a:t>
            </a:r>
            <a:r>
              <a:rPr lang="en-US" dirty="0"/>
              <a:t>and </a:t>
            </a:r>
            <a:r>
              <a:rPr lang="en-US" b="1" u="sng" dirty="0">
                <a:solidFill>
                  <a:srgbClr val="C00000"/>
                </a:solidFill>
              </a:rPr>
              <a:t>why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for each technique component</a:t>
            </a:r>
          </a:p>
          <a:p>
            <a:pPr lvl="1"/>
            <a:r>
              <a:rPr lang="en-US" dirty="0"/>
              <a:t>E.g., why four algorithms in TCP congestion control (slow start, congestion avoidance, fast </a:t>
            </a:r>
            <a:r>
              <a:rPr lang="en-US" dirty="0" err="1"/>
              <a:t>retx</a:t>
            </a:r>
            <a:r>
              <a:rPr lang="en-US" dirty="0"/>
              <a:t>/recovery, reset)?</a:t>
            </a:r>
          </a:p>
          <a:p>
            <a:pPr lvl="1"/>
            <a:r>
              <a:rPr lang="en-US" dirty="0"/>
              <a:t>E.g., why are there so many multiple access protocols? Which multiple access protocol fits in the targeted scenario?</a:t>
            </a:r>
          </a:p>
          <a:p>
            <a:pPr lvl="1"/>
            <a:r>
              <a:rPr lang="en-US" dirty="0"/>
              <a:t>E.g., Why is MAC address flat while IP address not?  </a:t>
            </a:r>
          </a:p>
          <a:p>
            <a:r>
              <a:rPr lang="en-US" dirty="0"/>
              <a:t>Knowing </a:t>
            </a:r>
            <a:r>
              <a:rPr lang="en-US" b="1" u="sng" dirty="0">
                <a:solidFill>
                  <a:srgbClr val="C00000"/>
                </a:solidFill>
              </a:rPr>
              <a:t>how</a:t>
            </a:r>
            <a:r>
              <a:rPr lang="en-US" b="1" dirty="0"/>
              <a:t> </a:t>
            </a:r>
            <a:r>
              <a:rPr lang="en-US" dirty="0"/>
              <a:t>different layers/protocols </a:t>
            </a:r>
            <a:r>
              <a:rPr lang="en-US" b="1" u="sng" dirty="0">
                <a:solidFill>
                  <a:srgbClr val="C00000"/>
                </a:solidFill>
              </a:rPr>
              <a:t>work together</a:t>
            </a:r>
          </a:p>
          <a:p>
            <a:pPr lvl="1"/>
            <a:r>
              <a:rPr lang="en-US" dirty="0"/>
              <a:t>The relationship between higher and lower layers</a:t>
            </a:r>
          </a:p>
          <a:p>
            <a:pPr lvl="1"/>
            <a:r>
              <a:rPr lang="en-US" dirty="0"/>
              <a:t>The order of different protocols </a:t>
            </a:r>
          </a:p>
          <a:p>
            <a:pPr lvl="1"/>
            <a:r>
              <a:rPr lang="en-US" dirty="0"/>
              <a:t>Example: synthesis 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26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062E-2EB3-CB44-85C3-E9E6186E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One-page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CB3FC-CF6E-5542-B290-2E618DE13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Knowing </a:t>
            </a:r>
            <a:r>
              <a:rPr lang="en-US" b="1" u="sng" dirty="0">
                <a:solidFill>
                  <a:schemeClr val="bg1">
                    <a:lumMod val="75000"/>
                  </a:schemeClr>
                </a:solidFill>
              </a:rPr>
              <a:t>how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and </a:t>
            </a:r>
            <a:r>
              <a:rPr lang="en-US" b="1" u="sng" dirty="0">
                <a:solidFill>
                  <a:schemeClr val="bg1">
                    <a:lumMod val="75000"/>
                  </a:schemeClr>
                </a:solidFill>
              </a:rPr>
              <a:t>why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for each technique component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E.g., why four algorithms in TCP congestion control (slow start, congestion avoidance, fast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retx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/recovery, reset)?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E.g., why are there so many multiple access protocols? Which multiple access protocol fits in the targeted scenario?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E.g., Why is MAC address flat while IP address not?  </a:t>
            </a:r>
          </a:p>
          <a:p>
            <a:r>
              <a:rPr lang="en-US" dirty="0"/>
              <a:t>Knowing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u="sng" dirty="0">
                <a:solidFill>
                  <a:srgbClr val="C00000"/>
                </a:solidFill>
              </a:rPr>
              <a:t>how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different layers/protocols </a:t>
            </a:r>
            <a:r>
              <a:rPr lang="en-US" b="1" u="sng" dirty="0">
                <a:solidFill>
                  <a:srgbClr val="C00000"/>
                </a:solidFill>
              </a:rPr>
              <a:t>work together</a:t>
            </a:r>
          </a:p>
          <a:p>
            <a:pPr lvl="1"/>
            <a:r>
              <a:rPr lang="en-US" dirty="0"/>
              <a:t>The relationship between higher and lower layers</a:t>
            </a:r>
          </a:p>
          <a:p>
            <a:pPr lvl="1"/>
            <a:r>
              <a:rPr lang="en-US" dirty="0"/>
              <a:t>The order of different protocols </a:t>
            </a:r>
          </a:p>
          <a:p>
            <a:pPr lvl="1"/>
            <a:r>
              <a:rPr lang="en-US" dirty="0"/>
              <a:t>Example: synthesis 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06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519A-D7E8-894A-A240-756B20BB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Vertical View &amp; Beyond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ECBADB-B459-BC45-A1CF-859672E17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883" y="2052537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A924D1F4-810F-D849-BA5D-9935552C3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1270" y="2149374"/>
            <a:ext cx="1659429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dirty="0"/>
              <a:t>application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transport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network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link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physical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015C15F0-F2B8-4744-BC29-CD4FA79A95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7533" y="2744687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5D4D196A-1604-6845-B529-21B1355C9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7533" y="3449537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BA311CC9-4246-7248-B0A9-17611B0128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7533" y="4160737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2C0B0CB9-66A9-944E-9375-307CD4C950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7533" y="4871937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E55F8F-0A75-A545-9CB4-21438D586255}"/>
              </a:ext>
            </a:extLst>
          </p:cNvPr>
          <p:cNvSpPr/>
          <p:nvPr/>
        </p:nvSpPr>
        <p:spPr>
          <a:xfrm>
            <a:off x="6883694" y="1262684"/>
            <a:ext cx="3901264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Recall our </a:t>
            </a:r>
            <a:r>
              <a:rPr lang="en-US" altLang="en-US" sz="2400" dirty="0">
                <a:solidFill>
                  <a:srgbClr val="0432FF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synthesis</a:t>
            </a:r>
            <a:r>
              <a:rPr lang="en-US" alt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example:</a:t>
            </a:r>
            <a:endParaRPr lang="en-US" sz="24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Protocols/layers</a:t>
            </a:r>
          </a:p>
          <a:p>
            <a:pPr marL="285750" indent="-285750">
              <a:buFontTx/>
              <a:buChar char="-"/>
            </a:pPr>
            <a:r>
              <a:rPr lang="en-US" sz="2400" b="1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Nodes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@Hosts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@ routers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@ switches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@ DNS server, </a:t>
            </a:r>
          </a:p>
          <a:p>
            <a:pPr marL="742950" lvl="1" indent="-285750">
              <a:buFontTx/>
              <a:buChar char="-"/>
            </a:pPr>
            <a:r>
              <a:rPr 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@…</a:t>
            </a:r>
          </a:p>
          <a:p>
            <a:endParaRPr lang="en-US" sz="24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e.g., what happens @source host? </a:t>
            </a:r>
            <a:r>
              <a:rPr lang="en-US" sz="2400" dirty="0">
                <a:solidFill>
                  <a:srgbClr val="0432FF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In which order? </a:t>
            </a:r>
            <a:r>
              <a:rPr 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How do they interact with other network equipment (following a protocol or function)? </a:t>
            </a:r>
          </a:p>
          <a:p>
            <a:endParaRPr lang="en-US" sz="24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5C53E0-C062-C743-A822-02B363E15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851" y="1394624"/>
            <a:ext cx="3150177" cy="484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7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Content Placeholder 2">
            <a:extLst>
              <a:ext uri="{FF2B5EF4-FFF2-40B4-BE49-F238E27FC236}">
                <a16:creationId xmlns:a16="http://schemas.microsoft.com/office/drawing/2014/main" id="{D731F22A-8516-3946-8B82-373FEB1D10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Suppose you walk into LWSN, power on your laptop, connect to 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PAL3.0 (</a:t>
            </a:r>
            <a:r>
              <a:rPr lang="en-US" altLang="en-US" dirty="0" err="1">
                <a:solidFill>
                  <a:srgbClr val="FF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WiFi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),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open </a:t>
            </a:r>
            <a:r>
              <a:rPr lang="en-US" altLang="en-US" dirty="0" err="1">
                <a:solidFill>
                  <a:srgbClr val="FF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Youtube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to watch a TED talk. </a:t>
            </a:r>
          </a:p>
          <a:p>
            <a:pPr lvl="1"/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What are all the protocol steps that take 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place in turn?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Please introduce each step and protocols used as much as you can. </a:t>
            </a:r>
          </a:p>
          <a:p>
            <a:pPr marL="914400" lvl="2" indent="0">
              <a:buNone/>
            </a:pP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CSMA/CA first or DHCP first? (CSMA/CA, why?)</a:t>
            </a:r>
          </a:p>
          <a:p>
            <a:pPr marL="914400" lvl="2" indent="0">
              <a:buNone/>
            </a:pP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DNS earlier or TCP earlier?  (DNS, why?)</a:t>
            </a:r>
          </a:p>
          <a:p>
            <a:pPr marL="920750" lvl="1" indent="-457200"/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Please explicitly indicate in your steps </a:t>
            </a:r>
            <a:r>
              <a:rPr lang="en-US" altLang="en-US" dirty="0">
                <a:solidFill>
                  <a:srgbClr val="C0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how you obtain the IP and MAC address of a gateway router. </a:t>
            </a:r>
          </a:p>
          <a:p>
            <a:pPr marL="914400" lvl="2" indent="0">
              <a:buNone/>
            </a:pP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Which address (IP address or MAC address) does your laptop know first?  (IP address, why?)</a:t>
            </a:r>
          </a:p>
        </p:txBody>
      </p:sp>
      <p:sp>
        <p:nvSpPr>
          <p:cNvPr id="248833" name="Title 1">
            <a:extLst>
              <a:ext uri="{FF2B5EF4-FFF2-40B4-BE49-F238E27FC236}">
                <a16:creationId xmlns:a16="http://schemas.microsoft.com/office/drawing/2014/main" id="{B0DDD533-AA5E-7B4F-BC16-1B6C81019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Another </a:t>
            </a:r>
            <a:r>
              <a:rPr lang="en-US" dirty="0"/>
              <a:t>Synthesis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373976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78424-FDE2-7C43-8A7B-B65D0C515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Refer to the lecture (at end of chapter 6)</a:t>
            </a:r>
          </a:p>
          <a:p>
            <a:pPr marL="0" indent="0">
              <a:buNone/>
            </a:pPr>
            <a:r>
              <a:rPr lang="en-US" dirty="0"/>
              <a:t>@ Hosts </a:t>
            </a:r>
          </a:p>
          <a:p>
            <a:r>
              <a:rPr lang="en-US" dirty="0"/>
              <a:t>DHCP </a:t>
            </a:r>
          </a:p>
          <a:p>
            <a:pPr marL="914400" lvl="1" indent="-514350"/>
            <a:r>
              <a:rPr lang="en-US" dirty="0"/>
              <a:t>why? a valid IP first, regardless of applications</a:t>
            </a:r>
          </a:p>
          <a:p>
            <a:pPr marL="514350" indent="-514350"/>
            <a:r>
              <a:rPr lang="en-US" dirty="0"/>
              <a:t>The rest is invoked by the application</a:t>
            </a:r>
          </a:p>
          <a:p>
            <a:pPr marL="914400" lvl="1" indent="-514350"/>
            <a:r>
              <a:rPr lang="en-US" dirty="0">
                <a:solidFill>
                  <a:srgbClr val="0432FF"/>
                </a:solidFill>
              </a:rPr>
              <a:t>Dependence </a:t>
            </a:r>
            <a:r>
              <a:rPr lang="en-US" dirty="0">
                <a:solidFill>
                  <a:srgbClr val="0432FF"/>
                </a:solidFill>
                <a:sym typeface="Wingdings" pitchFamily="2" charset="2"/>
              </a:rPr>
              <a:t> </a:t>
            </a:r>
            <a:r>
              <a:rPr lang="en-US" dirty="0">
                <a:solidFill>
                  <a:srgbClr val="0432FF"/>
                </a:solidFill>
              </a:rPr>
              <a:t>other protocols</a:t>
            </a:r>
          </a:p>
          <a:p>
            <a:pPr marL="1314450" lvl="2" indent="-514350"/>
            <a:r>
              <a:rPr lang="en-US" dirty="0"/>
              <a:t>e.g., WEB (URL) </a:t>
            </a:r>
            <a:r>
              <a:rPr lang="en-US" dirty="0">
                <a:sym typeface="Wingdings" pitchFamily="2" charset="2"/>
              </a:rPr>
              <a:t> DNS  UDP  IP  MAC address in Ethernet (or 802.11)  ARP</a:t>
            </a:r>
          </a:p>
          <a:p>
            <a:pPr marL="1314450" lvl="2" indent="-514350"/>
            <a:r>
              <a:rPr lang="en-US" dirty="0">
                <a:sym typeface="Wingdings" pitchFamily="2" charset="2"/>
              </a:rPr>
              <a:t>e.g., HTTP  TCP  the first TCP segment (three-way handshaking)</a:t>
            </a:r>
          </a:p>
          <a:p>
            <a:pPr marL="1314450" lvl="2" indent="-514350"/>
            <a:r>
              <a:rPr lang="en-US" dirty="0">
                <a:sym typeface="Wingdings" pitchFamily="2" charset="2"/>
              </a:rPr>
              <a:t>e.g., L2 delivery via </a:t>
            </a:r>
            <a:r>
              <a:rPr lang="en-US" dirty="0" err="1">
                <a:sym typeface="Wingdings" pitchFamily="2" charset="2"/>
              </a:rPr>
              <a:t>WiFi</a:t>
            </a:r>
            <a:r>
              <a:rPr lang="en-US" dirty="0">
                <a:sym typeface="Wingdings" pitchFamily="2" charset="2"/>
              </a:rPr>
              <a:t>  CSMA/CA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@Routers (switches) [a network: a </a:t>
            </a:r>
            <a:r>
              <a:rPr lang="en-US" b="1" dirty="0">
                <a:sym typeface="Wingdings" pitchFamily="2" charset="2"/>
              </a:rPr>
              <a:t>distributed</a:t>
            </a:r>
            <a:r>
              <a:rPr lang="en-US" dirty="0">
                <a:sym typeface="Wingdings" pitchFamily="2" charset="2"/>
              </a:rPr>
              <a:t> system]</a:t>
            </a:r>
          </a:p>
          <a:p>
            <a:r>
              <a:rPr lang="en-US" dirty="0">
                <a:sym typeface="Wingdings" pitchFamily="2" charset="2"/>
              </a:rPr>
              <a:t>Routing protocols (inter-AS, intra-AS) performed</a:t>
            </a:r>
          </a:p>
          <a:p>
            <a:r>
              <a:rPr lang="en-US" dirty="0">
                <a:sym typeface="Wingdings" pitchFamily="2" charset="2"/>
              </a:rPr>
              <a:t>Self-learning performed </a:t>
            </a:r>
          </a:p>
          <a:p>
            <a:pPr marL="1314450" lvl="2" indent="-514350"/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7D3D7-63E4-BC42-B7C5-AA8E5E9F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Example (More)</a:t>
            </a:r>
          </a:p>
        </p:txBody>
      </p:sp>
    </p:spTree>
    <p:extLst>
      <p:ext uri="{BB962C8B-B14F-4D97-AF65-F5344CB8AC3E}">
        <p14:creationId xmlns:p14="http://schemas.microsoft.com/office/powerpoint/2010/main" val="67784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7FA0-7E96-B132-961B-652F381E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53E1-A500-DBAD-27F9-C5FF94AFB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One-page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987E1-C8B6-5338-D0D1-191170927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Knowing </a:t>
            </a:r>
            <a:r>
              <a:rPr lang="en-US" b="1" u="sng" dirty="0"/>
              <a:t>how</a:t>
            </a:r>
            <a:r>
              <a:rPr lang="en-US" dirty="0"/>
              <a:t> and </a:t>
            </a:r>
            <a:r>
              <a:rPr lang="en-US" b="1" u="sng" dirty="0"/>
              <a:t>why</a:t>
            </a:r>
            <a:r>
              <a:rPr lang="en-US" b="1" dirty="0"/>
              <a:t> </a:t>
            </a:r>
            <a:r>
              <a:rPr lang="en-US" dirty="0"/>
              <a:t>for each technique component</a:t>
            </a:r>
          </a:p>
          <a:p>
            <a:pPr lvl="1"/>
            <a:r>
              <a:rPr lang="en-US" dirty="0"/>
              <a:t>E.g., why four algorithms in TCP congestion control (slow start, congestion avoidance, fast </a:t>
            </a:r>
            <a:r>
              <a:rPr lang="en-US" dirty="0" err="1"/>
              <a:t>retx</a:t>
            </a:r>
            <a:r>
              <a:rPr lang="en-US" dirty="0"/>
              <a:t>/recovery, reset)?</a:t>
            </a:r>
          </a:p>
          <a:p>
            <a:pPr lvl="1"/>
            <a:r>
              <a:rPr lang="en-US" dirty="0"/>
              <a:t>E.g., why are there so many multiple access protocols? Which multiple access protocol fits in the targeted scenario?</a:t>
            </a:r>
          </a:p>
          <a:p>
            <a:pPr lvl="1"/>
            <a:r>
              <a:rPr lang="en-US" dirty="0"/>
              <a:t>E.g., Why is MAC address flat while IP address not?  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Knowing </a:t>
            </a:r>
            <a:r>
              <a:rPr lang="en-US" b="1" u="sng" dirty="0">
                <a:solidFill>
                  <a:schemeClr val="bg1">
                    <a:lumMod val="50000"/>
                  </a:schemeClr>
                </a:solidFill>
              </a:rPr>
              <a:t>how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different layers/protocols </a:t>
            </a:r>
            <a:r>
              <a:rPr lang="en-US" b="1" u="sng" dirty="0">
                <a:solidFill>
                  <a:schemeClr val="bg1">
                    <a:lumMod val="50000"/>
                  </a:schemeClr>
                </a:solidFill>
              </a:rPr>
              <a:t>work together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relationship between higher and lower layers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order of different protocols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Example: synthesis 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99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4072-C26E-4741-8086-C9484BFD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 1: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DBCE8-7F43-6442-AA37-CC21F2046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Internet? </a:t>
            </a:r>
          </a:p>
          <a:p>
            <a:pPr lvl="1"/>
            <a:r>
              <a:rPr lang="en-US" dirty="0"/>
              <a:t>Hardware and software </a:t>
            </a:r>
          </a:p>
          <a:p>
            <a:pPr lvl="1"/>
            <a:r>
              <a:rPr lang="en-US" dirty="0"/>
              <a:t>Store and forward</a:t>
            </a:r>
          </a:p>
          <a:p>
            <a:pPr lvl="1"/>
            <a:r>
              <a:rPr lang="en-US" dirty="0"/>
              <a:t>Terminology: host, router, switch, edge, access network, network core</a:t>
            </a:r>
          </a:p>
          <a:p>
            <a:r>
              <a:rPr lang="en-US" dirty="0"/>
              <a:t>Core network: packet switching vs. circuit switching</a:t>
            </a:r>
          </a:p>
          <a:p>
            <a:r>
              <a:rPr lang="en-US" dirty="0"/>
              <a:t>Metrics: delay, loss, throughput </a:t>
            </a:r>
          </a:p>
          <a:p>
            <a:r>
              <a:rPr lang="en-US" dirty="0"/>
              <a:t>Protocols: layers &amp; encapsulation</a:t>
            </a:r>
          </a:p>
        </p:txBody>
      </p:sp>
    </p:spTree>
    <p:extLst>
      <p:ext uri="{BB962C8B-B14F-4D97-AF65-F5344CB8AC3E}">
        <p14:creationId xmlns:p14="http://schemas.microsoft.com/office/powerpoint/2010/main" val="1341588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E733-96AA-6043-AA0E-10102117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Ch2: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E036F-EBD6-5942-B27B-A85C481C5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Principles </a:t>
            </a:r>
          </a:p>
          <a:p>
            <a:pPr lvl="1"/>
            <a:r>
              <a:rPr lang="en-US" dirty="0"/>
              <a:t>Application architecture, process communicating, server-client vs. peer to peer</a:t>
            </a:r>
          </a:p>
          <a:p>
            <a:r>
              <a:rPr lang="en-US" dirty="0"/>
              <a:t>Socket programming</a:t>
            </a:r>
          </a:p>
          <a:p>
            <a:r>
              <a:rPr lang="en-US" dirty="0"/>
              <a:t>Selected applications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Web browsing: HTTP </a:t>
            </a:r>
          </a:p>
          <a:p>
            <a:pPr lvl="2"/>
            <a:r>
              <a:rPr lang="en-US" dirty="0"/>
              <a:t>Message format (GET/200 OK)</a:t>
            </a:r>
          </a:p>
          <a:p>
            <a:pPr lvl="2"/>
            <a:r>
              <a:rPr lang="en-US" dirty="0"/>
              <a:t>Persistent vs non-Persistent</a:t>
            </a:r>
          </a:p>
          <a:p>
            <a:pPr lvl="2"/>
            <a:r>
              <a:rPr lang="en-US" dirty="0"/>
              <a:t>Cache</a:t>
            </a:r>
          </a:p>
          <a:p>
            <a:pPr lvl="2"/>
            <a:r>
              <a:rPr lang="en-US" dirty="0"/>
              <a:t>Cookie 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Email: SMTP, IMAP (Mail Access)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DNS: DNS (distributed database)</a:t>
            </a:r>
          </a:p>
          <a:p>
            <a:pPr lvl="1"/>
            <a:r>
              <a:rPr lang="en-US" b="1" dirty="0">
                <a:solidFill>
                  <a:srgbClr val="0432FF"/>
                </a:solidFill>
              </a:rPr>
              <a:t>Video streaming: DASH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64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7139-9614-C24D-8D46-BAB13A801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Ch3: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6610C-9665-934A-B0F2-09CA82B33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Principles</a:t>
            </a:r>
          </a:p>
          <a:p>
            <a:pPr lvl="1"/>
            <a:r>
              <a:rPr lang="en-US" dirty="0"/>
              <a:t>Multiplexing and demultiplexing</a:t>
            </a:r>
          </a:p>
          <a:p>
            <a:pPr lvl="1"/>
            <a:r>
              <a:rPr lang="en-US" dirty="0"/>
              <a:t>Sockets</a:t>
            </a:r>
          </a:p>
          <a:p>
            <a:pPr lvl="1"/>
            <a:r>
              <a:rPr lang="en-US" dirty="0"/>
              <a:t>Transport service models: reliable vs. unreliable</a:t>
            </a:r>
          </a:p>
          <a:p>
            <a:r>
              <a:rPr lang="en-US" dirty="0"/>
              <a:t>UDP: connectionless, unreliable</a:t>
            </a:r>
          </a:p>
          <a:p>
            <a:r>
              <a:rPr lang="en-US" b="1" dirty="0"/>
              <a:t>Reliable data transfer</a:t>
            </a:r>
            <a:r>
              <a:rPr lang="en-US" dirty="0"/>
              <a:t>: RDT1.0</a:t>
            </a:r>
            <a:r>
              <a:rPr lang="en-US" dirty="0">
                <a:sym typeface="Wingdings" pitchFamily="2" charset="2"/>
              </a:rPr>
              <a:t>RDT3.0, Go-back-N, Selective Repeat </a:t>
            </a:r>
            <a:r>
              <a:rPr lang="en-US" b="1" dirty="0">
                <a:solidFill>
                  <a:srgbClr val="0432FF"/>
                </a:solidFill>
                <a:sym typeface="Wingdings" pitchFamily="2" charset="2"/>
              </a:rPr>
              <a:t> TCP</a:t>
            </a:r>
          </a:p>
          <a:p>
            <a:r>
              <a:rPr lang="en-US" b="1" dirty="0">
                <a:sym typeface="Wingdings" pitchFamily="2" charset="2"/>
              </a:rPr>
              <a:t>TCP: </a:t>
            </a:r>
            <a:r>
              <a:rPr lang="en-US" dirty="0">
                <a:sym typeface="Wingdings" pitchFamily="2" charset="2"/>
              </a:rPr>
              <a:t>connection-oriented, reliable </a:t>
            </a:r>
          </a:p>
          <a:p>
            <a:pPr lvl="1"/>
            <a:r>
              <a:rPr lang="en-US" dirty="0">
                <a:sym typeface="Wingdings" pitchFamily="2" charset="2"/>
              </a:rPr>
              <a:t>TCP segment structure, TCP connection management (establish and release), RTT estimation and timeout, flow control, TCP’s reliable data transfer </a:t>
            </a:r>
          </a:p>
          <a:p>
            <a:r>
              <a:rPr lang="en-US" dirty="0">
                <a:sym typeface="Wingdings" pitchFamily="2" charset="2"/>
              </a:rPr>
              <a:t>TCP Congestion control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78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1" name="Title 1">
            <a:extLst>
              <a:ext uri="{FF2B5EF4-FFF2-40B4-BE49-F238E27FC236}">
                <a16:creationId xmlns:a16="http://schemas.microsoft.com/office/drawing/2014/main" id="{84EDA16F-9DB5-844B-9DE0-71B460C120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18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TCP Congestion Control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(and Why?)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A59842-BD33-694D-938F-B89BB51A8BC3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184276"/>
          <a:ext cx="9144000" cy="5673724"/>
        </p:xfrm>
        <a:graphic>
          <a:graphicData uri="http://schemas.openxmlformats.org/drawingml/2006/table">
            <a:tbl>
              <a:tblPr/>
              <a:tblGrid>
                <a:gridCol w="1353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9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9501">
                  <a:extLst>
                    <a:ext uri="{9D8B030D-6E8A-4147-A177-3AD203B41FA5}">
                      <a16:colId xmlns:a16="http://schemas.microsoft.com/office/drawing/2014/main" val="353027787"/>
                    </a:ext>
                  </a:extLst>
                </a:gridCol>
              </a:tblGrid>
              <a:tr h="350794"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Algorithms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condition</a:t>
                      </a: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action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Design 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65"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Slow Start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&lt;=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ssthresh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; 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cwnd+=1MSS per ACK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doubles per RTT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588"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Congestion Avoidance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&gt;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ssthresh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cwnd+=1/cwnd * MSS per ACK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++ per RTT  (additive increase)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59"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fast retransmit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3 duplicate ACK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ssthresh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max(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/2,2)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BB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B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BB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ssthresh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B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+ 3 MSS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retx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the lost packet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reduce the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by half (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multicative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decreasing)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59"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fast recovery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receiving a new ACK after fast retx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BB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B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BB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ssthresh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tx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if allowed by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finish the 1/2 reduction of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in fast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retx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/fast recovery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7300"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 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upon a dup ACK after fast retx 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before fast recovery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BB0000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 +=1MSS;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Note: it is different from slow start. 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 ("transition phrase)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1559"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RTO timeout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time out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ssthresh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max(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/2,2)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cwnd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= 1;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retx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 the lost packet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SzPct val="65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742950" indent="-285750" algn="l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rgbClr val="000099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charset="0"/>
                          <a:ea typeface="ＭＳ Ｐゴシック" charset="-128"/>
                        </a:rPr>
                        <a:t>Reset everything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charset="0"/>
                        <a:ea typeface="宋体" charset="0"/>
                      </a:endParaRPr>
                    </a:p>
                  </a:txBody>
                  <a:tcPr marL="68579" marR="68579" marT="0" marB="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97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Two functions on networking layer</a:t>
            </a:r>
          </a:p>
          <a:p>
            <a:pPr lvl="1">
              <a:defRPr/>
            </a:pPr>
            <a:r>
              <a:rPr lang="en-US" b="1" dirty="0"/>
              <a:t>Routing (control-plane)</a:t>
            </a:r>
          </a:p>
          <a:p>
            <a:pPr lvl="1">
              <a:defRPr/>
            </a:pPr>
            <a:r>
              <a:rPr lang="en-US" b="1" dirty="0"/>
              <a:t>Forwarding (data-plane)</a:t>
            </a:r>
          </a:p>
          <a:p>
            <a:pPr lvl="1">
              <a:defRPr/>
            </a:pPr>
            <a:r>
              <a:rPr lang="en-US" dirty="0"/>
              <a:t>Q: How do they work together? 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Per-router routing: </a:t>
            </a:r>
            <a:r>
              <a:rPr lang="en-US" b="1" dirty="0">
                <a:solidFill>
                  <a:srgbClr val="C00000"/>
                </a:solidFill>
              </a:rPr>
              <a:t>Forwarding table </a:t>
            </a:r>
          </a:p>
          <a:p>
            <a:pPr lvl="1">
              <a:defRPr/>
            </a:pPr>
            <a:r>
              <a:rPr lang="en-US" dirty="0"/>
              <a:t>Datagram switching</a:t>
            </a:r>
          </a:p>
          <a:p>
            <a:pPr lvl="2">
              <a:defRPr/>
            </a:pPr>
            <a:r>
              <a:rPr lang="en-US" b="1" dirty="0"/>
              <a:t>Longest prefix match</a:t>
            </a:r>
          </a:p>
          <a:p>
            <a:pPr lvl="2">
              <a:defRPr/>
            </a:pPr>
            <a:r>
              <a:rPr lang="en-US" dirty="0"/>
              <a:t>How to denote an IP address? </a:t>
            </a:r>
          </a:p>
          <a:p>
            <a:pPr lvl="3">
              <a:defRPr/>
            </a:pPr>
            <a:r>
              <a:rPr lang="en-US" dirty="0"/>
              <a:t>CIDR: e.g.233.1.1.0/24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Ch4 + Ch5: Network layer</a:t>
            </a:r>
          </a:p>
        </p:txBody>
      </p:sp>
    </p:spTree>
    <p:extLst>
      <p:ext uri="{BB962C8B-B14F-4D97-AF65-F5344CB8AC3E}">
        <p14:creationId xmlns:p14="http://schemas.microsoft.com/office/powerpoint/2010/main" val="2045748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Ch4 + Ch5: Network layer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146" y="1453466"/>
            <a:ext cx="10515600" cy="5404534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Ipv4 datagram format</a:t>
            </a:r>
          </a:p>
          <a:p>
            <a:pPr lvl="1">
              <a:defRPr/>
            </a:pPr>
            <a:r>
              <a:rPr lang="en-US" dirty="0"/>
              <a:t>TTL, destination/source </a:t>
            </a:r>
            <a:r>
              <a:rPr lang="en-US" dirty="0" err="1"/>
              <a:t>ip</a:t>
            </a:r>
            <a:r>
              <a:rPr lang="en-US" dirty="0"/>
              <a:t>, checksum,  </a:t>
            </a:r>
          </a:p>
          <a:p>
            <a:pPr>
              <a:defRPr/>
            </a:pPr>
            <a:r>
              <a:rPr lang="en-US" b="1" i="1" dirty="0"/>
              <a:t>IP address allocation </a:t>
            </a:r>
          </a:p>
          <a:p>
            <a:pPr lvl="1">
              <a:defRPr/>
            </a:pPr>
            <a:r>
              <a:rPr lang="en-US" dirty="0"/>
              <a:t>DHCP: how to get an IP address within a subnet?</a:t>
            </a:r>
          </a:p>
          <a:p>
            <a:pPr lvl="2">
              <a:defRPr/>
            </a:pPr>
            <a:r>
              <a:rPr lang="en-US" dirty="0"/>
              <a:t>Discover -&gt; Offer -&gt; Request -&gt; ACK</a:t>
            </a:r>
          </a:p>
          <a:p>
            <a:pPr lvl="1">
              <a:defRPr/>
            </a:pPr>
            <a:r>
              <a:rPr lang="en-US" dirty="0"/>
              <a:t>Address allocation for one subnet (address blocks)</a:t>
            </a:r>
          </a:p>
          <a:p>
            <a:pPr>
              <a:defRPr/>
            </a:pPr>
            <a:r>
              <a:rPr lang="en-US" dirty="0"/>
              <a:t>IPv4 address runs out</a:t>
            </a:r>
          </a:p>
          <a:p>
            <a:pPr lvl="1">
              <a:defRPr/>
            </a:pPr>
            <a:r>
              <a:rPr lang="en-US" dirty="0"/>
              <a:t>NAT (private IP address, port-IP translation)</a:t>
            </a:r>
          </a:p>
          <a:p>
            <a:pPr lvl="1">
              <a:defRPr/>
            </a:pPr>
            <a:r>
              <a:rPr lang="en-US" dirty="0"/>
              <a:t>IPv6 (128 bits), tunneling </a:t>
            </a:r>
          </a:p>
          <a:p>
            <a:pPr>
              <a:defRPr/>
            </a:pPr>
            <a:r>
              <a:rPr lang="en-US" dirty="0"/>
              <a:t>OpenFlow:</a:t>
            </a:r>
          </a:p>
          <a:p>
            <a:pPr lvl="1">
              <a:defRPr/>
            </a:pPr>
            <a:r>
              <a:rPr lang="en-US" dirty="0"/>
              <a:t>Match, action, statistics</a:t>
            </a:r>
          </a:p>
          <a:p>
            <a:pPr lvl="1">
              <a:defRPr/>
            </a:pPr>
            <a:r>
              <a:rPr lang="en-US" dirty="0"/>
              <a:t>Beyond traditional routing</a:t>
            </a:r>
          </a:p>
          <a:p>
            <a:pPr lvl="2">
              <a:defRPr/>
            </a:pPr>
            <a:r>
              <a:rPr lang="en-US" dirty="0"/>
              <a:t>Not only </a:t>
            </a:r>
            <a:r>
              <a:rPr lang="en-US" dirty="0" err="1"/>
              <a:t>dest</a:t>
            </a:r>
            <a:r>
              <a:rPr lang="en-US" dirty="0"/>
              <a:t> IP</a:t>
            </a:r>
          </a:p>
          <a:p>
            <a:pPr lvl="2">
              <a:defRPr/>
            </a:pPr>
            <a:r>
              <a:rPr lang="en-US" dirty="0"/>
              <a:t>Forwarding, drop (firewall), modify (NAT), encapsulation (tunneling)</a:t>
            </a:r>
          </a:p>
        </p:txBody>
      </p:sp>
    </p:spTree>
    <p:extLst>
      <p:ext uri="{BB962C8B-B14F-4D97-AF65-F5344CB8AC3E}">
        <p14:creationId xmlns:p14="http://schemas.microsoft.com/office/powerpoint/2010/main" val="1375782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58C6-011C-71D6-1AC4-84023812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F0E5-3EB3-6785-DA36-924A7C716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to generate forwarding tables at routers? </a:t>
            </a:r>
          </a:p>
          <a:p>
            <a:pPr lvl="1"/>
            <a:r>
              <a:rPr lang="en-US" dirty="0"/>
              <a:t>IP address blocks/ranges in the table</a:t>
            </a:r>
          </a:p>
          <a:p>
            <a:pPr lvl="1"/>
            <a:r>
              <a:rPr lang="en-US" dirty="0"/>
              <a:t>Routing algorithms: </a:t>
            </a:r>
          </a:p>
          <a:p>
            <a:pPr lvl="2"/>
            <a:r>
              <a:rPr lang="en-US" b="1" dirty="0"/>
              <a:t>Link-state</a:t>
            </a:r>
          </a:p>
          <a:p>
            <a:pPr lvl="2"/>
            <a:r>
              <a:rPr lang="en-US" b="1" dirty="0"/>
              <a:t>distance-vector</a:t>
            </a:r>
          </a:p>
          <a:p>
            <a:pPr lvl="1"/>
            <a:r>
              <a:rPr lang="en-US" dirty="0"/>
              <a:t>Routing protocols: </a:t>
            </a:r>
          </a:p>
          <a:p>
            <a:pPr lvl="2"/>
            <a:r>
              <a:rPr lang="en-US" b="1" dirty="0"/>
              <a:t>Intra-AS routing: OSPF (ISIS)</a:t>
            </a:r>
          </a:p>
          <a:p>
            <a:pPr lvl="2"/>
            <a:r>
              <a:rPr lang="en-US" b="1" dirty="0"/>
              <a:t>Inter-AS routing: BGP</a:t>
            </a:r>
          </a:p>
          <a:p>
            <a:pPr lvl="2"/>
            <a:r>
              <a:rPr lang="en-US" b="1" dirty="0">
                <a:solidFill>
                  <a:srgbClr val="0432FF"/>
                </a:solidFill>
              </a:rPr>
              <a:t>How do they work together?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45600-5534-0622-036A-1F256AAF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Ch4 + Ch5: Network layer (contd.)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2809BCB7-791E-8142-75E9-AFF6BE9024E1}"/>
              </a:ext>
            </a:extLst>
          </p:cNvPr>
          <p:cNvSpPr>
            <a:spLocks/>
          </p:cNvSpPr>
          <p:nvPr/>
        </p:nvSpPr>
        <p:spPr bwMode="auto">
          <a:xfrm>
            <a:off x="6664326" y="4122739"/>
            <a:ext cx="1679575" cy="1411287"/>
          </a:xfrm>
          <a:custGeom>
            <a:avLst/>
            <a:gdLst>
              <a:gd name="T0" fmla="*/ 2147483647 w 1198"/>
              <a:gd name="T1" fmla="*/ 2147483647 h 451"/>
              <a:gd name="T2" fmla="*/ 2147483647 w 1198"/>
              <a:gd name="T3" fmla="*/ 2147483647 h 451"/>
              <a:gd name="T4" fmla="*/ 2147483647 w 1198"/>
              <a:gd name="T5" fmla="*/ 2147483647 h 451"/>
              <a:gd name="T6" fmla="*/ 2147483647 w 1198"/>
              <a:gd name="T7" fmla="*/ 2147483647 h 451"/>
              <a:gd name="T8" fmla="*/ 2147483647 w 1198"/>
              <a:gd name="T9" fmla="*/ 2147483647 h 451"/>
              <a:gd name="T10" fmla="*/ 2147483647 w 1198"/>
              <a:gd name="T11" fmla="*/ 2147483647 h 451"/>
              <a:gd name="T12" fmla="*/ 2147483647 w 1198"/>
              <a:gd name="T13" fmla="*/ 2147483647 h 451"/>
              <a:gd name="T14" fmla="*/ 2147483647 w 1198"/>
              <a:gd name="T15" fmla="*/ 2147483647 h 451"/>
              <a:gd name="T16" fmla="*/ 2147483647 w 1198"/>
              <a:gd name="T17" fmla="*/ 2147483647 h 4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5E063C4B-8CE2-2B0F-5404-E91C23018679}"/>
              </a:ext>
            </a:extLst>
          </p:cNvPr>
          <p:cNvSpPr>
            <a:spLocks/>
          </p:cNvSpPr>
          <p:nvPr/>
        </p:nvSpPr>
        <p:spPr bwMode="auto">
          <a:xfrm>
            <a:off x="7294562" y="4867276"/>
            <a:ext cx="400050" cy="180975"/>
          </a:xfrm>
          <a:custGeom>
            <a:avLst/>
            <a:gdLst>
              <a:gd name="T0" fmla="*/ 0 w 252"/>
              <a:gd name="T1" fmla="*/ 2147483647 h 114"/>
              <a:gd name="T2" fmla="*/ 2147483647 w 252"/>
              <a:gd name="T3" fmla="*/ 0 h 11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FBCBBFA1-8CFE-7EAC-3395-9FAA5531B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087939"/>
            <a:ext cx="665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/>
              <a:t>AS3</a:t>
            </a:r>
            <a:endParaRPr lang="en-US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E8F11193-CB21-562D-45D6-9AFCB059C8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10462" y="4600576"/>
            <a:ext cx="241300" cy="1746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FD557359-5B1C-2D1E-7047-DFD613436D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69137" y="4594225"/>
            <a:ext cx="147638" cy="3762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483FC92D-E75A-E99A-37FB-07BFC28063C9}"/>
              </a:ext>
            </a:extLst>
          </p:cNvPr>
          <p:cNvGrpSpPr>
            <a:grpSpLocks/>
          </p:cNvGrpSpPr>
          <p:nvPr/>
        </p:nvGrpSpPr>
        <p:grpSpPr bwMode="auto">
          <a:xfrm>
            <a:off x="6805612" y="4862514"/>
            <a:ext cx="501650" cy="396875"/>
            <a:chOff x="873" y="3243"/>
            <a:chExt cx="316" cy="250"/>
          </a:xfrm>
        </p:grpSpPr>
        <p:sp>
          <p:nvSpPr>
            <p:cNvPr id="10" name="Oval 13">
              <a:extLst>
                <a:ext uri="{FF2B5EF4-FFF2-40B4-BE49-F238E27FC236}">
                  <a16:creationId xmlns:a16="http://schemas.microsoft.com/office/drawing/2014/main" id="{E91ED68F-DFB3-7D89-076C-A1310EEC3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" y="3361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A85F7E86-BEFC-F22F-381D-D468E152A7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6" y="335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49733676-D650-5FB7-E38E-AD181BEDB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335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5E7F6118-CBF4-69B8-8EF2-4F040C0BC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" y="3354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/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93FE1240-F6D4-50AF-F011-4B5CFA0F0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" y="3295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Rectangle 18">
              <a:extLst>
                <a:ext uri="{FF2B5EF4-FFF2-40B4-BE49-F238E27FC236}">
                  <a16:creationId xmlns:a16="http://schemas.microsoft.com/office/drawing/2014/main" id="{33A67D98-25EC-9353-06FB-E4A7087DE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308"/>
              <a:ext cx="141" cy="1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Text Box 19">
              <a:extLst>
                <a:ext uri="{FF2B5EF4-FFF2-40B4-BE49-F238E27FC236}">
                  <a16:creationId xmlns:a16="http://schemas.microsoft.com/office/drawing/2014/main" id="{F4A539DD-5091-F08F-ED70-D2F1D6122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3243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/>
                <a:t>3b</a:t>
              </a:r>
              <a:endParaRPr lang="en-US" sz="2400"/>
            </a:p>
          </p:txBody>
        </p:sp>
      </p:grpSp>
      <p:grpSp>
        <p:nvGrpSpPr>
          <p:cNvPr id="17" name="Group 20">
            <a:extLst>
              <a:ext uri="{FF2B5EF4-FFF2-40B4-BE49-F238E27FC236}">
                <a16:creationId xmlns:a16="http://schemas.microsoft.com/office/drawing/2014/main" id="{B1FCF10F-4865-0F1D-C2ED-439737A159E8}"/>
              </a:ext>
            </a:extLst>
          </p:cNvPr>
          <p:cNvGrpSpPr>
            <a:grpSpLocks/>
          </p:cNvGrpSpPr>
          <p:nvPr/>
        </p:nvGrpSpPr>
        <p:grpSpPr bwMode="auto">
          <a:xfrm>
            <a:off x="7653337" y="4660901"/>
            <a:ext cx="501650" cy="396875"/>
            <a:chOff x="1434" y="3104"/>
            <a:chExt cx="316" cy="250"/>
          </a:xfrm>
        </p:grpSpPr>
        <p:grpSp>
          <p:nvGrpSpPr>
            <p:cNvPr id="18" name="Group 21">
              <a:extLst>
                <a:ext uri="{FF2B5EF4-FFF2-40B4-BE49-F238E27FC236}">
                  <a16:creationId xmlns:a16="http://schemas.microsoft.com/office/drawing/2014/main" id="{3B0980D2-385E-C9F0-B71D-5779FEC2E7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4" y="3163"/>
              <a:ext cx="316" cy="147"/>
              <a:chOff x="1434" y="3163"/>
              <a:chExt cx="316" cy="147"/>
            </a:xfrm>
          </p:grpSpPr>
          <p:sp>
            <p:nvSpPr>
              <p:cNvPr id="20" name="Oval 22">
                <a:extLst>
                  <a:ext uri="{FF2B5EF4-FFF2-40B4-BE49-F238E27FC236}">
                    <a16:creationId xmlns:a16="http://schemas.microsoft.com/office/drawing/2014/main" id="{78738F4F-205C-56E0-C39C-4FAC82ED3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3229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1" name="Line 23">
                <a:extLst>
                  <a:ext uri="{FF2B5EF4-FFF2-40B4-BE49-F238E27FC236}">
                    <a16:creationId xmlns:a16="http://schemas.microsoft.com/office/drawing/2014/main" id="{86D6660D-49EA-104A-8DBF-246F6609CF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7" y="322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2" name="Line 24">
                <a:extLst>
                  <a:ext uri="{FF2B5EF4-FFF2-40B4-BE49-F238E27FC236}">
                    <a16:creationId xmlns:a16="http://schemas.microsoft.com/office/drawing/2014/main" id="{47183BA0-945C-AD8F-FDB4-5FB726344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0" y="322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15033B5F-189C-31E3-3BA7-DB112AA3F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3222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/>
              </a:p>
            </p:txBody>
          </p:sp>
          <p:sp>
            <p:nvSpPr>
              <p:cNvPr id="24" name="Oval 26">
                <a:extLst>
                  <a:ext uri="{FF2B5EF4-FFF2-40B4-BE49-F238E27FC236}">
                    <a16:creationId xmlns:a16="http://schemas.microsoft.com/office/drawing/2014/main" id="{57C76D92-38DB-126E-4D91-3FB009A9F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4" y="3163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5" name="Rectangle 27">
                <a:extLst>
                  <a:ext uri="{FF2B5EF4-FFF2-40B4-BE49-F238E27FC236}">
                    <a16:creationId xmlns:a16="http://schemas.microsoft.com/office/drawing/2014/main" id="{8ADB25A3-0070-55BF-8B20-59CD33DC2F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1" y="3176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9" name="Text Box 28">
              <a:extLst>
                <a:ext uri="{FF2B5EF4-FFF2-40B4-BE49-F238E27FC236}">
                  <a16:creationId xmlns:a16="http://schemas.microsoft.com/office/drawing/2014/main" id="{F6BE5C79-DAB9-C16E-D36C-07F7F36F94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8" y="3104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/>
                <a:t>3a</a:t>
              </a:r>
              <a:endParaRPr lang="en-US" sz="2400"/>
            </a:p>
          </p:txBody>
        </p:sp>
      </p:grpSp>
      <p:sp>
        <p:nvSpPr>
          <p:cNvPr id="26" name="Freeform 29">
            <a:extLst>
              <a:ext uri="{FF2B5EF4-FFF2-40B4-BE49-F238E27FC236}">
                <a16:creationId xmlns:a16="http://schemas.microsoft.com/office/drawing/2014/main" id="{E1AB8DAD-D847-E2AD-7CFE-7ED41A4EF3D2}"/>
              </a:ext>
            </a:extLst>
          </p:cNvPr>
          <p:cNvSpPr>
            <a:spLocks/>
          </p:cNvSpPr>
          <p:nvPr/>
        </p:nvSpPr>
        <p:spPr bwMode="auto">
          <a:xfrm>
            <a:off x="7681912" y="5186363"/>
            <a:ext cx="2660650" cy="1122362"/>
          </a:xfrm>
          <a:custGeom>
            <a:avLst/>
            <a:gdLst>
              <a:gd name="T0" fmla="*/ 2147483647 w 1583"/>
              <a:gd name="T1" fmla="*/ 2147483647 h 682"/>
              <a:gd name="T2" fmla="*/ 2147483647 w 1583"/>
              <a:gd name="T3" fmla="*/ 2147483647 h 682"/>
              <a:gd name="T4" fmla="*/ 2147483647 w 1583"/>
              <a:gd name="T5" fmla="*/ 2147483647 h 682"/>
              <a:gd name="T6" fmla="*/ 2147483647 w 1583"/>
              <a:gd name="T7" fmla="*/ 2147483647 h 682"/>
              <a:gd name="T8" fmla="*/ 2147483647 w 1583"/>
              <a:gd name="T9" fmla="*/ 2147483647 h 682"/>
              <a:gd name="T10" fmla="*/ 2147483647 w 1583"/>
              <a:gd name="T11" fmla="*/ 2147483647 h 682"/>
              <a:gd name="T12" fmla="*/ 2147483647 w 1583"/>
              <a:gd name="T13" fmla="*/ 2147483647 h 682"/>
              <a:gd name="T14" fmla="*/ 2147483647 w 1583"/>
              <a:gd name="T15" fmla="*/ 2147483647 h 682"/>
              <a:gd name="T16" fmla="*/ 2147483647 w 1583"/>
              <a:gd name="T17" fmla="*/ 2147483647 h 68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83" h="682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Text Box 30">
            <a:extLst>
              <a:ext uri="{FF2B5EF4-FFF2-40B4-BE49-F238E27FC236}">
                <a16:creationId xmlns:a16="http://schemas.microsoft.com/office/drawing/2014/main" id="{BEDD4C0A-521F-0801-3B40-AC72792FD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275" y="5870576"/>
            <a:ext cx="665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/>
              <a:t>AS1</a:t>
            </a:r>
            <a:endParaRPr lang="en-US"/>
          </a:p>
        </p:txBody>
      </p:sp>
      <p:sp>
        <p:nvSpPr>
          <p:cNvPr id="28" name="Line 31">
            <a:extLst>
              <a:ext uri="{FF2B5EF4-FFF2-40B4-BE49-F238E27FC236}">
                <a16:creationId xmlns:a16="http://schemas.microsoft.com/office/drawing/2014/main" id="{628D9DEC-4E93-2F08-FAE3-22196167C6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74087" y="5465764"/>
            <a:ext cx="147638" cy="1619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Line 32">
            <a:extLst>
              <a:ext uri="{FF2B5EF4-FFF2-40B4-BE49-F238E27FC236}">
                <a16:creationId xmlns:a16="http://schemas.microsoft.com/office/drawing/2014/main" id="{EB8847AF-8D8A-31A0-41EE-60CADC7B9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77313" y="5500689"/>
            <a:ext cx="4763" cy="4524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" name="Line 33">
            <a:extLst>
              <a:ext uri="{FF2B5EF4-FFF2-40B4-BE49-F238E27FC236}">
                <a16:creationId xmlns:a16="http://schemas.microsoft.com/office/drawing/2014/main" id="{E55222BF-73C5-F25E-A614-542CB759B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39237" y="5453063"/>
            <a:ext cx="496888" cy="3349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" name="Line 34">
            <a:extLst>
              <a:ext uri="{FF2B5EF4-FFF2-40B4-BE49-F238E27FC236}">
                <a16:creationId xmlns:a16="http://schemas.microsoft.com/office/drawing/2014/main" id="{1E851730-0258-4E49-1EE8-E34EF84C87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0837" y="5910263"/>
            <a:ext cx="376238" cy="1206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" name="Line 35">
            <a:extLst>
              <a:ext uri="{FF2B5EF4-FFF2-40B4-BE49-F238E27FC236}">
                <a16:creationId xmlns:a16="http://schemas.microsoft.com/office/drawing/2014/main" id="{3C450B51-676F-38FA-D9D3-94FEDC79F0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82037" y="5734051"/>
            <a:ext cx="901700" cy="809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" name="Line 36">
            <a:extLst>
              <a:ext uri="{FF2B5EF4-FFF2-40B4-BE49-F238E27FC236}">
                <a16:creationId xmlns:a16="http://schemas.microsoft.com/office/drawing/2014/main" id="{6C1EE31D-E2E7-EE56-18B6-8AFD97AD5B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8375" y="5815014"/>
            <a:ext cx="201612" cy="1349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34" name="Group 37">
            <a:extLst>
              <a:ext uri="{FF2B5EF4-FFF2-40B4-BE49-F238E27FC236}">
                <a16:creationId xmlns:a16="http://schemas.microsoft.com/office/drawing/2014/main" id="{58C8F4E4-3E89-9844-0568-51A8BE0C6638}"/>
              </a:ext>
            </a:extLst>
          </p:cNvPr>
          <p:cNvGrpSpPr>
            <a:grpSpLocks/>
          </p:cNvGrpSpPr>
          <p:nvPr/>
        </p:nvGrpSpPr>
        <p:grpSpPr bwMode="auto">
          <a:xfrm>
            <a:off x="8682037" y="5186364"/>
            <a:ext cx="501650" cy="396875"/>
            <a:chOff x="2055" y="3447"/>
            <a:chExt cx="316" cy="250"/>
          </a:xfrm>
        </p:grpSpPr>
        <p:sp>
          <p:nvSpPr>
            <p:cNvPr id="35" name="Oval 38">
              <a:extLst>
                <a:ext uri="{FF2B5EF4-FFF2-40B4-BE49-F238E27FC236}">
                  <a16:creationId xmlns:a16="http://schemas.microsoft.com/office/drawing/2014/main" id="{0546D8E6-D89D-C541-E9C0-300AAE113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3571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Line 39">
              <a:extLst>
                <a:ext uri="{FF2B5EF4-FFF2-40B4-BE49-F238E27FC236}">
                  <a16:creationId xmlns:a16="http://schemas.microsoft.com/office/drawing/2014/main" id="{9EF11A76-798C-648C-2AB0-8A633732A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8" y="356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" name="Line 40">
              <a:extLst>
                <a:ext uri="{FF2B5EF4-FFF2-40B4-BE49-F238E27FC236}">
                  <a16:creationId xmlns:a16="http://schemas.microsoft.com/office/drawing/2014/main" id="{622E9552-CD93-6E13-BC7A-7D211738D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1" y="356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" name="Rectangle 41">
              <a:extLst>
                <a:ext uri="{FF2B5EF4-FFF2-40B4-BE49-F238E27FC236}">
                  <a16:creationId xmlns:a16="http://schemas.microsoft.com/office/drawing/2014/main" id="{DFFB674A-13B9-CCAD-B510-A8AEA6155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3564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/>
            </a:p>
          </p:txBody>
        </p:sp>
        <p:sp>
          <p:nvSpPr>
            <p:cNvPr id="39" name="Oval 42">
              <a:extLst>
                <a:ext uri="{FF2B5EF4-FFF2-40B4-BE49-F238E27FC236}">
                  <a16:creationId xmlns:a16="http://schemas.microsoft.com/office/drawing/2014/main" id="{5FC03C39-0EF0-9B0B-34FC-A6F367F91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" y="3505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40" name="Group 43">
              <a:extLst>
                <a:ext uri="{FF2B5EF4-FFF2-40B4-BE49-F238E27FC236}">
                  <a16:creationId xmlns:a16="http://schemas.microsoft.com/office/drawing/2014/main" id="{19928650-873E-182E-C48A-9AD04FD167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2" y="3447"/>
              <a:ext cx="285" cy="250"/>
              <a:chOff x="2912" y="2425"/>
              <a:chExt cx="292" cy="250"/>
            </a:xfrm>
          </p:grpSpPr>
          <p:sp>
            <p:nvSpPr>
              <p:cNvPr id="41" name="Rectangle 44">
                <a:extLst>
                  <a:ext uri="{FF2B5EF4-FFF2-40B4-BE49-F238E27FC236}">
                    <a16:creationId xmlns:a16="http://schemas.microsoft.com/office/drawing/2014/main" id="{8D2A76D7-8DDC-73A3-1955-08AF329C0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2" name="Text Box 45">
                <a:extLst>
                  <a:ext uri="{FF2B5EF4-FFF2-40B4-BE49-F238E27FC236}">
                    <a16:creationId xmlns:a16="http://schemas.microsoft.com/office/drawing/2014/main" id="{F07CFDC7-49F2-A6F5-4DC8-861A9B6694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2" y="2425"/>
                <a:ext cx="29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000"/>
                  <a:t>1c</a:t>
                </a:r>
              </a:p>
            </p:txBody>
          </p:sp>
        </p:grpSp>
      </p:grpSp>
      <p:grpSp>
        <p:nvGrpSpPr>
          <p:cNvPr id="43" name="Group 46">
            <a:extLst>
              <a:ext uri="{FF2B5EF4-FFF2-40B4-BE49-F238E27FC236}">
                <a16:creationId xmlns:a16="http://schemas.microsoft.com/office/drawing/2014/main" id="{22E29356-25BC-6024-AC26-43B3A4CA05E3}"/>
              </a:ext>
            </a:extLst>
          </p:cNvPr>
          <p:cNvGrpSpPr>
            <a:grpSpLocks/>
          </p:cNvGrpSpPr>
          <p:nvPr/>
        </p:nvGrpSpPr>
        <p:grpSpPr bwMode="auto">
          <a:xfrm>
            <a:off x="8196262" y="5526089"/>
            <a:ext cx="501650" cy="396875"/>
            <a:chOff x="1749" y="3661"/>
            <a:chExt cx="316" cy="250"/>
          </a:xfrm>
        </p:grpSpPr>
        <p:sp>
          <p:nvSpPr>
            <p:cNvPr id="44" name="Oval 47">
              <a:extLst>
                <a:ext uri="{FF2B5EF4-FFF2-40B4-BE49-F238E27FC236}">
                  <a16:creationId xmlns:a16="http://schemas.microsoft.com/office/drawing/2014/main" id="{A4214255-0439-38A3-03BB-DE8596582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" y="3781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58B504C7-101A-0D75-7497-7C7AB35AA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" y="377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" name="Line 49">
              <a:extLst>
                <a:ext uri="{FF2B5EF4-FFF2-40B4-BE49-F238E27FC236}">
                  <a16:creationId xmlns:a16="http://schemas.microsoft.com/office/drawing/2014/main" id="{3D556B1E-3D53-7D32-05B6-92267121B9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377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7" name="Rectangle 50">
              <a:extLst>
                <a:ext uri="{FF2B5EF4-FFF2-40B4-BE49-F238E27FC236}">
                  <a16:creationId xmlns:a16="http://schemas.microsoft.com/office/drawing/2014/main" id="{1D005FD8-C699-0126-C3BC-FAD2F5F16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" y="3774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/>
            </a:p>
          </p:txBody>
        </p:sp>
        <p:sp>
          <p:nvSpPr>
            <p:cNvPr id="48" name="Oval 51">
              <a:extLst>
                <a:ext uri="{FF2B5EF4-FFF2-40B4-BE49-F238E27FC236}">
                  <a16:creationId xmlns:a16="http://schemas.microsoft.com/office/drawing/2014/main" id="{3B89E7E9-9ABF-356D-E34F-74ACAEC1C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" y="371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9" name="Rectangle 52">
              <a:extLst>
                <a:ext uri="{FF2B5EF4-FFF2-40B4-BE49-F238E27FC236}">
                  <a16:creationId xmlns:a16="http://schemas.microsoft.com/office/drawing/2014/main" id="{E8AA3638-7D6E-B608-0A3D-033AFA742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4" y="3746"/>
              <a:ext cx="142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0" name="Text Box 53">
              <a:extLst>
                <a:ext uri="{FF2B5EF4-FFF2-40B4-BE49-F238E27FC236}">
                  <a16:creationId xmlns:a16="http://schemas.microsoft.com/office/drawing/2014/main" id="{1854174A-50D4-2D04-6DDD-2791BCAAF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" y="3661"/>
              <a:ext cx="2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2000"/>
                <a:t>1a</a:t>
              </a:r>
              <a:endParaRPr lang="en-US" sz="2400"/>
            </a:p>
          </p:txBody>
        </p:sp>
      </p:grpSp>
      <p:grpSp>
        <p:nvGrpSpPr>
          <p:cNvPr id="51" name="Group 54">
            <a:extLst>
              <a:ext uri="{FF2B5EF4-FFF2-40B4-BE49-F238E27FC236}">
                <a16:creationId xmlns:a16="http://schemas.microsoft.com/office/drawing/2014/main" id="{EC656C69-836C-07D7-85C0-4A8E0F6065E0}"/>
              </a:ext>
            </a:extLst>
          </p:cNvPr>
          <p:cNvGrpSpPr>
            <a:grpSpLocks/>
          </p:cNvGrpSpPr>
          <p:nvPr/>
        </p:nvGrpSpPr>
        <p:grpSpPr bwMode="auto">
          <a:xfrm>
            <a:off x="8739187" y="5815014"/>
            <a:ext cx="501650" cy="396875"/>
            <a:chOff x="2091" y="3843"/>
            <a:chExt cx="316" cy="250"/>
          </a:xfrm>
        </p:grpSpPr>
        <p:sp>
          <p:nvSpPr>
            <p:cNvPr id="52" name="Oval 55">
              <a:extLst>
                <a:ext uri="{FF2B5EF4-FFF2-40B4-BE49-F238E27FC236}">
                  <a16:creationId xmlns:a16="http://schemas.microsoft.com/office/drawing/2014/main" id="{825E958D-5B9F-AC04-6BA6-7BA95E4C6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3967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3" name="Line 56">
              <a:extLst>
                <a:ext uri="{FF2B5EF4-FFF2-40B4-BE49-F238E27FC236}">
                  <a16:creationId xmlns:a16="http://schemas.microsoft.com/office/drawing/2014/main" id="{5EEE362A-E390-7464-8839-A285D58F0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4" y="3960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4" name="Line 57">
              <a:extLst>
                <a:ext uri="{FF2B5EF4-FFF2-40B4-BE49-F238E27FC236}">
                  <a16:creationId xmlns:a16="http://schemas.microsoft.com/office/drawing/2014/main" id="{639345F2-FA8C-DB75-A802-13ECAC70E4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7" y="3960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5" name="Rectangle 58">
              <a:extLst>
                <a:ext uri="{FF2B5EF4-FFF2-40B4-BE49-F238E27FC236}">
                  <a16:creationId xmlns:a16="http://schemas.microsoft.com/office/drawing/2014/main" id="{AF494E2A-BCA2-9B9F-27C8-804575335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3960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/>
            </a:p>
          </p:txBody>
        </p:sp>
        <p:sp>
          <p:nvSpPr>
            <p:cNvPr id="56" name="Oval 59">
              <a:extLst>
                <a:ext uri="{FF2B5EF4-FFF2-40B4-BE49-F238E27FC236}">
                  <a16:creationId xmlns:a16="http://schemas.microsoft.com/office/drawing/2014/main" id="{8B92CBC5-D2AB-1292-B2AA-627B32244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" y="3901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57" name="Group 60">
              <a:extLst>
                <a:ext uri="{FF2B5EF4-FFF2-40B4-BE49-F238E27FC236}">
                  <a16:creationId xmlns:a16="http://schemas.microsoft.com/office/drawing/2014/main" id="{C4F83D19-B7BB-6579-8112-AB78745FFA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6" y="3843"/>
              <a:ext cx="294" cy="250"/>
              <a:chOff x="2910" y="2425"/>
              <a:chExt cx="296" cy="250"/>
            </a:xfrm>
          </p:grpSpPr>
          <p:sp>
            <p:nvSpPr>
              <p:cNvPr id="58" name="Rectangle 61">
                <a:extLst>
                  <a:ext uri="{FF2B5EF4-FFF2-40B4-BE49-F238E27FC236}">
                    <a16:creationId xmlns:a16="http://schemas.microsoft.com/office/drawing/2014/main" id="{A9B65539-8EF9-B585-502F-BDF3B63EE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59" name="Text Box 62">
                <a:extLst>
                  <a:ext uri="{FF2B5EF4-FFF2-40B4-BE49-F238E27FC236}">
                    <a16:creationId xmlns:a16="http://schemas.microsoft.com/office/drawing/2014/main" id="{F92818EF-C954-215E-3E30-704B604629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0" y="2425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000"/>
                  <a:t>1d</a:t>
                </a:r>
              </a:p>
            </p:txBody>
          </p:sp>
        </p:grpSp>
      </p:grpSp>
      <p:grpSp>
        <p:nvGrpSpPr>
          <p:cNvPr id="60" name="Group 63">
            <a:extLst>
              <a:ext uri="{FF2B5EF4-FFF2-40B4-BE49-F238E27FC236}">
                <a16:creationId xmlns:a16="http://schemas.microsoft.com/office/drawing/2014/main" id="{B692AAC0-FDBD-9649-36AA-B681BCCB495C}"/>
              </a:ext>
            </a:extLst>
          </p:cNvPr>
          <p:cNvGrpSpPr>
            <a:grpSpLocks/>
          </p:cNvGrpSpPr>
          <p:nvPr/>
        </p:nvGrpSpPr>
        <p:grpSpPr bwMode="auto">
          <a:xfrm>
            <a:off x="9596437" y="5630864"/>
            <a:ext cx="501650" cy="396875"/>
            <a:chOff x="2016" y="1976"/>
            <a:chExt cx="316" cy="250"/>
          </a:xfrm>
        </p:grpSpPr>
        <p:sp>
          <p:nvSpPr>
            <p:cNvPr id="61" name="Oval 64">
              <a:extLst>
                <a:ext uri="{FF2B5EF4-FFF2-40B4-BE49-F238E27FC236}">
                  <a16:creationId xmlns:a16="http://schemas.microsoft.com/office/drawing/2014/main" id="{A051C09E-2788-EDF5-19FB-F33F76ABC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1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2" name="Line 65">
              <a:extLst>
                <a:ext uri="{FF2B5EF4-FFF2-40B4-BE49-F238E27FC236}">
                  <a16:creationId xmlns:a16="http://schemas.microsoft.com/office/drawing/2014/main" id="{C56651ED-80F7-127D-FA9A-3F01C2D43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" y="209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" name="Line 66">
              <a:extLst>
                <a:ext uri="{FF2B5EF4-FFF2-40B4-BE49-F238E27FC236}">
                  <a16:creationId xmlns:a16="http://schemas.microsoft.com/office/drawing/2014/main" id="{0CAE7ED7-268A-2F82-38E4-9B3CB494D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2" y="209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4" name="Rectangle 67">
              <a:extLst>
                <a:ext uri="{FF2B5EF4-FFF2-40B4-BE49-F238E27FC236}">
                  <a16:creationId xmlns:a16="http://schemas.microsoft.com/office/drawing/2014/main" id="{D8B84604-F03E-7611-869F-ED2182D37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0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/>
            </a:p>
          </p:txBody>
        </p:sp>
        <p:sp>
          <p:nvSpPr>
            <p:cNvPr id="65" name="Oval 68">
              <a:extLst>
                <a:ext uri="{FF2B5EF4-FFF2-40B4-BE49-F238E27FC236}">
                  <a16:creationId xmlns:a16="http://schemas.microsoft.com/office/drawing/2014/main" id="{DF5CAB38-3D5F-D3A2-2922-5689A28FA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0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6" name="Group 69">
              <a:extLst>
                <a:ext uri="{FF2B5EF4-FFF2-40B4-BE49-F238E27FC236}">
                  <a16:creationId xmlns:a16="http://schemas.microsoft.com/office/drawing/2014/main" id="{4066D7D2-1657-94D1-383E-08B1535FD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9" y="1976"/>
              <a:ext cx="294" cy="250"/>
              <a:chOff x="2909" y="2425"/>
              <a:chExt cx="299" cy="250"/>
            </a:xfrm>
          </p:grpSpPr>
          <p:sp>
            <p:nvSpPr>
              <p:cNvPr id="67" name="Rectangle 70">
                <a:extLst>
                  <a:ext uri="{FF2B5EF4-FFF2-40B4-BE49-F238E27FC236}">
                    <a16:creationId xmlns:a16="http://schemas.microsoft.com/office/drawing/2014/main" id="{E20B14EC-9EA6-01E8-533E-679F24C0E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38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8" name="Text Box 71">
                <a:extLst>
                  <a:ext uri="{FF2B5EF4-FFF2-40B4-BE49-F238E27FC236}">
                    <a16:creationId xmlns:a16="http://schemas.microsoft.com/office/drawing/2014/main" id="{5A9E3127-313E-2E48-2A21-5D866434C9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9" y="2425"/>
                <a:ext cx="29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>
                  <a:defRPr/>
                </a:pPr>
                <a:r>
                  <a:rPr lang="en-US" sz="2000"/>
                  <a:t>1b</a:t>
                </a:r>
                <a:endParaRPr lang="en-US" sz="2400"/>
              </a:p>
            </p:txBody>
          </p:sp>
        </p:grpSp>
      </p:grpSp>
      <p:sp>
        <p:nvSpPr>
          <p:cNvPr id="69" name="Freeform 104">
            <a:extLst>
              <a:ext uri="{FF2B5EF4-FFF2-40B4-BE49-F238E27FC236}">
                <a16:creationId xmlns:a16="http://schemas.microsoft.com/office/drawing/2014/main" id="{963CB067-EC89-5464-1109-299CFB6A53C2}"/>
              </a:ext>
            </a:extLst>
          </p:cNvPr>
          <p:cNvSpPr>
            <a:spLocks/>
          </p:cNvSpPr>
          <p:nvPr/>
        </p:nvSpPr>
        <p:spPr bwMode="auto">
          <a:xfrm>
            <a:off x="10099676" y="5565775"/>
            <a:ext cx="523875" cy="261938"/>
          </a:xfrm>
          <a:custGeom>
            <a:avLst/>
            <a:gdLst>
              <a:gd name="T0" fmla="*/ 0 w 654"/>
              <a:gd name="T1" fmla="*/ 2147483647 h 420"/>
              <a:gd name="T2" fmla="*/ 2147483647 w 654"/>
              <a:gd name="T3" fmla="*/ 0 h 42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Line 106">
            <a:extLst>
              <a:ext uri="{FF2B5EF4-FFF2-40B4-BE49-F238E27FC236}">
                <a16:creationId xmlns:a16="http://schemas.microsoft.com/office/drawing/2014/main" id="{558D98B1-B9FF-2D9D-4725-592C6AE884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0" y="4684713"/>
            <a:ext cx="7667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" name="Line 107">
            <a:extLst>
              <a:ext uri="{FF2B5EF4-FFF2-40B4-BE49-F238E27FC236}">
                <a16:creationId xmlns:a16="http://schemas.microsoft.com/office/drawing/2014/main" id="{6B3C1FD7-361D-EC1D-3815-A074F01C4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28050" y="4999038"/>
            <a:ext cx="766762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" name="Text Box 108">
            <a:extLst>
              <a:ext uri="{FF2B5EF4-FFF2-40B4-BE49-F238E27FC236}">
                <a16:creationId xmlns:a16="http://schemas.microsoft.com/office/drawing/2014/main" id="{E1681096-7FBD-677C-20CC-0FE698112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8312" y="4467225"/>
            <a:ext cx="13096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dirty="0" err="1"/>
              <a:t>eBGP</a:t>
            </a:r>
            <a:r>
              <a:rPr lang="en-US" sz="1400" dirty="0"/>
              <a:t> session</a:t>
            </a:r>
          </a:p>
        </p:txBody>
      </p:sp>
      <p:sp>
        <p:nvSpPr>
          <p:cNvPr id="73" name="Text Box 109">
            <a:extLst>
              <a:ext uri="{FF2B5EF4-FFF2-40B4-BE49-F238E27FC236}">
                <a16:creationId xmlns:a16="http://schemas.microsoft.com/office/drawing/2014/main" id="{B59E0959-3B67-E8FF-E604-3F1228B39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5300" y="4816475"/>
            <a:ext cx="1250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/>
              <a:t>iBGP session</a:t>
            </a:r>
          </a:p>
        </p:txBody>
      </p:sp>
      <p:sp>
        <p:nvSpPr>
          <p:cNvPr id="74" name="Freeform 110">
            <a:extLst>
              <a:ext uri="{FF2B5EF4-FFF2-40B4-BE49-F238E27FC236}">
                <a16:creationId xmlns:a16="http://schemas.microsoft.com/office/drawing/2014/main" id="{320F3739-9503-B541-4714-D12F1B954A51}"/>
              </a:ext>
            </a:extLst>
          </p:cNvPr>
          <p:cNvSpPr>
            <a:spLocks/>
          </p:cNvSpPr>
          <p:nvPr/>
        </p:nvSpPr>
        <p:spPr bwMode="auto">
          <a:xfrm>
            <a:off x="7986712" y="4973639"/>
            <a:ext cx="704850" cy="409575"/>
          </a:xfrm>
          <a:custGeom>
            <a:avLst/>
            <a:gdLst>
              <a:gd name="T0" fmla="*/ 0 w 444"/>
              <a:gd name="T1" fmla="*/ 0 h 258"/>
              <a:gd name="T2" fmla="*/ 2147483647 w 444"/>
              <a:gd name="T3" fmla="*/ 2147483647 h 25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97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E866-D906-9CEE-A767-A7CE47CAA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ontent Placeholder 123">
            <a:extLst>
              <a:ext uri="{FF2B5EF4-FFF2-40B4-BE49-F238E27FC236}">
                <a16:creationId xmlns:a16="http://schemas.microsoft.com/office/drawing/2014/main" id="{625C16AF-B5AF-2DC2-0CE7-FF18D665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Intra-AS routing: </a:t>
            </a:r>
            <a:r>
              <a:rPr lang="en-US" dirty="0" err="1"/>
              <a:t>e.g</a:t>
            </a:r>
            <a:r>
              <a:rPr lang="en-US" dirty="0"/>
              <a:t>, OSPF within AS1? </a:t>
            </a:r>
          </a:p>
          <a:p>
            <a:r>
              <a:rPr lang="en-US" dirty="0"/>
              <a:t>Inter-AS routing: </a:t>
            </a:r>
            <a:r>
              <a:rPr lang="en-US" dirty="0" err="1"/>
              <a:t>eBGP</a:t>
            </a:r>
            <a:r>
              <a:rPr lang="en-US" dirty="0"/>
              <a:t> and </a:t>
            </a:r>
            <a:r>
              <a:rPr lang="en-US" dirty="0" err="1"/>
              <a:t>iBGP</a:t>
            </a:r>
            <a:endParaRPr lang="en-US" dirty="0"/>
          </a:p>
          <a:p>
            <a:pPr lvl="1"/>
            <a:r>
              <a:rPr lang="en-US" dirty="0"/>
              <a:t>AS PATH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How to select if multiple choices?</a:t>
            </a:r>
          </a:p>
          <a:p>
            <a:pPr lvl="2"/>
            <a:r>
              <a:rPr lang="en-US" b="1" dirty="0"/>
              <a:t>Policy first</a:t>
            </a:r>
          </a:p>
          <a:p>
            <a:pPr lvl="2"/>
            <a:r>
              <a:rPr lang="en-US" b="1" dirty="0"/>
              <a:t> short AS PATH,  hot potato routing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B75831-2B08-9461-D217-C7F809CE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Ch5: Routing 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924AA9D-E01D-A1F8-D2E0-8C9E5FB6AC26}"/>
              </a:ext>
            </a:extLst>
          </p:cNvPr>
          <p:cNvGrpSpPr>
            <a:grpSpLocks/>
          </p:cNvGrpSpPr>
          <p:nvPr/>
        </p:nvGrpSpPr>
        <p:grpSpPr bwMode="auto">
          <a:xfrm>
            <a:off x="2063751" y="4119995"/>
            <a:ext cx="2557463" cy="1719262"/>
            <a:chOff x="-2170772" y="2784954"/>
            <a:chExt cx="2712783" cy="1853712"/>
          </a:xfrm>
        </p:grpSpPr>
        <p:sp>
          <p:nvSpPr>
            <p:cNvPr id="126" name="Freeform 2">
              <a:extLst>
                <a:ext uri="{FF2B5EF4-FFF2-40B4-BE49-F238E27FC236}">
                  <a16:creationId xmlns:a16="http://schemas.microsoft.com/office/drawing/2014/main" id="{EE168DA6-6A17-BF32-E30C-72B057F02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2147483646 w 10000"/>
                <a:gd name="T1" fmla="*/ 2147483646 h 10795"/>
                <a:gd name="T2" fmla="*/ 2147483646 w 10000"/>
                <a:gd name="T3" fmla="*/ 2147483646 h 10795"/>
                <a:gd name="T4" fmla="*/ 2147483646 w 10000"/>
                <a:gd name="T5" fmla="*/ 2147483646 h 10795"/>
                <a:gd name="T6" fmla="*/ 2147483646 w 10000"/>
                <a:gd name="T7" fmla="*/ 2147483646 h 10795"/>
                <a:gd name="T8" fmla="*/ 2147483646 w 10000"/>
                <a:gd name="T9" fmla="*/ 2147483646 h 10795"/>
                <a:gd name="T10" fmla="*/ 2147483646 w 10000"/>
                <a:gd name="T11" fmla="*/ 2147483646 h 10795"/>
                <a:gd name="T12" fmla="*/ 2147483646 w 10000"/>
                <a:gd name="T13" fmla="*/ 2147483646 h 10795"/>
                <a:gd name="T14" fmla="*/ 2147483646 w 10000"/>
                <a:gd name="T15" fmla="*/ 2147483646 h 10795"/>
                <a:gd name="T16" fmla="*/ 2147483646 w 10000"/>
                <a:gd name="T17" fmla="*/ 2147483646 h 10795"/>
                <a:gd name="T18" fmla="*/ 2147483646 w 10000"/>
                <a:gd name="T19" fmla="*/ 2147483646 h 107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7" name="Group 261">
              <a:extLst>
                <a:ext uri="{FF2B5EF4-FFF2-40B4-BE49-F238E27FC236}">
                  <a16:creationId xmlns:a16="http://schemas.microsoft.com/office/drawing/2014/main" id="{C3CE8135-D90C-7D0F-615C-CB954FEF5E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935370" y="2935816"/>
              <a:ext cx="2333625" cy="1619532"/>
              <a:chOff x="833331" y="2873352"/>
              <a:chExt cx="2333625" cy="1619532"/>
            </a:xfrm>
          </p:grpSpPr>
          <p:grpSp>
            <p:nvGrpSpPr>
              <p:cNvPr id="128" name="Group 262">
                <a:extLst>
                  <a:ext uri="{FF2B5EF4-FFF2-40B4-BE49-F238E27FC236}">
                    <a16:creationId xmlns:a16="http://schemas.microsoft.com/office/drawing/2014/main" id="{F91B9301-2C12-B5EF-B80F-8586FD06D4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73352"/>
                <a:ext cx="565150" cy="398215"/>
                <a:chOff x="1736090" y="2873352"/>
                <a:chExt cx="565150" cy="398215"/>
              </a:xfrm>
            </p:grpSpPr>
            <p:grpSp>
              <p:nvGrpSpPr>
                <p:cNvPr id="175" name="Group 327">
                  <a:extLst>
                    <a:ext uri="{FF2B5EF4-FFF2-40B4-BE49-F238E27FC236}">
                      <a16:creationId xmlns:a16="http://schemas.microsoft.com/office/drawing/2014/main" id="{05BC7DDC-B115-94EE-7939-92A060E7AA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B72B207C-9D54-3718-FC9F-C54759BE5B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874966" y="1694164"/>
                    <a:ext cx="1126293" cy="320721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 scaled="1"/>
                  </a:gra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80" name="Rectangle 179">
                    <a:extLst>
                      <a:ext uri="{FF2B5EF4-FFF2-40B4-BE49-F238E27FC236}">
                        <a16:creationId xmlns:a16="http://schemas.microsoft.com/office/drawing/2014/main" id="{427B3EAE-4218-1D89-A14E-43A187A144C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603" y="1740348"/>
                    <a:ext cx="1129657" cy="115459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81" name="Oval 180">
                    <a:extLst>
                      <a:ext uri="{FF2B5EF4-FFF2-40B4-BE49-F238E27FC236}">
                        <a16:creationId xmlns:a16="http://schemas.microsoft.com/office/drawing/2014/main" id="{07862981-E029-FD79-6925-ECC7329732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871603" y="1576138"/>
                    <a:ext cx="1126296" cy="320721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82" name="Freeform 181">
                    <a:extLst>
                      <a:ext uri="{FF2B5EF4-FFF2-40B4-BE49-F238E27FC236}">
                        <a16:creationId xmlns:a16="http://schemas.microsoft.com/office/drawing/2014/main" id="{59D30D85-A6E1-D23C-EC96-7A50E73BE30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60741" y="1673638"/>
                    <a:ext cx="548019" cy="15907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83" name="Freeform 182">
                    <a:extLst>
                      <a:ext uri="{FF2B5EF4-FFF2-40B4-BE49-F238E27FC236}">
                        <a16:creationId xmlns:a16="http://schemas.microsoft.com/office/drawing/2014/main" id="{3B95AF36-8E87-FB9B-D930-0FB811607D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03587" y="1632585"/>
                    <a:ext cx="662327" cy="112894"/>
                  </a:xfrm>
                  <a:custGeom>
                    <a:avLst/>
                    <a:gdLst>
                      <a:gd name="T0" fmla="*/ 0 w 3723451"/>
                      <a:gd name="T1" fmla="*/ 27619 h 932950"/>
                      <a:gd name="T2" fmla="*/ 116541 w 3723451"/>
                      <a:gd name="T3" fmla="*/ 326 h 932950"/>
                      <a:gd name="T4" fmla="*/ 330106 w 3723451"/>
                      <a:gd name="T5" fmla="*/ 62992 h 932950"/>
                      <a:gd name="T6" fmla="*/ 533848 w 3723451"/>
                      <a:gd name="T7" fmla="*/ 0 h 932950"/>
                      <a:gd name="T8" fmla="*/ 662327 w 3723451"/>
                      <a:gd name="T9" fmla="*/ 25067 h 932950"/>
                      <a:gd name="T10" fmla="*/ 566739 w 3723451"/>
                      <a:gd name="T11" fmla="*/ 55890 h 932950"/>
                      <a:gd name="T12" fmla="*/ 535964 w 3723451"/>
                      <a:gd name="T13" fmla="*/ 47580 h 932950"/>
                      <a:gd name="T14" fmla="*/ 333858 w 3723451"/>
                      <a:gd name="T15" fmla="*/ 112894 h 932950"/>
                      <a:gd name="T16" fmla="*/ 126582 w 3723451"/>
                      <a:gd name="T17" fmla="*/ 49983 h 932950"/>
                      <a:gd name="T18" fmla="*/ 93069 w 3723451"/>
                      <a:gd name="T19" fmla="*/ 56773 h 932950"/>
                      <a:gd name="T20" fmla="*/ 0 w 3723451"/>
                      <a:gd name="T21" fmla="*/ 27619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84" name="Freeform 183">
                    <a:extLst>
                      <a:ext uri="{FF2B5EF4-FFF2-40B4-BE49-F238E27FC236}">
                        <a16:creationId xmlns:a16="http://schemas.microsoft.com/office/drawing/2014/main" id="{A2D9B098-D706-E136-582B-8B1DE43B89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37294" y="1727518"/>
                    <a:ext cx="245432" cy="100066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45432 w 1366596"/>
                      <a:gd name="T3" fmla="*/ 77324 h 809868"/>
                      <a:gd name="T4" fmla="*/ 155358 w 1366596"/>
                      <a:gd name="T5" fmla="*/ 100066 h 809868"/>
                      <a:gd name="T6" fmla="*/ 826 w 1366596"/>
                      <a:gd name="T7" fmla="*/ 52876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85" name="Freeform 184">
                    <a:extLst>
                      <a:ext uri="{FF2B5EF4-FFF2-40B4-BE49-F238E27FC236}">
                        <a16:creationId xmlns:a16="http://schemas.microsoft.com/office/drawing/2014/main" id="{D542C172-66AF-2502-6A25-07E46D52B1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90139" y="1730085"/>
                    <a:ext cx="242069" cy="97499"/>
                  </a:xfrm>
                  <a:custGeom>
                    <a:avLst/>
                    <a:gdLst>
                      <a:gd name="T0" fmla="*/ 238764 w 1348191"/>
                      <a:gd name="T1" fmla="*/ 0 h 791462"/>
                      <a:gd name="T2" fmla="*/ 242069 w 1348191"/>
                      <a:gd name="T3" fmla="*/ 47049 h 791462"/>
                      <a:gd name="T4" fmla="*/ 87575 w 1348191"/>
                      <a:gd name="T5" fmla="*/ 97499 h 791462"/>
                      <a:gd name="T6" fmla="*/ 0 w 1348191"/>
                      <a:gd name="T7" fmla="*/ 75392 h 791462"/>
                      <a:gd name="T8" fmla="*/ 238764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7ADCF2CE-FE8B-46FA-89F6-5FDEF46D387C}"/>
                      </a:ext>
                    </a:extLst>
                  </p:cNvPr>
                  <p:cNvCxnSpPr>
                    <a:cxnSpLocks noChangeShapeType="1"/>
                    <a:endCxn id="181" idx="2"/>
                  </p:cNvCxnSpPr>
                  <p:nvPr/>
                </p:nvCxnSpPr>
                <p:spPr bwMode="auto">
                  <a:xfrm flipH="1" flipV="1">
                    <a:off x="1871603" y="1735216"/>
                    <a:ext cx="3363" cy="125722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187" name="Straight Connector 186">
                    <a:extLst>
                      <a:ext uri="{FF2B5EF4-FFF2-40B4-BE49-F238E27FC236}">
                        <a16:creationId xmlns:a16="http://schemas.microsoft.com/office/drawing/2014/main" id="{2AE86DE3-01C2-8EF7-3697-FC180925832A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2997899" y="1732650"/>
                    <a:ext cx="3361" cy="125724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</p:grpSp>
            <p:grpSp>
              <p:nvGrpSpPr>
                <p:cNvPr id="176" name="Group 312">
                  <a:extLst>
                    <a:ext uri="{FF2B5EF4-FFF2-40B4-BE49-F238E27FC236}">
                      <a16:creationId xmlns:a16="http://schemas.microsoft.com/office/drawing/2014/main" id="{375F10ED-8904-824D-18F3-BC11C097A7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0362" y="2873352"/>
                  <a:ext cx="467937" cy="398215"/>
                  <a:chOff x="667045" y="1708643"/>
                  <a:chExt cx="467937" cy="398215"/>
                </a:xfrm>
              </p:grpSpPr>
              <p:sp>
                <p:nvSpPr>
                  <p:cNvPr id="177" name="Oval 176">
                    <a:extLst>
                      <a:ext uri="{FF2B5EF4-FFF2-40B4-BE49-F238E27FC236}">
                        <a16:creationId xmlns:a16="http://schemas.microsoft.com/office/drawing/2014/main" id="{681987EF-9387-FAF5-BBB0-9341B6D465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552" y="1787142"/>
                    <a:ext cx="375511" cy="232784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/>
                  </a:p>
                </p:txBody>
              </p:sp>
              <p:sp>
                <p:nvSpPr>
                  <p:cNvPr id="178" name="TextBox 314">
                    <a:extLst>
                      <a:ext uri="{FF2B5EF4-FFF2-40B4-BE49-F238E27FC236}">
                        <a16:creationId xmlns:a16="http://schemas.microsoft.com/office/drawing/2014/main" id="{90E05EE2-742B-2F94-05B1-632709C498F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7045" y="1708643"/>
                    <a:ext cx="467937" cy="39821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Arial" panose="020B0604020202020204" pitchFamily="34" charset="0"/>
                      </a:rPr>
                      <a:t>1b</a:t>
                    </a:r>
                  </a:p>
                </p:txBody>
              </p:sp>
            </p:grpSp>
          </p:grpSp>
          <p:grpSp>
            <p:nvGrpSpPr>
              <p:cNvPr id="129" name="Group 263">
                <a:extLst>
                  <a:ext uri="{FF2B5EF4-FFF2-40B4-BE49-F238E27FC236}">
                    <a16:creationId xmlns:a16="http://schemas.microsoft.com/office/drawing/2014/main" id="{CC9991B7-97F7-5318-2137-B971F06481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0320" y="4094669"/>
                <a:ext cx="565150" cy="398215"/>
                <a:chOff x="1736090" y="2873352"/>
                <a:chExt cx="565150" cy="398215"/>
              </a:xfrm>
            </p:grpSpPr>
            <p:grpSp>
              <p:nvGrpSpPr>
                <p:cNvPr id="162" name="Group 327">
                  <a:extLst>
                    <a:ext uri="{FF2B5EF4-FFF2-40B4-BE49-F238E27FC236}">
                      <a16:creationId xmlns:a16="http://schemas.microsoft.com/office/drawing/2014/main" id="{5DFFED2B-C1CC-E415-0DF4-7924E4A372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66" name="Oval 165">
                    <a:extLst>
                      <a:ext uri="{FF2B5EF4-FFF2-40B4-BE49-F238E27FC236}">
                        <a16:creationId xmlns:a16="http://schemas.microsoft.com/office/drawing/2014/main" id="{5DFCE425-8F03-45C3-A712-848D40FA2D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10226" y="1667136"/>
                    <a:ext cx="1089312" cy="346380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 scaled="1"/>
                  </a:gra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67" name="Rectangle 166">
                    <a:extLst>
                      <a:ext uri="{FF2B5EF4-FFF2-40B4-BE49-F238E27FC236}">
                        <a16:creationId xmlns:a16="http://schemas.microsoft.com/office/drawing/2014/main" id="{DF384A95-E93A-7293-64EE-C48ADCF803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10226" y="1738977"/>
                    <a:ext cx="1089312" cy="115461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68" name="Oval 167">
                    <a:extLst>
                      <a:ext uri="{FF2B5EF4-FFF2-40B4-BE49-F238E27FC236}">
                        <a16:creationId xmlns:a16="http://schemas.microsoft.com/office/drawing/2014/main" id="{EE5B8B5B-AE47-C43C-337D-60797028B5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06865" y="1549110"/>
                    <a:ext cx="1089312" cy="346380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69" name="Freeform 168">
                    <a:extLst>
                      <a:ext uri="{FF2B5EF4-FFF2-40B4-BE49-F238E27FC236}">
                        <a16:creationId xmlns:a16="http://schemas.microsoft.com/office/drawing/2014/main" id="{D5E26ADC-5EE9-630E-2FF3-1E1B18EBC3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62383" y="1644045"/>
                    <a:ext cx="544656" cy="187301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70" name="Freeform 169">
                    <a:extLst>
                      <a:ext uri="{FF2B5EF4-FFF2-40B4-BE49-F238E27FC236}">
                        <a16:creationId xmlns:a16="http://schemas.microsoft.com/office/drawing/2014/main" id="{70937A53-D40A-C44B-3904-EE083C2818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05226" y="1605557"/>
                    <a:ext cx="658966" cy="138552"/>
                  </a:xfrm>
                  <a:custGeom>
                    <a:avLst/>
                    <a:gdLst>
                      <a:gd name="T0" fmla="*/ 0 w 3723451"/>
                      <a:gd name="T1" fmla="*/ 28247 h 932950"/>
                      <a:gd name="T2" fmla="*/ 115950 w 3723451"/>
                      <a:gd name="T3" fmla="*/ 333 h 932950"/>
                      <a:gd name="T4" fmla="*/ 328430 w 3723451"/>
                      <a:gd name="T5" fmla="*/ 64423 h 932950"/>
                      <a:gd name="T6" fmla="*/ 531139 w 3723451"/>
                      <a:gd name="T7" fmla="*/ 0 h 932950"/>
                      <a:gd name="T8" fmla="*/ 658966 w 3723451"/>
                      <a:gd name="T9" fmla="*/ 25636 h 932950"/>
                      <a:gd name="T10" fmla="*/ 563863 w 3723451"/>
                      <a:gd name="T11" fmla="*/ 57160 h 932950"/>
                      <a:gd name="T12" fmla="*/ 533244 w 3723451"/>
                      <a:gd name="T13" fmla="*/ 48661 h 932950"/>
                      <a:gd name="T14" fmla="*/ 332164 w 3723451"/>
                      <a:gd name="T15" fmla="*/ 115459 h 932950"/>
                      <a:gd name="T16" fmla="*/ 125939 w 3723451"/>
                      <a:gd name="T17" fmla="*/ 51118 h 932950"/>
                      <a:gd name="T18" fmla="*/ 92597 w 3723451"/>
                      <a:gd name="T19" fmla="*/ 58063 h 932950"/>
                      <a:gd name="T20" fmla="*/ 0 w 3723451"/>
                      <a:gd name="T21" fmla="*/ 28247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71" name="Freeform 170">
                    <a:extLst>
                      <a:ext uri="{FF2B5EF4-FFF2-40B4-BE49-F238E27FC236}">
                        <a16:creationId xmlns:a16="http://schemas.microsoft.com/office/drawing/2014/main" id="{B25573BD-E20A-F377-3FF0-2948AA307B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38935" y="1726149"/>
                    <a:ext cx="242069" cy="100064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42069 w 1366596"/>
                      <a:gd name="T3" fmla="*/ 77322 h 809868"/>
                      <a:gd name="T4" fmla="*/ 153229 w 1366596"/>
                      <a:gd name="T5" fmla="*/ 100064 h 809868"/>
                      <a:gd name="T6" fmla="*/ 815 w 1366596"/>
                      <a:gd name="T7" fmla="*/ 52875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72" name="Freeform 171">
                    <a:extLst>
                      <a:ext uri="{FF2B5EF4-FFF2-40B4-BE49-F238E27FC236}">
                        <a16:creationId xmlns:a16="http://schemas.microsoft.com/office/drawing/2014/main" id="{703D18F4-C1FC-49A9-2624-347DF4CADE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91778" y="1728714"/>
                    <a:ext cx="238708" cy="97499"/>
                  </a:xfrm>
                  <a:custGeom>
                    <a:avLst/>
                    <a:gdLst>
                      <a:gd name="T0" fmla="*/ 235449 w 1348191"/>
                      <a:gd name="T1" fmla="*/ 0 h 791462"/>
                      <a:gd name="T2" fmla="*/ 238708 w 1348191"/>
                      <a:gd name="T3" fmla="*/ 47049 h 791462"/>
                      <a:gd name="T4" fmla="*/ 86359 w 1348191"/>
                      <a:gd name="T5" fmla="*/ 97499 h 791462"/>
                      <a:gd name="T6" fmla="*/ 0 w 1348191"/>
                      <a:gd name="T7" fmla="*/ 75392 h 791462"/>
                      <a:gd name="T8" fmla="*/ 235449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cxnSp>
                <p:nvCxnSpPr>
                  <p:cNvPr id="173" name="Straight Connector 172">
                    <a:extLst>
                      <a:ext uri="{FF2B5EF4-FFF2-40B4-BE49-F238E27FC236}">
                        <a16:creationId xmlns:a16="http://schemas.microsoft.com/office/drawing/2014/main" id="{ECCED1C1-EB98-D4F8-A816-DCF2A4F8BBD3}"/>
                      </a:ext>
                    </a:extLst>
                  </p:cNvPr>
                  <p:cNvCxnSpPr>
                    <a:cxnSpLocks noChangeShapeType="1"/>
                    <a:endCxn id="168" idx="2"/>
                  </p:cNvCxnSpPr>
                  <p:nvPr/>
                </p:nvCxnSpPr>
                <p:spPr bwMode="auto">
                  <a:xfrm flipH="1" flipV="1">
                    <a:off x="1906865" y="1733846"/>
                    <a:ext cx="3361" cy="125724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174" name="Straight Connector 173">
                    <a:extLst>
                      <a:ext uri="{FF2B5EF4-FFF2-40B4-BE49-F238E27FC236}">
                        <a16:creationId xmlns:a16="http://schemas.microsoft.com/office/drawing/2014/main" id="{A65D43AC-BE66-DAAA-44CB-3CA942C47D07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2996177" y="1731281"/>
                    <a:ext cx="3361" cy="125722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</p:grpSp>
            <p:grpSp>
              <p:nvGrpSpPr>
                <p:cNvPr id="163" name="Group 299">
                  <a:extLst>
                    <a:ext uri="{FF2B5EF4-FFF2-40B4-BE49-F238E27FC236}">
                      <a16:creationId xmlns:a16="http://schemas.microsoft.com/office/drawing/2014/main" id="{ED11EBC5-51D7-290B-9B3C-B8ECCB3DAE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0362" y="2873352"/>
                  <a:ext cx="467937" cy="398215"/>
                  <a:chOff x="667045" y="1708643"/>
                  <a:chExt cx="467937" cy="398215"/>
                </a:xfrm>
              </p:grpSpPr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9090F148-B73E-F781-B625-A0BC933CD24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6373" y="1767400"/>
                    <a:ext cx="355306" cy="25161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/>
                  </a:p>
                </p:txBody>
              </p:sp>
              <p:sp>
                <p:nvSpPr>
                  <p:cNvPr id="165" name="TextBox 301">
                    <a:extLst>
                      <a:ext uri="{FF2B5EF4-FFF2-40B4-BE49-F238E27FC236}">
                        <a16:creationId xmlns:a16="http://schemas.microsoft.com/office/drawing/2014/main" id="{7B117CA9-D3CD-3D40-E027-DACE2B30FE6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7045" y="1708643"/>
                    <a:ext cx="467937" cy="39821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Arial" panose="020B0604020202020204" pitchFamily="34" charset="0"/>
                      </a:rPr>
                      <a:t>1d</a:t>
                    </a:r>
                  </a:p>
                </p:txBody>
              </p:sp>
            </p:grpSp>
          </p:grpSp>
          <p:grpSp>
            <p:nvGrpSpPr>
              <p:cNvPr id="130" name="Group 264">
                <a:extLst>
                  <a:ext uri="{FF2B5EF4-FFF2-40B4-BE49-F238E27FC236}">
                    <a16:creationId xmlns:a16="http://schemas.microsoft.com/office/drawing/2014/main" id="{73DC1A9E-905D-468B-44E7-F5FB786D78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1806" y="3485072"/>
                <a:ext cx="565150" cy="398215"/>
                <a:chOff x="1736090" y="2873352"/>
                <a:chExt cx="565150" cy="398215"/>
              </a:xfrm>
            </p:grpSpPr>
            <p:grpSp>
              <p:nvGrpSpPr>
                <p:cNvPr id="149" name="Group 327">
                  <a:extLst>
                    <a:ext uri="{FF2B5EF4-FFF2-40B4-BE49-F238E27FC236}">
                      <a16:creationId xmlns:a16="http://schemas.microsoft.com/office/drawing/2014/main" id="{ECB3EE7A-113A-8937-BD7F-B496DB2C78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16DF038F-E4F9-E5DC-8E3A-DBBDF8B427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874598" y="1693170"/>
                    <a:ext cx="1126293" cy="320723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 scaled="1"/>
                  </a:gra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54" name="Rectangle 153">
                    <a:extLst>
                      <a:ext uri="{FF2B5EF4-FFF2-40B4-BE49-F238E27FC236}">
                        <a16:creationId xmlns:a16="http://schemas.microsoft.com/office/drawing/2014/main" id="{28C18A6E-85EA-5EAC-F7A7-4DDCC3E5E8D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235" y="1739354"/>
                    <a:ext cx="1129657" cy="115461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982A1FC1-D080-1790-14A6-A01219C197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871235" y="1575144"/>
                    <a:ext cx="1126296" cy="320723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56" name="Freeform 155">
                    <a:extLst>
                      <a:ext uri="{FF2B5EF4-FFF2-40B4-BE49-F238E27FC236}">
                        <a16:creationId xmlns:a16="http://schemas.microsoft.com/office/drawing/2014/main" id="{F56E3067-A331-5590-0B4D-818AB935D9F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60373" y="1672644"/>
                    <a:ext cx="548019" cy="15907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57" name="Freeform 156">
                    <a:extLst>
                      <a:ext uri="{FF2B5EF4-FFF2-40B4-BE49-F238E27FC236}">
                        <a16:creationId xmlns:a16="http://schemas.microsoft.com/office/drawing/2014/main" id="{98AB7D47-116D-306C-286F-1DAEE1C6C2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03219" y="1631591"/>
                    <a:ext cx="662327" cy="112894"/>
                  </a:xfrm>
                  <a:custGeom>
                    <a:avLst/>
                    <a:gdLst>
                      <a:gd name="T0" fmla="*/ 0 w 3723451"/>
                      <a:gd name="T1" fmla="*/ 27619 h 932950"/>
                      <a:gd name="T2" fmla="*/ 116541 w 3723451"/>
                      <a:gd name="T3" fmla="*/ 326 h 932950"/>
                      <a:gd name="T4" fmla="*/ 330106 w 3723451"/>
                      <a:gd name="T5" fmla="*/ 62992 h 932950"/>
                      <a:gd name="T6" fmla="*/ 533848 w 3723451"/>
                      <a:gd name="T7" fmla="*/ 0 h 932950"/>
                      <a:gd name="T8" fmla="*/ 662327 w 3723451"/>
                      <a:gd name="T9" fmla="*/ 25067 h 932950"/>
                      <a:gd name="T10" fmla="*/ 566739 w 3723451"/>
                      <a:gd name="T11" fmla="*/ 55890 h 932950"/>
                      <a:gd name="T12" fmla="*/ 535964 w 3723451"/>
                      <a:gd name="T13" fmla="*/ 47580 h 932950"/>
                      <a:gd name="T14" fmla="*/ 333858 w 3723451"/>
                      <a:gd name="T15" fmla="*/ 112894 h 932950"/>
                      <a:gd name="T16" fmla="*/ 126582 w 3723451"/>
                      <a:gd name="T17" fmla="*/ 49983 h 932950"/>
                      <a:gd name="T18" fmla="*/ 93069 w 3723451"/>
                      <a:gd name="T19" fmla="*/ 56773 h 932950"/>
                      <a:gd name="T20" fmla="*/ 0 w 3723451"/>
                      <a:gd name="T21" fmla="*/ 27619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58" name="Freeform 157">
                    <a:extLst>
                      <a:ext uri="{FF2B5EF4-FFF2-40B4-BE49-F238E27FC236}">
                        <a16:creationId xmlns:a16="http://schemas.microsoft.com/office/drawing/2014/main" id="{4977FD8F-7B39-9C26-250B-1B072431FE0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36925" y="1726526"/>
                    <a:ext cx="245432" cy="100064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45432 w 1366596"/>
                      <a:gd name="T3" fmla="*/ 77322 h 809868"/>
                      <a:gd name="T4" fmla="*/ 155358 w 1366596"/>
                      <a:gd name="T5" fmla="*/ 100064 h 809868"/>
                      <a:gd name="T6" fmla="*/ 826 w 1366596"/>
                      <a:gd name="T7" fmla="*/ 52875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59" name="Freeform 158">
                    <a:extLst>
                      <a:ext uri="{FF2B5EF4-FFF2-40B4-BE49-F238E27FC236}">
                        <a16:creationId xmlns:a16="http://schemas.microsoft.com/office/drawing/2014/main" id="{5C47092B-C633-CBFB-6066-963888E4FE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9770" y="1729091"/>
                    <a:ext cx="242069" cy="97499"/>
                  </a:xfrm>
                  <a:custGeom>
                    <a:avLst/>
                    <a:gdLst>
                      <a:gd name="T0" fmla="*/ 238764 w 1348191"/>
                      <a:gd name="T1" fmla="*/ 0 h 791462"/>
                      <a:gd name="T2" fmla="*/ 242069 w 1348191"/>
                      <a:gd name="T3" fmla="*/ 47049 h 791462"/>
                      <a:gd name="T4" fmla="*/ 87575 w 1348191"/>
                      <a:gd name="T5" fmla="*/ 97499 h 791462"/>
                      <a:gd name="T6" fmla="*/ 0 w 1348191"/>
                      <a:gd name="T7" fmla="*/ 75392 h 791462"/>
                      <a:gd name="T8" fmla="*/ 238764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cxnSp>
                <p:nvCxnSpPr>
                  <p:cNvPr id="160" name="Straight Connector 159">
                    <a:extLst>
                      <a:ext uri="{FF2B5EF4-FFF2-40B4-BE49-F238E27FC236}">
                        <a16:creationId xmlns:a16="http://schemas.microsoft.com/office/drawing/2014/main" id="{797D8D65-0713-31FF-C196-475A5A550C6A}"/>
                      </a:ext>
                    </a:extLst>
                  </p:cNvPr>
                  <p:cNvCxnSpPr>
                    <a:cxnSpLocks noChangeShapeType="1"/>
                    <a:endCxn id="155" idx="2"/>
                  </p:cNvCxnSpPr>
                  <p:nvPr/>
                </p:nvCxnSpPr>
                <p:spPr bwMode="auto">
                  <a:xfrm flipH="1" flipV="1">
                    <a:off x="1871235" y="1734222"/>
                    <a:ext cx="3363" cy="125724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F73D9D6B-C3AE-13B4-246E-674E3B9E1049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2997530" y="1731657"/>
                    <a:ext cx="3361" cy="125722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</p:grpSp>
            <p:grpSp>
              <p:nvGrpSpPr>
                <p:cNvPr id="150" name="Group 286">
                  <a:extLst>
                    <a:ext uri="{FF2B5EF4-FFF2-40B4-BE49-F238E27FC236}">
                      <a16:creationId xmlns:a16="http://schemas.microsoft.com/office/drawing/2014/main" id="{88FBA468-059E-EC85-DC20-A1466EF302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0362" y="2873352"/>
                  <a:ext cx="454334" cy="398215"/>
                  <a:chOff x="667045" y="1708643"/>
                  <a:chExt cx="454334" cy="398215"/>
                </a:xfrm>
              </p:grpSpPr>
              <p:sp>
                <p:nvSpPr>
                  <p:cNvPr id="151" name="Oval 150">
                    <a:extLst>
                      <a:ext uri="{FF2B5EF4-FFF2-40B4-BE49-F238E27FC236}">
                        <a16:creationId xmlns:a16="http://schemas.microsoft.com/office/drawing/2014/main" id="{95E89061-AA1E-E7C6-B29C-C790A33DCC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367" y="1786478"/>
                    <a:ext cx="356989" cy="232784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/>
                  </a:p>
                </p:txBody>
              </p:sp>
              <p:sp>
                <p:nvSpPr>
                  <p:cNvPr id="152" name="TextBox 288">
                    <a:extLst>
                      <a:ext uri="{FF2B5EF4-FFF2-40B4-BE49-F238E27FC236}">
                        <a16:creationId xmlns:a16="http://schemas.microsoft.com/office/drawing/2014/main" id="{BFE5BF05-D6BB-921B-966E-1A982E88274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7045" y="1708643"/>
                    <a:ext cx="454334" cy="39821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Arial" panose="020B0604020202020204" pitchFamily="34" charset="0"/>
                      </a:rPr>
                      <a:t>1c</a:t>
                    </a:r>
                  </a:p>
                </p:txBody>
              </p:sp>
            </p:grpSp>
          </p:grpSp>
          <p:grpSp>
            <p:nvGrpSpPr>
              <p:cNvPr id="131" name="Group 265">
                <a:extLst>
                  <a:ext uri="{FF2B5EF4-FFF2-40B4-BE49-F238E27FC236}">
                    <a16:creationId xmlns:a16="http://schemas.microsoft.com/office/drawing/2014/main" id="{79E92D4E-B344-C3CF-0E77-16CAC10C49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3331" y="3478719"/>
                <a:ext cx="565150" cy="398215"/>
                <a:chOff x="1736090" y="2873352"/>
                <a:chExt cx="565150" cy="398215"/>
              </a:xfrm>
            </p:grpSpPr>
            <p:grpSp>
              <p:nvGrpSpPr>
                <p:cNvPr id="136" name="Group 327">
                  <a:extLst>
                    <a:ext uri="{FF2B5EF4-FFF2-40B4-BE49-F238E27FC236}">
                      <a16:creationId xmlns:a16="http://schemas.microsoft.com/office/drawing/2014/main" id="{9F749C3A-64A5-7BFA-4958-DF9212AEE9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40" name="Oval 139">
                    <a:extLst>
                      <a:ext uri="{FF2B5EF4-FFF2-40B4-BE49-F238E27FC236}">
                        <a16:creationId xmlns:a16="http://schemas.microsoft.com/office/drawing/2014/main" id="{5739D745-8C7B-E130-13C4-6A369E2512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875331" y="1692430"/>
                    <a:ext cx="1159914" cy="320723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262699"/>
                      </a:gs>
                      <a:gs pos="53000">
                        <a:srgbClr val="8585E0"/>
                      </a:gs>
                      <a:gs pos="100000">
                        <a:srgbClr val="262699"/>
                      </a:gs>
                    </a:gsLst>
                    <a:lin ang="0" scaled="1"/>
                  </a:gra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41" name="Rectangle 140">
                    <a:extLst>
                      <a:ext uri="{FF2B5EF4-FFF2-40B4-BE49-F238E27FC236}">
                        <a16:creationId xmlns:a16="http://schemas.microsoft.com/office/drawing/2014/main" id="{DF6494BE-F82C-3B54-8DC9-8B79F6CAD35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71967" y="1741180"/>
                    <a:ext cx="1166640" cy="112894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2" name="Oval 141">
                    <a:extLst>
                      <a:ext uri="{FF2B5EF4-FFF2-40B4-BE49-F238E27FC236}">
                        <a16:creationId xmlns:a16="http://schemas.microsoft.com/office/drawing/2014/main" id="{610326AF-7644-8545-790C-3FB41D9144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871967" y="1576971"/>
                    <a:ext cx="1159916" cy="320721"/>
                  </a:xfrm>
                  <a:prstGeom prst="ellipse">
                    <a:avLst/>
                  </a:prstGeom>
                  <a:solidFill>
                    <a:srgbClr val="BFBFBF"/>
                  </a:solidFill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0" dist="23000" dir="5400000" rotWithShape="0">
                      <a:srgbClr val="80808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143" name="Freeform 142">
                    <a:extLst>
                      <a:ext uri="{FF2B5EF4-FFF2-40B4-BE49-F238E27FC236}">
                        <a16:creationId xmlns:a16="http://schemas.microsoft.com/office/drawing/2014/main" id="{DC427CA4-80B8-5FD0-A3DF-D2F25DA8F17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61106" y="1674470"/>
                    <a:ext cx="548019" cy="15907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4" name="Freeform 143">
                    <a:extLst>
                      <a:ext uri="{FF2B5EF4-FFF2-40B4-BE49-F238E27FC236}">
                        <a16:creationId xmlns:a16="http://schemas.microsoft.com/office/drawing/2014/main" id="{984072ED-AF72-ADAC-2676-2962B5AE6F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03952" y="1633418"/>
                    <a:ext cx="695948" cy="112894"/>
                  </a:xfrm>
                  <a:custGeom>
                    <a:avLst/>
                    <a:gdLst>
                      <a:gd name="T0" fmla="*/ 0 w 3723451"/>
                      <a:gd name="T1" fmla="*/ 27619 h 932950"/>
                      <a:gd name="T2" fmla="*/ 117133 w 3723451"/>
                      <a:gd name="T3" fmla="*/ 326 h 932950"/>
                      <a:gd name="T4" fmla="*/ 331782 w 3723451"/>
                      <a:gd name="T5" fmla="*/ 62992 h 932950"/>
                      <a:gd name="T6" fmla="*/ 536559 w 3723451"/>
                      <a:gd name="T7" fmla="*/ 0 h 932950"/>
                      <a:gd name="T8" fmla="*/ 665690 w 3723451"/>
                      <a:gd name="T9" fmla="*/ 25067 h 932950"/>
                      <a:gd name="T10" fmla="*/ 569617 w 3723451"/>
                      <a:gd name="T11" fmla="*/ 55890 h 932950"/>
                      <a:gd name="T12" fmla="*/ 538685 w 3723451"/>
                      <a:gd name="T13" fmla="*/ 47580 h 932950"/>
                      <a:gd name="T14" fmla="*/ 335553 w 3723451"/>
                      <a:gd name="T15" fmla="*/ 112894 h 932950"/>
                      <a:gd name="T16" fmla="*/ 127224 w 3723451"/>
                      <a:gd name="T17" fmla="*/ 49983 h 932950"/>
                      <a:gd name="T18" fmla="*/ 93542 w 3723451"/>
                      <a:gd name="T19" fmla="*/ 56773 h 932950"/>
                      <a:gd name="T20" fmla="*/ 0 w 3723451"/>
                      <a:gd name="T21" fmla="*/ 27619 h 932950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45" name="Freeform 144">
                    <a:extLst>
                      <a:ext uri="{FF2B5EF4-FFF2-40B4-BE49-F238E27FC236}">
                        <a16:creationId xmlns:a16="http://schemas.microsoft.com/office/drawing/2014/main" id="{80422999-CC21-D5BF-819A-F7FC19F3998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37658" y="1728351"/>
                    <a:ext cx="279053" cy="97499"/>
                  </a:xfrm>
                  <a:custGeom>
                    <a:avLst/>
                    <a:gdLst>
                      <a:gd name="T0" fmla="*/ 0 w 1366596"/>
                      <a:gd name="T1" fmla="*/ 0 h 809868"/>
                      <a:gd name="T2" fmla="*/ 248793 w 1366596"/>
                      <a:gd name="T3" fmla="*/ 75340 h 809868"/>
                      <a:gd name="T4" fmla="*/ 157485 w 1366596"/>
                      <a:gd name="T5" fmla="*/ 97499 h 809868"/>
                      <a:gd name="T6" fmla="*/ 838 w 1366596"/>
                      <a:gd name="T7" fmla="*/ 51519 h 809868"/>
                      <a:gd name="T8" fmla="*/ 0 w 1366596"/>
                      <a:gd name="T9" fmla="*/ 0 h 8098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146" name="Freeform 145">
                    <a:extLst>
                      <a:ext uri="{FF2B5EF4-FFF2-40B4-BE49-F238E27FC236}">
                        <a16:creationId xmlns:a16="http://schemas.microsoft.com/office/drawing/2014/main" id="{86817950-319B-710F-DE5E-C7280B50DC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90503" y="1730917"/>
                    <a:ext cx="242069" cy="94933"/>
                  </a:xfrm>
                  <a:custGeom>
                    <a:avLst/>
                    <a:gdLst>
                      <a:gd name="T0" fmla="*/ 238764 w 1348191"/>
                      <a:gd name="T1" fmla="*/ 0 h 791462"/>
                      <a:gd name="T2" fmla="*/ 242069 w 1348191"/>
                      <a:gd name="T3" fmla="*/ 45811 h 791462"/>
                      <a:gd name="T4" fmla="*/ 87575 w 1348191"/>
                      <a:gd name="T5" fmla="*/ 94933 h 791462"/>
                      <a:gd name="T6" fmla="*/ 0 w 1348191"/>
                      <a:gd name="T7" fmla="*/ 73407 h 791462"/>
                      <a:gd name="T8" fmla="*/ 238764 w 1348191"/>
                      <a:gd name="T9" fmla="*/ 0 h 79146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4999"/>
                      </a:srgbClr>
                    </a:outerShdw>
                  </a:effectLst>
                </p:spPr>
                <p:txBody>
                  <a:bodyPr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cxnSp>
                <p:nvCxnSpPr>
                  <p:cNvPr id="147" name="Straight Connector 146">
                    <a:extLst>
                      <a:ext uri="{FF2B5EF4-FFF2-40B4-BE49-F238E27FC236}">
                        <a16:creationId xmlns:a16="http://schemas.microsoft.com/office/drawing/2014/main" id="{F6E203B2-99BC-89D0-0BED-007AEBA43C40}"/>
                      </a:ext>
                    </a:extLst>
                  </p:cNvPr>
                  <p:cNvCxnSpPr>
                    <a:cxnSpLocks noChangeShapeType="1"/>
                    <a:endCxn id="142" idx="2"/>
                  </p:cNvCxnSpPr>
                  <p:nvPr/>
                </p:nvCxnSpPr>
                <p:spPr bwMode="auto">
                  <a:xfrm flipH="1" flipV="1">
                    <a:off x="1871967" y="1736049"/>
                    <a:ext cx="3363" cy="123157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75FE9CA7-9A8A-DE35-F1E5-56A7587288A8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 flipH="1" flipV="1">
                    <a:off x="3031884" y="1733482"/>
                    <a:ext cx="3361" cy="123157"/>
                  </a:xfrm>
                  <a:prstGeom prst="line">
                    <a:avLst/>
                  </a:prstGeom>
                  <a:noFill/>
                  <a:ln w="6350">
                    <a:solidFill>
                      <a:schemeClr val="tx1"/>
                    </a:solidFill>
                    <a:round/>
                    <a:headEnd/>
                    <a:tailEnd/>
                  </a:ln>
                  <a:effectLst>
                    <a:outerShdw blurRad="40005" dist="19939" dir="5400000" algn="tl" rotWithShape="0">
                      <a:srgbClr val="808080">
                        <a:alpha val="37999"/>
                      </a:srgbClr>
                    </a:outerShdw>
                  </a:effectLst>
                </p:spPr>
              </p:cxnSp>
            </p:grpSp>
            <p:grpSp>
              <p:nvGrpSpPr>
                <p:cNvPr id="137" name="Group 273">
                  <a:extLst>
                    <a:ext uri="{FF2B5EF4-FFF2-40B4-BE49-F238E27FC236}">
                      <a16:creationId xmlns:a16="http://schemas.microsoft.com/office/drawing/2014/main" id="{F62CC6E9-317E-5929-4B00-05B46D0CE5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70362" y="2873352"/>
                  <a:ext cx="467937" cy="398215"/>
                  <a:chOff x="667045" y="1708643"/>
                  <a:chExt cx="467937" cy="398215"/>
                </a:xfrm>
              </p:grpSpPr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1740067B-70AE-5C14-199F-33D4BC72736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25734" y="1787697"/>
                    <a:ext cx="375511" cy="23107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/>
                  </a:p>
                </p:txBody>
              </p:sp>
              <p:sp>
                <p:nvSpPr>
                  <p:cNvPr id="139" name="TextBox 275">
                    <a:extLst>
                      <a:ext uri="{FF2B5EF4-FFF2-40B4-BE49-F238E27FC236}">
                        <a16:creationId xmlns:a16="http://schemas.microsoft.com/office/drawing/2014/main" id="{31461398-AB00-FEA7-BBA0-1C4AC1B18D5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67045" y="1708643"/>
                    <a:ext cx="467937" cy="39821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SzPct val="65000"/>
                      <a:buFont typeface="Wingdings" pitchFamily="2" charset="2"/>
                      <a:buChar char="v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ct val="20000"/>
                      </a:spcBef>
                      <a:buClr>
                        <a:srgbClr val="000099"/>
                      </a:buClr>
                      <a:buFont typeface="Wingdings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  <a:cs typeface="Calibri" panose="020F050202020403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en-US" sz="1800">
                        <a:latin typeface="Arial" panose="020B0604020202020204" pitchFamily="34" charset="0"/>
                      </a:rPr>
                      <a:t>1a</a:t>
                    </a:r>
                  </a:p>
                </p:txBody>
              </p:sp>
            </p:grpSp>
          </p:grpSp>
          <p:cxnSp>
            <p:nvCxnSpPr>
              <p:cNvPr id="132" name="Straight Connector 268">
                <a:extLst>
                  <a:ext uri="{FF2B5EF4-FFF2-40B4-BE49-F238E27FC236}">
                    <a16:creationId xmlns:a16="http://schemas.microsoft.com/office/drawing/2014/main" id="{FC972821-007B-03CC-CC46-5511CB752BD5}"/>
                  </a:ext>
                </a:extLst>
              </p:cNvPr>
              <p:cNvCxnSpPr>
                <a:cxnSpLocks noChangeShapeType="1"/>
                <a:stCxn id="179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3" name="Straight Connector 269">
                <a:extLst>
                  <a:ext uri="{FF2B5EF4-FFF2-40B4-BE49-F238E27FC236}">
                    <a16:creationId xmlns:a16="http://schemas.microsoft.com/office/drawing/2014/main" id="{2E7C4ECA-7F22-7D9C-D367-B69757795B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315140" y="3783345"/>
                <a:ext cx="489235" cy="3525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4" name="Straight Connector 270">
                <a:extLst>
                  <a:ext uri="{FF2B5EF4-FFF2-40B4-BE49-F238E27FC236}">
                    <a16:creationId xmlns:a16="http://schemas.microsoft.com/office/drawing/2014/main" id="{631D88E7-9201-EA15-A0B2-B8D28C3CB13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5" name="Straight Connector 336">
                <a:extLst>
                  <a:ext uri="{FF2B5EF4-FFF2-40B4-BE49-F238E27FC236}">
                    <a16:creationId xmlns:a16="http://schemas.microsoft.com/office/drawing/2014/main" id="{AB9DFC89-3F04-4804-835E-9682C5C0D9C3}"/>
                  </a:ext>
                </a:extLst>
              </p:cNvPr>
              <p:cNvCxnSpPr>
                <a:cxnSpLocks noChangeShapeType="1"/>
                <a:endCxn id="179" idx="2"/>
              </p:cNvCxnSpPr>
              <p:nvPr/>
            </p:nvCxnSpPr>
            <p:spPr bwMode="auto">
              <a:xfrm flipV="1">
                <a:off x="1319809" y="3078707"/>
                <a:ext cx="417868" cy="4570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188" name="Freeform 2">
            <a:extLst>
              <a:ext uri="{FF2B5EF4-FFF2-40B4-BE49-F238E27FC236}">
                <a16:creationId xmlns:a16="http://schemas.microsoft.com/office/drawing/2014/main" id="{99F01B30-26FF-C490-DBA3-9C4F0C5877C4}"/>
              </a:ext>
            </a:extLst>
          </p:cNvPr>
          <p:cNvSpPr>
            <a:spLocks/>
          </p:cNvSpPr>
          <p:nvPr/>
        </p:nvSpPr>
        <p:spPr bwMode="auto">
          <a:xfrm>
            <a:off x="4724401" y="5047095"/>
            <a:ext cx="2544763" cy="1720850"/>
          </a:xfrm>
          <a:custGeom>
            <a:avLst/>
            <a:gdLst>
              <a:gd name="T0" fmla="*/ 2147483646 w 10000"/>
              <a:gd name="T1" fmla="*/ 2147483646 h 10795"/>
              <a:gd name="T2" fmla="*/ 2147483646 w 10000"/>
              <a:gd name="T3" fmla="*/ 2147483646 h 10795"/>
              <a:gd name="T4" fmla="*/ 2147483646 w 10000"/>
              <a:gd name="T5" fmla="*/ 2147483646 h 10795"/>
              <a:gd name="T6" fmla="*/ 2147483646 w 10000"/>
              <a:gd name="T7" fmla="*/ 2147483646 h 10795"/>
              <a:gd name="T8" fmla="*/ 2147483646 w 10000"/>
              <a:gd name="T9" fmla="*/ 2147483646 h 10795"/>
              <a:gd name="T10" fmla="*/ 2147483646 w 10000"/>
              <a:gd name="T11" fmla="*/ 2147483646 h 10795"/>
              <a:gd name="T12" fmla="*/ 2147483646 w 10000"/>
              <a:gd name="T13" fmla="*/ 2147483646 h 10795"/>
              <a:gd name="T14" fmla="*/ 2147483646 w 10000"/>
              <a:gd name="T15" fmla="*/ 2147483646 h 10795"/>
              <a:gd name="T16" fmla="*/ 2147483646 w 10000"/>
              <a:gd name="T17" fmla="*/ 2147483646 h 10795"/>
              <a:gd name="T18" fmla="*/ 2147483646 w 10000"/>
              <a:gd name="T19" fmla="*/ 2147483646 h 107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9" name="Group 197">
            <a:extLst>
              <a:ext uri="{FF2B5EF4-FFF2-40B4-BE49-F238E27FC236}">
                <a16:creationId xmlns:a16="http://schemas.microsoft.com/office/drawing/2014/main" id="{6F5AFC8C-E3CB-AF21-B65D-BE614FC9A39C}"/>
              </a:ext>
            </a:extLst>
          </p:cNvPr>
          <p:cNvGrpSpPr>
            <a:grpSpLocks/>
          </p:cNvGrpSpPr>
          <p:nvPr/>
        </p:nvGrpSpPr>
        <p:grpSpPr bwMode="auto">
          <a:xfrm>
            <a:off x="4945063" y="5186795"/>
            <a:ext cx="2189162" cy="1502908"/>
            <a:chOff x="833331" y="2873352"/>
            <a:chExt cx="2333625" cy="1619236"/>
          </a:xfrm>
        </p:grpSpPr>
        <p:grpSp>
          <p:nvGrpSpPr>
            <p:cNvPr id="190" name="Group 198">
              <a:extLst>
                <a:ext uri="{FF2B5EF4-FFF2-40B4-BE49-F238E27FC236}">
                  <a16:creationId xmlns:a16="http://schemas.microsoft.com/office/drawing/2014/main" id="{0434F9B8-3988-47F7-B81A-BE59FF67EB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73352"/>
              <a:ext cx="565150" cy="397919"/>
              <a:chOff x="1736090" y="2873352"/>
              <a:chExt cx="565150" cy="397919"/>
            </a:xfrm>
          </p:grpSpPr>
          <p:grpSp>
            <p:nvGrpSpPr>
              <p:cNvPr id="237" name="Group 327">
                <a:extLst>
                  <a:ext uri="{FF2B5EF4-FFF2-40B4-BE49-F238E27FC236}">
                    <a16:creationId xmlns:a16="http://schemas.microsoft.com/office/drawing/2014/main" id="{7E3BF5EE-4D45-CFE1-7E78-D61D0F8D37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41" name="Oval 240">
                  <a:extLst>
                    <a:ext uri="{FF2B5EF4-FFF2-40B4-BE49-F238E27FC236}">
                      <a16:creationId xmlns:a16="http://schemas.microsoft.com/office/drawing/2014/main" id="{B6A8FCE7-05DA-5670-221F-70DB8463AC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3088" y="1694409"/>
                  <a:ext cx="1125121" cy="3204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817CDF6F-0E88-320E-4647-7E0F4A2478B3}"/>
                    </a:ext>
                  </a:extLst>
                </p:cNvPr>
                <p:cNvSpPr/>
                <p:nvPr/>
              </p:nvSpPr>
              <p:spPr bwMode="auto">
                <a:xfrm>
                  <a:off x="1869708" y="1740559"/>
                  <a:ext cx="1128501" cy="1153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3" name="Oval 242">
                  <a:extLst>
                    <a:ext uri="{FF2B5EF4-FFF2-40B4-BE49-F238E27FC236}">
                      <a16:creationId xmlns:a16="http://schemas.microsoft.com/office/drawing/2014/main" id="{7CD5AA7A-6D75-40E6-8BA2-55A04C28A1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69708" y="1576471"/>
                  <a:ext cx="1125123" cy="320483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44" name="Freeform 243">
                  <a:extLst>
                    <a:ext uri="{FF2B5EF4-FFF2-40B4-BE49-F238E27FC236}">
                      <a16:creationId xmlns:a16="http://schemas.microsoft.com/office/drawing/2014/main" id="{388270D0-4979-0169-7501-F9E267177718}"/>
                    </a:ext>
                  </a:extLst>
                </p:cNvPr>
                <p:cNvSpPr/>
                <p:nvPr/>
              </p:nvSpPr>
              <p:spPr bwMode="auto">
                <a:xfrm>
                  <a:off x="2156903" y="1673898"/>
                  <a:ext cx="550734" cy="15896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5" name="Freeform 244">
                  <a:extLst>
                    <a:ext uri="{FF2B5EF4-FFF2-40B4-BE49-F238E27FC236}">
                      <a16:creationId xmlns:a16="http://schemas.microsoft.com/office/drawing/2014/main" id="{AAD27803-1605-BACA-9A4E-481376F43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9463" y="1632876"/>
                  <a:ext cx="665614" cy="112810"/>
                </a:xfrm>
                <a:custGeom>
                  <a:avLst/>
                  <a:gdLst>
                    <a:gd name="T0" fmla="*/ 0 w 3723451"/>
                    <a:gd name="T1" fmla="*/ 27599 h 932950"/>
                    <a:gd name="T2" fmla="*/ 117120 w 3723451"/>
                    <a:gd name="T3" fmla="*/ 325 h 932950"/>
                    <a:gd name="T4" fmla="*/ 331744 w 3723451"/>
                    <a:gd name="T5" fmla="*/ 62945 h 932950"/>
                    <a:gd name="T6" fmla="*/ 536498 w 3723451"/>
                    <a:gd name="T7" fmla="*/ 0 h 932950"/>
                    <a:gd name="T8" fmla="*/ 665614 w 3723451"/>
                    <a:gd name="T9" fmla="*/ 25048 h 932950"/>
                    <a:gd name="T10" fmla="*/ 569552 w 3723451"/>
                    <a:gd name="T11" fmla="*/ 55849 h 932950"/>
                    <a:gd name="T12" fmla="*/ 538624 w 3723451"/>
                    <a:gd name="T13" fmla="*/ 47545 h 932950"/>
                    <a:gd name="T14" fmla="*/ 335515 w 3723451"/>
                    <a:gd name="T15" fmla="*/ 112810 h 932950"/>
                    <a:gd name="T16" fmla="*/ 127210 w 3723451"/>
                    <a:gd name="T17" fmla="*/ 49946 h 932950"/>
                    <a:gd name="T18" fmla="*/ 93531 w 3723451"/>
                    <a:gd name="T19" fmla="*/ 56730 h 932950"/>
                    <a:gd name="T20" fmla="*/ 0 w 3723451"/>
                    <a:gd name="T21" fmla="*/ 27599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46" name="Freeform 245">
                  <a:extLst>
                    <a:ext uri="{FF2B5EF4-FFF2-40B4-BE49-F238E27FC236}">
                      <a16:creationId xmlns:a16="http://schemas.microsoft.com/office/drawing/2014/main" id="{3B60387F-63FE-9CD8-995D-596DFF6977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5322" y="1727739"/>
                  <a:ext cx="243270" cy="99992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3270 w 1366596"/>
                    <a:gd name="T3" fmla="*/ 77267 h 809868"/>
                    <a:gd name="T4" fmla="*/ 153989 w 1366596"/>
                    <a:gd name="T5" fmla="*/ 99992 h 809868"/>
                    <a:gd name="T6" fmla="*/ 819 w 1366596"/>
                    <a:gd name="T7" fmla="*/ 52837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47" name="Freeform 246">
                  <a:extLst>
                    <a:ext uri="{FF2B5EF4-FFF2-40B4-BE49-F238E27FC236}">
                      <a16:creationId xmlns:a16="http://schemas.microsoft.com/office/drawing/2014/main" id="{80B19628-D111-FA8B-D3BC-3BA0D8649C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9328" y="1730304"/>
                  <a:ext cx="239890" cy="97427"/>
                </a:xfrm>
                <a:custGeom>
                  <a:avLst/>
                  <a:gdLst>
                    <a:gd name="T0" fmla="*/ 236615 w 1348191"/>
                    <a:gd name="T1" fmla="*/ 0 h 791462"/>
                    <a:gd name="T2" fmla="*/ 239890 w 1348191"/>
                    <a:gd name="T3" fmla="*/ 47014 h 791462"/>
                    <a:gd name="T4" fmla="*/ 86786 w 1348191"/>
                    <a:gd name="T5" fmla="*/ 97427 h 791462"/>
                    <a:gd name="T6" fmla="*/ 0 w 1348191"/>
                    <a:gd name="T7" fmla="*/ 75336 h 791462"/>
                    <a:gd name="T8" fmla="*/ 23661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F44A3A73-0F01-06B5-546F-18C5055AB83C}"/>
                    </a:ext>
                  </a:extLst>
                </p:cNvPr>
                <p:cNvCxnSpPr>
                  <a:cxnSpLocks noChangeShapeType="1"/>
                  <a:endCxn id="243" idx="2"/>
                </p:cNvCxnSpPr>
                <p:nvPr/>
              </p:nvCxnSpPr>
              <p:spPr bwMode="auto">
                <a:xfrm flipH="1" flipV="1">
                  <a:off x="1869708" y="1735431"/>
                  <a:ext cx="3380" cy="125629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0FFC42E8-323A-9A6A-933F-9FD3D808E88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4832" y="1732867"/>
                  <a:ext cx="3378" cy="125631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</p:grpSp>
          <p:grpSp>
            <p:nvGrpSpPr>
              <p:cNvPr id="238" name="Group 248">
                <a:extLst>
                  <a:ext uri="{FF2B5EF4-FFF2-40B4-BE49-F238E27FC236}">
                    <a16:creationId xmlns:a16="http://schemas.microsoft.com/office/drawing/2014/main" id="{E3D5A42C-BC1E-74ED-D0AE-D19C5B34BA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0362" y="2873352"/>
                <a:ext cx="470258" cy="397919"/>
                <a:chOff x="667045" y="1708643"/>
                <a:chExt cx="470258" cy="397919"/>
              </a:xfrm>
            </p:grpSpPr>
            <p:sp>
              <p:nvSpPr>
                <p:cNvPr id="239" name="Oval 238">
                  <a:extLst>
                    <a:ext uri="{FF2B5EF4-FFF2-40B4-BE49-F238E27FC236}">
                      <a16:creationId xmlns:a16="http://schemas.microsoft.com/office/drawing/2014/main" id="{334F6DE0-209B-031D-BC55-D9776C6E92A8}"/>
                    </a:ext>
                  </a:extLst>
                </p:cNvPr>
                <p:cNvSpPr/>
                <p:nvPr/>
              </p:nvSpPr>
              <p:spPr bwMode="auto">
                <a:xfrm>
                  <a:off x="706447" y="1787320"/>
                  <a:ext cx="355375" cy="232611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240" name="TextBox 250">
                  <a:extLst>
                    <a:ext uri="{FF2B5EF4-FFF2-40B4-BE49-F238E27FC236}">
                      <a16:creationId xmlns:a16="http://schemas.microsoft.com/office/drawing/2014/main" id="{C74533DB-0D02-3581-7AF2-91226708AD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7045" y="1708643"/>
                  <a:ext cx="470258" cy="3979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Arial" panose="020B0604020202020204" pitchFamily="34" charset="0"/>
                    </a:rPr>
                    <a:t>2b</a:t>
                  </a:r>
                </a:p>
              </p:txBody>
            </p:sp>
          </p:grpSp>
        </p:grpSp>
        <p:grpSp>
          <p:nvGrpSpPr>
            <p:cNvPr id="191" name="Group 199">
              <a:extLst>
                <a:ext uri="{FF2B5EF4-FFF2-40B4-BE49-F238E27FC236}">
                  <a16:creationId xmlns:a16="http://schemas.microsoft.com/office/drawing/2014/main" id="{69EDB4B2-B883-D36E-7AFB-D603BFCB5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0320" y="4094669"/>
              <a:ext cx="565150" cy="397919"/>
              <a:chOff x="1736090" y="2873352"/>
              <a:chExt cx="565150" cy="397919"/>
            </a:xfrm>
          </p:grpSpPr>
          <p:grpSp>
            <p:nvGrpSpPr>
              <p:cNvPr id="224" name="Group 327">
                <a:extLst>
                  <a:ext uri="{FF2B5EF4-FFF2-40B4-BE49-F238E27FC236}">
                    <a16:creationId xmlns:a16="http://schemas.microsoft.com/office/drawing/2014/main" id="{DE8253AE-5D59-662F-A337-556AE30F8A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F60ED402-48CD-EE77-D389-8DA311623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778" y="1694246"/>
                  <a:ext cx="1125123" cy="3204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A87466D9-A56F-C02C-BB45-C69554024B5F}"/>
                    </a:ext>
                  </a:extLst>
                </p:cNvPr>
                <p:cNvSpPr/>
                <p:nvPr/>
              </p:nvSpPr>
              <p:spPr bwMode="auto">
                <a:xfrm>
                  <a:off x="1871400" y="1740396"/>
                  <a:ext cx="1128501" cy="1153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FCB5F011-E079-C716-C5DC-381C2DD4C5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400" y="1576308"/>
                  <a:ext cx="1125121" cy="320483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31" name="Freeform 230">
                  <a:extLst>
                    <a:ext uri="{FF2B5EF4-FFF2-40B4-BE49-F238E27FC236}">
                      <a16:creationId xmlns:a16="http://schemas.microsoft.com/office/drawing/2014/main" id="{42235FAA-5371-04A8-B4A5-52009FC54968}"/>
                    </a:ext>
                  </a:extLst>
                </p:cNvPr>
                <p:cNvSpPr/>
                <p:nvPr/>
              </p:nvSpPr>
              <p:spPr bwMode="auto">
                <a:xfrm>
                  <a:off x="2158593" y="1673735"/>
                  <a:ext cx="550736" cy="15896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2" name="Freeform 231">
                  <a:extLst>
                    <a:ext uri="{FF2B5EF4-FFF2-40B4-BE49-F238E27FC236}">
                      <a16:creationId xmlns:a16="http://schemas.microsoft.com/office/drawing/2014/main" id="{6C431BEE-751D-1EE7-8BCA-B1B1BC0A68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1155" y="1632713"/>
                  <a:ext cx="665612" cy="112810"/>
                </a:xfrm>
                <a:custGeom>
                  <a:avLst/>
                  <a:gdLst>
                    <a:gd name="T0" fmla="*/ 0 w 3723451"/>
                    <a:gd name="T1" fmla="*/ 27599 h 932950"/>
                    <a:gd name="T2" fmla="*/ 117119 w 3723451"/>
                    <a:gd name="T3" fmla="*/ 325 h 932950"/>
                    <a:gd name="T4" fmla="*/ 331743 w 3723451"/>
                    <a:gd name="T5" fmla="*/ 62945 h 932950"/>
                    <a:gd name="T6" fmla="*/ 536496 w 3723451"/>
                    <a:gd name="T7" fmla="*/ 0 h 932950"/>
                    <a:gd name="T8" fmla="*/ 665612 w 3723451"/>
                    <a:gd name="T9" fmla="*/ 25048 h 932950"/>
                    <a:gd name="T10" fmla="*/ 569550 w 3723451"/>
                    <a:gd name="T11" fmla="*/ 55849 h 932950"/>
                    <a:gd name="T12" fmla="*/ 538622 w 3723451"/>
                    <a:gd name="T13" fmla="*/ 47545 h 932950"/>
                    <a:gd name="T14" fmla="*/ 335514 w 3723451"/>
                    <a:gd name="T15" fmla="*/ 112810 h 932950"/>
                    <a:gd name="T16" fmla="*/ 127209 w 3723451"/>
                    <a:gd name="T17" fmla="*/ 49946 h 932950"/>
                    <a:gd name="T18" fmla="*/ 93531 w 3723451"/>
                    <a:gd name="T19" fmla="*/ 56730 h 932950"/>
                    <a:gd name="T20" fmla="*/ 0 w 3723451"/>
                    <a:gd name="T21" fmla="*/ 27599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33" name="Freeform 232">
                  <a:extLst>
                    <a:ext uri="{FF2B5EF4-FFF2-40B4-BE49-F238E27FC236}">
                      <a16:creationId xmlns:a16="http://schemas.microsoft.com/office/drawing/2014/main" id="{0DD3A0BC-4447-8127-74B0-D372EFFBB1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7012" y="1727576"/>
                  <a:ext cx="243270" cy="99992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3270 w 1366596"/>
                    <a:gd name="T3" fmla="*/ 77267 h 809868"/>
                    <a:gd name="T4" fmla="*/ 153989 w 1366596"/>
                    <a:gd name="T5" fmla="*/ 99992 h 809868"/>
                    <a:gd name="T6" fmla="*/ 819 w 1366596"/>
                    <a:gd name="T7" fmla="*/ 52837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34" name="Freeform 233">
                  <a:extLst>
                    <a:ext uri="{FF2B5EF4-FFF2-40B4-BE49-F238E27FC236}">
                      <a16:creationId xmlns:a16="http://schemas.microsoft.com/office/drawing/2014/main" id="{592F177D-D7F5-8FE2-F96C-DEE995B390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1018" y="1730140"/>
                  <a:ext cx="239892" cy="97427"/>
                </a:xfrm>
                <a:custGeom>
                  <a:avLst/>
                  <a:gdLst>
                    <a:gd name="T0" fmla="*/ 236617 w 1348191"/>
                    <a:gd name="T1" fmla="*/ 0 h 791462"/>
                    <a:gd name="T2" fmla="*/ 239892 w 1348191"/>
                    <a:gd name="T3" fmla="*/ 47014 h 791462"/>
                    <a:gd name="T4" fmla="*/ 86787 w 1348191"/>
                    <a:gd name="T5" fmla="*/ 97427 h 791462"/>
                    <a:gd name="T6" fmla="*/ 0 w 1348191"/>
                    <a:gd name="T7" fmla="*/ 75336 h 791462"/>
                    <a:gd name="T8" fmla="*/ 236617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CF1960E7-FDAC-2CEE-4A3E-263EE9BC567C}"/>
                    </a:ext>
                  </a:extLst>
                </p:cNvPr>
                <p:cNvCxnSpPr>
                  <a:cxnSpLocks noChangeShapeType="1"/>
                  <a:endCxn id="230" idx="2"/>
                </p:cNvCxnSpPr>
                <p:nvPr/>
              </p:nvCxnSpPr>
              <p:spPr bwMode="auto">
                <a:xfrm flipH="1" flipV="1">
                  <a:off x="1871400" y="1735268"/>
                  <a:ext cx="3378" cy="125629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24251069-0BE1-3B45-14C2-7AE9639FC24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6521" y="1732704"/>
                  <a:ext cx="3380" cy="125631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</p:grpSp>
          <p:grpSp>
            <p:nvGrpSpPr>
              <p:cNvPr id="225" name="Group 235">
                <a:extLst>
                  <a:ext uri="{FF2B5EF4-FFF2-40B4-BE49-F238E27FC236}">
                    <a16:creationId xmlns:a16="http://schemas.microsoft.com/office/drawing/2014/main" id="{EF7E62D3-269C-D0A5-F125-68E13F36F7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0362" y="2873352"/>
                <a:ext cx="470258" cy="397919"/>
                <a:chOff x="667045" y="1708643"/>
                <a:chExt cx="470258" cy="397919"/>
              </a:xfrm>
            </p:grpSpPr>
            <p:sp>
              <p:nvSpPr>
                <p:cNvPr id="226" name="Oval 225">
                  <a:extLst>
                    <a:ext uri="{FF2B5EF4-FFF2-40B4-BE49-F238E27FC236}">
                      <a16:creationId xmlns:a16="http://schemas.microsoft.com/office/drawing/2014/main" id="{C41C50B8-B8CC-D7D7-55C2-74DE57BC5F02}"/>
                    </a:ext>
                  </a:extLst>
                </p:cNvPr>
                <p:cNvSpPr/>
                <p:nvPr/>
              </p:nvSpPr>
              <p:spPr bwMode="auto">
                <a:xfrm>
                  <a:off x="725909" y="1787211"/>
                  <a:ext cx="355375" cy="232611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227" name="TextBox 237">
                  <a:extLst>
                    <a:ext uri="{FF2B5EF4-FFF2-40B4-BE49-F238E27FC236}">
                      <a16:creationId xmlns:a16="http://schemas.microsoft.com/office/drawing/2014/main" id="{85B83340-2ECE-C890-739E-6B67CA123E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7045" y="1708643"/>
                  <a:ext cx="470258" cy="3979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Arial" panose="020B0604020202020204" pitchFamily="34" charset="0"/>
                    </a:rPr>
                    <a:t>2d</a:t>
                  </a:r>
                </a:p>
              </p:txBody>
            </p:sp>
          </p:grpSp>
        </p:grpSp>
        <p:grpSp>
          <p:nvGrpSpPr>
            <p:cNvPr id="192" name="Group 200">
              <a:extLst>
                <a:ext uri="{FF2B5EF4-FFF2-40B4-BE49-F238E27FC236}">
                  <a16:creationId xmlns:a16="http://schemas.microsoft.com/office/drawing/2014/main" id="{1978B023-B897-B463-0037-64271C1161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1806" y="3485072"/>
              <a:ext cx="565150" cy="397919"/>
              <a:chOff x="1736090" y="2873352"/>
              <a:chExt cx="565150" cy="397919"/>
            </a:xfrm>
          </p:grpSpPr>
          <p:grpSp>
            <p:nvGrpSpPr>
              <p:cNvPr id="211" name="Group 327">
                <a:extLst>
                  <a:ext uri="{FF2B5EF4-FFF2-40B4-BE49-F238E27FC236}">
                    <a16:creationId xmlns:a16="http://schemas.microsoft.com/office/drawing/2014/main" id="{33B07B90-0E1A-0537-1C37-239DF147C7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5" name="Oval 214">
                  <a:extLst>
                    <a:ext uri="{FF2B5EF4-FFF2-40B4-BE49-F238E27FC236}">
                      <a16:creationId xmlns:a16="http://schemas.microsoft.com/office/drawing/2014/main" id="{F3D1E237-C4AF-A922-913A-47CD9C8C9F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527" y="1695301"/>
                  <a:ext cx="1125121" cy="34612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48A7ECE8-8E0B-D55C-0A38-6CE6948E0F1E}"/>
                    </a:ext>
                  </a:extLst>
                </p:cNvPr>
                <p:cNvSpPr/>
                <p:nvPr/>
              </p:nvSpPr>
              <p:spPr bwMode="auto">
                <a:xfrm>
                  <a:off x="1871147" y="1741451"/>
                  <a:ext cx="1128501" cy="143577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7" name="Oval 216">
                  <a:extLst>
                    <a:ext uri="{FF2B5EF4-FFF2-40B4-BE49-F238E27FC236}">
                      <a16:creationId xmlns:a16="http://schemas.microsoft.com/office/drawing/2014/main" id="{465E7B1F-EF1A-2478-51C7-5225ED3FF1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147" y="1577363"/>
                  <a:ext cx="1125123" cy="346122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18" name="Freeform 217">
                  <a:extLst>
                    <a:ext uri="{FF2B5EF4-FFF2-40B4-BE49-F238E27FC236}">
                      <a16:creationId xmlns:a16="http://schemas.microsoft.com/office/drawing/2014/main" id="{195CF202-779A-E234-7EB6-9DC7A5924B6D}"/>
                    </a:ext>
                  </a:extLst>
                </p:cNvPr>
                <p:cNvSpPr/>
                <p:nvPr/>
              </p:nvSpPr>
              <p:spPr bwMode="auto">
                <a:xfrm>
                  <a:off x="2158342" y="1674790"/>
                  <a:ext cx="550734" cy="187162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9" name="Freeform 218">
                  <a:extLst>
                    <a:ext uri="{FF2B5EF4-FFF2-40B4-BE49-F238E27FC236}">
                      <a16:creationId xmlns:a16="http://schemas.microsoft.com/office/drawing/2014/main" id="{4E1E4199-E08C-948B-454A-6C2E91A790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0902" y="1633768"/>
                  <a:ext cx="665614" cy="112810"/>
                </a:xfrm>
                <a:custGeom>
                  <a:avLst/>
                  <a:gdLst>
                    <a:gd name="T0" fmla="*/ 0 w 3723451"/>
                    <a:gd name="T1" fmla="*/ 27599 h 932950"/>
                    <a:gd name="T2" fmla="*/ 117120 w 3723451"/>
                    <a:gd name="T3" fmla="*/ 325 h 932950"/>
                    <a:gd name="T4" fmla="*/ 331744 w 3723451"/>
                    <a:gd name="T5" fmla="*/ 62945 h 932950"/>
                    <a:gd name="T6" fmla="*/ 536498 w 3723451"/>
                    <a:gd name="T7" fmla="*/ 0 h 932950"/>
                    <a:gd name="T8" fmla="*/ 665614 w 3723451"/>
                    <a:gd name="T9" fmla="*/ 25048 h 932950"/>
                    <a:gd name="T10" fmla="*/ 569552 w 3723451"/>
                    <a:gd name="T11" fmla="*/ 55849 h 932950"/>
                    <a:gd name="T12" fmla="*/ 538624 w 3723451"/>
                    <a:gd name="T13" fmla="*/ 47545 h 932950"/>
                    <a:gd name="T14" fmla="*/ 335515 w 3723451"/>
                    <a:gd name="T15" fmla="*/ 112810 h 932950"/>
                    <a:gd name="T16" fmla="*/ 127210 w 3723451"/>
                    <a:gd name="T17" fmla="*/ 49946 h 932950"/>
                    <a:gd name="T18" fmla="*/ 93531 w 3723451"/>
                    <a:gd name="T19" fmla="*/ 56730 h 932950"/>
                    <a:gd name="T20" fmla="*/ 0 w 3723451"/>
                    <a:gd name="T21" fmla="*/ 27599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20" name="Freeform 219">
                  <a:extLst>
                    <a:ext uri="{FF2B5EF4-FFF2-40B4-BE49-F238E27FC236}">
                      <a16:creationId xmlns:a16="http://schemas.microsoft.com/office/drawing/2014/main" id="{A98EBEDC-F668-BB73-FDAE-C4D49D85A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6761" y="1728630"/>
                  <a:ext cx="243270" cy="125631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3270 w 1366596"/>
                    <a:gd name="T3" fmla="*/ 79247 h 809868"/>
                    <a:gd name="T4" fmla="*/ 153989 w 1366596"/>
                    <a:gd name="T5" fmla="*/ 102555 h 809868"/>
                    <a:gd name="T6" fmla="*/ 819 w 1366596"/>
                    <a:gd name="T7" fmla="*/ 54191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21" name="Freeform 220">
                  <a:extLst>
                    <a:ext uri="{FF2B5EF4-FFF2-40B4-BE49-F238E27FC236}">
                      <a16:creationId xmlns:a16="http://schemas.microsoft.com/office/drawing/2014/main" id="{1D8CD427-7BF5-0DCB-22ED-3FB8EE532C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0767" y="1731195"/>
                  <a:ext cx="239890" cy="123066"/>
                </a:xfrm>
                <a:custGeom>
                  <a:avLst/>
                  <a:gdLst>
                    <a:gd name="T0" fmla="*/ 236615 w 1348191"/>
                    <a:gd name="T1" fmla="*/ 0 h 791462"/>
                    <a:gd name="T2" fmla="*/ 239890 w 1348191"/>
                    <a:gd name="T3" fmla="*/ 48251 h 791462"/>
                    <a:gd name="T4" fmla="*/ 86786 w 1348191"/>
                    <a:gd name="T5" fmla="*/ 99990 h 791462"/>
                    <a:gd name="T6" fmla="*/ 0 w 1348191"/>
                    <a:gd name="T7" fmla="*/ 77318 h 791462"/>
                    <a:gd name="T8" fmla="*/ 236615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AEB0FB31-9683-A8DF-6A24-257B3BAB7417}"/>
                    </a:ext>
                  </a:extLst>
                </p:cNvPr>
                <p:cNvCxnSpPr>
                  <a:cxnSpLocks noChangeShapeType="1"/>
                  <a:endCxn id="217" idx="2"/>
                </p:cNvCxnSpPr>
                <p:nvPr/>
              </p:nvCxnSpPr>
              <p:spPr bwMode="auto">
                <a:xfrm flipH="1" flipV="1">
                  <a:off x="1871147" y="1736323"/>
                  <a:ext cx="3380" cy="151268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E873CDAC-E84E-A64A-CE53-C00B57C2393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6270" y="1733758"/>
                  <a:ext cx="3378" cy="151269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</p:grpSp>
          <p:grpSp>
            <p:nvGrpSpPr>
              <p:cNvPr id="212" name="Group 222">
                <a:extLst>
                  <a:ext uri="{FF2B5EF4-FFF2-40B4-BE49-F238E27FC236}">
                    <a16:creationId xmlns:a16="http://schemas.microsoft.com/office/drawing/2014/main" id="{78838B39-AA6B-1A59-550E-D418CAB0F1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0362" y="2873352"/>
                <a:ext cx="456587" cy="397919"/>
                <a:chOff x="667045" y="1708643"/>
                <a:chExt cx="456587" cy="397919"/>
              </a:xfrm>
            </p:grpSpPr>
            <p:sp>
              <p:nvSpPr>
                <p:cNvPr id="213" name="Oval 212">
                  <a:extLst>
                    <a:ext uri="{FF2B5EF4-FFF2-40B4-BE49-F238E27FC236}">
                      <a16:creationId xmlns:a16="http://schemas.microsoft.com/office/drawing/2014/main" id="{11E8966C-0CAF-82CE-CAA9-9B1761502359}"/>
                    </a:ext>
                  </a:extLst>
                </p:cNvPr>
                <p:cNvSpPr/>
                <p:nvPr/>
              </p:nvSpPr>
              <p:spPr bwMode="auto">
                <a:xfrm>
                  <a:off x="724090" y="1787915"/>
                  <a:ext cx="357067" cy="232611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214" name="TextBox 224">
                  <a:extLst>
                    <a:ext uri="{FF2B5EF4-FFF2-40B4-BE49-F238E27FC236}">
                      <a16:creationId xmlns:a16="http://schemas.microsoft.com/office/drawing/2014/main" id="{A904C6B8-0DAF-2C9C-FCF6-D54FD1D15A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7045" y="1708643"/>
                  <a:ext cx="456587" cy="3979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Arial" panose="020B0604020202020204" pitchFamily="34" charset="0"/>
                    </a:rPr>
                    <a:t>2c</a:t>
                  </a:r>
                </a:p>
              </p:txBody>
            </p:sp>
          </p:grpSp>
        </p:grpSp>
        <p:grpSp>
          <p:nvGrpSpPr>
            <p:cNvPr id="193" name="Group 201">
              <a:extLst>
                <a:ext uri="{FF2B5EF4-FFF2-40B4-BE49-F238E27FC236}">
                  <a16:creationId xmlns:a16="http://schemas.microsoft.com/office/drawing/2014/main" id="{F6B253ED-4794-7830-828B-7C0B4316D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3331" y="3478719"/>
              <a:ext cx="565150" cy="397919"/>
              <a:chOff x="1736090" y="2873352"/>
              <a:chExt cx="565150" cy="397919"/>
            </a:xfrm>
          </p:grpSpPr>
          <p:grpSp>
            <p:nvGrpSpPr>
              <p:cNvPr id="198" name="Group 327">
                <a:extLst>
                  <a:ext uri="{FF2B5EF4-FFF2-40B4-BE49-F238E27FC236}">
                    <a16:creationId xmlns:a16="http://schemas.microsoft.com/office/drawing/2014/main" id="{EA7A1222-F29E-2125-3FBF-9E0D9BFBAA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02" name="Oval 201">
                  <a:extLst>
                    <a:ext uri="{FF2B5EF4-FFF2-40B4-BE49-F238E27FC236}">
                      <a16:creationId xmlns:a16="http://schemas.microsoft.com/office/drawing/2014/main" id="{B9D93782-3A4A-8A27-51C0-073E1AEB6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655" y="1694568"/>
                  <a:ext cx="1125123" cy="3204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523E4A56-2214-352D-3886-5E00DFA5CFA7}"/>
                    </a:ext>
                  </a:extLst>
                </p:cNvPr>
                <p:cNvSpPr/>
                <p:nvPr/>
              </p:nvSpPr>
              <p:spPr bwMode="auto">
                <a:xfrm>
                  <a:off x="1871277" y="1740717"/>
                  <a:ext cx="1128501" cy="11537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4" name="Oval 203">
                  <a:extLst>
                    <a:ext uri="{FF2B5EF4-FFF2-40B4-BE49-F238E27FC236}">
                      <a16:creationId xmlns:a16="http://schemas.microsoft.com/office/drawing/2014/main" id="{E736436E-8DB5-563E-601D-EEA4C186D7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277" y="1576629"/>
                  <a:ext cx="1125121" cy="320483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05" name="Freeform 204">
                  <a:extLst>
                    <a:ext uri="{FF2B5EF4-FFF2-40B4-BE49-F238E27FC236}">
                      <a16:creationId xmlns:a16="http://schemas.microsoft.com/office/drawing/2014/main" id="{50B03823-15F2-AC69-89C9-80177F0DBCEA}"/>
                    </a:ext>
                  </a:extLst>
                </p:cNvPr>
                <p:cNvSpPr/>
                <p:nvPr/>
              </p:nvSpPr>
              <p:spPr bwMode="auto">
                <a:xfrm>
                  <a:off x="2158469" y="1674057"/>
                  <a:ext cx="550736" cy="15896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id="{7C4D8F9F-2C98-80CE-436B-0CE121A09B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1032" y="1633035"/>
                  <a:ext cx="665612" cy="112810"/>
                </a:xfrm>
                <a:custGeom>
                  <a:avLst/>
                  <a:gdLst>
                    <a:gd name="T0" fmla="*/ 0 w 3723451"/>
                    <a:gd name="T1" fmla="*/ 27599 h 932950"/>
                    <a:gd name="T2" fmla="*/ 117119 w 3723451"/>
                    <a:gd name="T3" fmla="*/ 325 h 932950"/>
                    <a:gd name="T4" fmla="*/ 331743 w 3723451"/>
                    <a:gd name="T5" fmla="*/ 62945 h 932950"/>
                    <a:gd name="T6" fmla="*/ 536496 w 3723451"/>
                    <a:gd name="T7" fmla="*/ 0 h 932950"/>
                    <a:gd name="T8" fmla="*/ 665612 w 3723451"/>
                    <a:gd name="T9" fmla="*/ 25048 h 932950"/>
                    <a:gd name="T10" fmla="*/ 569550 w 3723451"/>
                    <a:gd name="T11" fmla="*/ 55849 h 932950"/>
                    <a:gd name="T12" fmla="*/ 538622 w 3723451"/>
                    <a:gd name="T13" fmla="*/ 47545 h 932950"/>
                    <a:gd name="T14" fmla="*/ 335514 w 3723451"/>
                    <a:gd name="T15" fmla="*/ 112810 h 932950"/>
                    <a:gd name="T16" fmla="*/ 127209 w 3723451"/>
                    <a:gd name="T17" fmla="*/ 49946 h 932950"/>
                    <a:gd name="T18" fmla="*/ 93531 w 3723451"/>
                    <a:gd name="T19" fmla="*/ 56730 h 932950"/>
                    <a:gd name="T20" fmla="*/ 0 w 3723451"/>
                    <a:gd name="T21" fmla="*/ 27599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7" name="Freeform 206">
                  <a:extLst>
                    <a:ext uri="{FF2B5EF4-FFF2-40B4-BE49-F238E27FC236}">
                      <a16:creationId xmlns:a16="http://schemas.microsoft.com/office/drawing/2014/main" id="{513BD1A1-EE74-7032-2D1E-A72DE1CCBF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6889" y="1727897"/>
                  <a:ext cx="243270" cy="99992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3270 w 1366596"/>
                    <a:gd name="T3" fmla="*/ 77267 h 809868"/>
                    <a:gd name="T4" fmla="*/ 153989 w 1366596"/>
                    <a:gd name="T5" fmla="*/ 99992 h 809868"/>
                    <a:gd name="T6" fmla="*/ 819 w 1366596"/>
                    <a:gd name="T7" fmla="*/ 52837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8" name="Freeform 207">
                  <a:extLst>
                    <a:ext uri="{FF2B5EF4-FFF2-40B4-BE49-F238E27FC236}">
                      <a16:creationId xmlns:a16="http://schemas.microsoft.com/office/drawing/2014/main" id="{2569BFA5-C3BE-7887-31E6-90A7044D7B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0894" y="1730462"/>
                  <a:ext cx="239892" cy="97427"/>
                </a:xfrm>
                <a:custGeom>
                  <a:avLst/>
                  <a:gdLst>
                    <a:gd name="T0" fmla="*/ 236617 w 1348191"/>
                    <a:gd name="T1" fmla="*/ 0 h 791462"/>
                    <a:gd name="T2" fmla="*/ 239892 w 1348191"/>
                    <a:gd name="T3" fmla="*/ 47014 h 791462"/>
                    <a:gd name="T4" fmla="*/ 86787 w 1348191"/>
                    <a:gd name="T5" fmla="*/ 97427 h 791462"/>
                    <a:gd name="T6" fmla="*/ 0 w 1348191"/>
                    <a:gd name="T7" fmla="*/ 75336 h 791462"/>
                    <a:gd name="T8" fmla="*/ 236617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5307D757-6149-3624-0917-DA199476535B}"/>
                    </a:ext>
                  </a:extLst>
                </p:cNvPr>
                <p:cNvCxnSpPr>
                  <a:cxnSpLocks noChangeShapeType="1"/>
                  <a:endCxn id="204" idx="2"/>
                </p:cNvCxnSpPr>
                <p:nvPr/>
              </p:nvCxnSpPr>
              <p:spPr bwMode="auto">
                <a:xfrm flipH="1" flipV="1">
                  <a:off x="1871277" y="1735590"/>
                  <a:ext cx="3378" cy="125629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23B81DB5-F0C9-E7EE-4339-F0E09766378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6398" y="1733025"/>
                  <a:ext cx="3380" cy="125631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</p:grpSp>
          <p:grpSp>
            <p:nvGrpSpPr>
              <p:cNvPr id="199" name="Group 209">
                <a:extLst>
                  <a:ext uri="{FF2B5EF4-FFF2-40B4-BE49-F238E27FC236}">
                    <a16:creationId xmlns:a16="http://schemas.microsoft.com/office/drawing/2014/main" id="{F18A2168-4A05-018E-12EE-5EF6E1F126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0362" y="2873352"/>
                <a:ext cx="470258" cy="397919"/>
                <a:chOff x="667045" y="1708643"/>
                <a:chExt cx="470258" cy="397919"/>
              </a:xfrm>
            </p:grpSpPr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AB2EF11B-18CA-DC15-FE5A-AA8AF1D09DA2}"/>
                    </a:ext>
                  </a:extLst>
                </p:cNvPr>
                <p:cNvSpPr/>
                <p:nvPr/>
              </p:nvSpPr>
              <p:spPr bwMode="auto">
                <a:xfrm>
                  <a:off x="725847" y="1787426"/>
                  <a:ext cx="355375" cy="232611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201" name="TextBox 211">
                  <a:extLst>
                    <a:ext uri="{FF2B5EF4-FFF2-40B4-BE49-F238E27FC236}">
                      <a16:creationId xmlns:a16="http://schemas.microsoft.com/office/drawing/2014/main" id="{F6BB4E64-340D-8CD6-51DF-1D49110068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7045" y="1708643"/>
                  <a:ext cx="470258" cy="3979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Arial" panose="020B0604020202020204" pitchFamily="34" charset="0"/>
                    </a:rPr>
                    <a:t>2a</a:t>
                  </a:r>
                </a:p>
              </p:txBody>
            </p:sp>
          </p:grpSp>
        </p:grpSp>
        <p:cxnSp>
          <p:nvCxnSpPr>
            <p:cNvPr id="194" name="Straight Connector 202">
              <a:extLst>
                <a:ext uri="{FF2B5EF4-FFF2-40B4-BE49-F238E27FC236}">
                  <a16:creationId xmlns:a16="http://schemas.microsoft.com/office/drawing/2014/main" id="{3F89E69A-E888-F761-83DE-CC11970E99B4}"/>
                </a:ext>
              </a:extLst>
            </p:cNvPr>
            <p:cNvCxnSpPr>
              <a:cxnSpLocks noChangeShapeType="1"/>
              <a:endCxn id="227" idx="0"/>
            </p:cNvCxnSpPr>
            <p:nvPr/>
          </p:nvCxnSpPr>
          <p:spPr bwMode="auto">
            <a:xfrm>
              <a:off x="1991073" y="3173114"/>
              <a:ext cx="18647" cy="9215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" name="Straight Connector 204">
              <a:extLst>
                <a:ext uri="{FF2B5EF4-FFF2-40B4-BE49-F238E27FC236}">
                  <a16:creationId xmlns:a16="http://schemas.microsoft.com/office/drawing/2014/main" id="{F82B4570-9413-B3DA-B50B-441019ABAE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80478" y="3145660"/>
              <a:ext cx="435814" cy="3594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6" name="Straight Connector 205">
              <a:extLst>
                <a:ext uri="{FF2B5EF4-FFF2-40B4-BE49-F238E27FC236}">
                  <a16:creationId xmlns:a16="http://schemas.microsoft.com/office/drawing/2014/main" id="{FDB82D48-134B-7020-6C2E-7D320816F0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00073" y="3768911"/>
              <a:ext cx="527386" cy="3682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7" name="Straight Connector 206">
              <a:extLst>
                <a:ext uri="{FF2B5EF4-FFF2-40B4-BE49-F238E27FC236}">
                  <a16:creationId xmlns:a16="http://schemas.microsoft.com/office/drawing/2014/main" id="{4857527B-FA9A-F021-6027-BF09E6D63A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194462" y="3713972"/>
              <a:ext cx="509583" cy="4289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0" name="Freeform 2">
            <a:extLst>
              <a:ext uri="{FF2B5EF4-FFF2-40B4-BE49-F238E27FC236}">
                <a16:creationId xmlns:a16="http://schemas.microsoft.com/office/drawing/2014/main" id="{8FABFE6D-02CF-1280-DB69-878B02DFED30}"/>
              </a:ext>
            </a:extLst>
          </p:cNvPr>
          <p:cNvSpPr>
            <a:spLocks/>
          </p:cNvSpPr>
          <p:nvPr/>
        </p:nvSpPr>
        <p:spPr bwMode="auto">
          <a:xfrm>
            <a:off x="6945313" y="3978708"/>
            <a:ext cx="2576512" cy="1673225"/>
          </a:xfrm>
          <a:custGeom>
            <a:avLst/>
            <a:gdLst>
              <a:gd name="T0" fmla="*/ 2147483646 w 10000"/>
              <a:gd name="T1" fmla="*/ 2147483646 h 10795"/>
              <a:gd name="T2" fmla="*/ 2147483646 w 10000"/>
              <a:gd name="T3" fmla="*/ 2147483646 h 10795"/>
              <a:gd name="T4" fmla="*/ 2147483646 w 10000"/>
              <a:gd name="T5" fmla="*/ 2147483646 h 10795"/>
              <a:gd name="T6" fmla="*/ 2147483646 w 10000"/>
              <a:gd name="T7" fmla="*/ 2147483646 h 10795"/>
              <a:gd name="T8" fmla="*/ 2147483646 w 10000"/>
              <a:gd name="T9" fmla="*/ 2147483646 h 10795"/>
              <a:gd name="T10" fmla="*/ 2147483646 w 10000"/>
              <a:gd name="T11" fmla="*/ 2147483646 h 10795"/>
              <a:gd name="T12" fmla="*/ 2147483646 w 10000"/>
              <a:gd name="T13" fmla="*/ 2147483646 h 10795"/>
              <a:gd name="T14" fmla="*/ 2147483646 w 10000"/>
              <a:gd name="T15" fmla="*/ 2147483646 h 10795"/>
              <a:gd name="T16" fmla="*/ 2147483646 w 10000"/>
              <a:gd name="T17" fmla="*/ 2147483646 h 10795"/>
              <a:gd name="T18" fmla="*/ 2147483646 w 10000"/>
              <a:gd name="T19" fmla="*/ 2147483646 h 107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1" name="Group 133">
            <a:extLst>
              <a:ext uri="{FF2B5EF4-FFF2-40B4-BE49-F238E27FC236}">
                <a16:creationId xmlns:a16="http://schemas.microsoft.com/office/drawing/2014/main" id="{B1B56AA8-ED90-869A-12F0-05E51B568F9A}"/>
              </a:ext>
            </a:extLst>
          </p:cNvPr>
          <p:cNvGrpSpPr>
            <a:grpSpLocks/>
          </p:cNvGrpSpPr>
          <p:nvPr/>
        </p:nvGrpSpPr>
        <p:grpSpPr bwMode="auto">
          <a:xfrm>
            <a:off x="7169150" y="4115232"/>
            <a:ext cx="2216150" cy="2122488"/>
            <a:chOff x="833331" y="2873352"/>
            <a:chExt cx="2333625" cy="2353163"/>
          </a:xfrm>
        </p:grpSpPr>
        <p:grpSp>
          <p:nvGrpSpPr>
            <p:cNvPr id="252" name="Group 134">
              <a:extLst>
                <a:ext uri="{FF2B5EF4-FFF2-40B4-BE49-F238E27FC236}">
                  <a16:creationId xmlns:a16="http://schemas.microsoft.com/office/drawing/2014/main" id="{680D47AC-215D-5D73-DA1B-6A175EBFA5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6090" y="2873352"/>
              <a:ext cx="565150" cy="409472"/>
              <a:chOff x="1736090" y="2873352"/>
              <a:chExt cx="565150" cy="409472"/>
            </a:xfrm>
          </p:grpSpPr>
          <p:grpSp>
            <p:nvGrpSpPr>
              <p:cNvPr id="300" name="Group 327">
                <a:extLst>
                  <a:ext uri="{FF2B5EF4-FFF2-40B4-BE49-F238E27FC236}">
                    <a16:creationId xmlns:a16="http://schemas.microsoft.com/office/drawing/2014/main" id="{6C0ABC26-E839-C1B6-F65E-6A1CAD814A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DB8405F7-2C12-BF50-A125-61A96A5AA2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481" y="1693451"/>
                  <a:ext cx="1124770" cy="32187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id="{D9AD5434-B6BC-1BF0-8EA2-36127221952F}"/>
                    </a:ext>
                  </a:extLst>
                </p:cNvPr>
                <p:cNvSpPr/>
                <p:nvPr/>
              </p:nvSpPr>
              <p:spPr bwMode="auto">
                <a:xfrm>
                  <a:off x="1871142" y="1740940"/>
                  <a:ext cx="1128108" cy="116086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B85F7347-8365-58B6-19B5-7A4618B09C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142" y="1577365"/>
                  <a:ext cx="1124772" cy="321874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55384BFD-E28B-9D7A-DCE3-A0EFAD2DDDC5}"/>
                    </a:ext>
                  </a:extLst>
                </p:cNvPr>
                <p:cNvSpPr/>
                <p:nvPr/>
              </p:nvSpPr>
              <p:spPr bwMode="auto">
                <a:xfrm>
                  <a:off x="2158176" y="1674984"/>
                  <a:ext cx="550705" cy="15829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E6C30AFB-2778-5D48-69C7-6165AB9D8C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1438" y="1635408"/>
                  <a:ext cx="664181" cy="110809"/>
                </a:xfrm>
                <a:custGeom>
                  <a:avLst/>
                  <a:gdLst>
                    <a:gd name="T0" fmla="*/ 0 w 3723451"/>
                    <a:gd name="T1" fmla="*/ 27109 h 932950"/>
                    <a:gd name="T2" fmla="*/ 116867 w 3723451"/>
                    <a:gd name="T3" fmla="*/ 319 h 932950"/>
                    <a:gd name="T4" fmla="*/ 331030 w 3723451"/>
                    <a:gd name="T5" fmla="*/ 61829 h 932950"/>
                    <a:gd name="T6" fmla="*/ 535343 w 3723451"/>
                    <a:gd name="T7" fmla="*/ 0 h 932950"/>
                    <a:gd name="T8" fmla="*/ 664181 w 3723451"/>
                    <a:gd name="T9" fmla="*/ 24604 h 932950"/>
                    <a:gd name="T10" fmla="*/ 568326 w 3723451"/>
                    <a:gd name="T11" fmla="*/ 54858 h 932950"/>
                    <a:gd name="T12" fmla="*/ 537464 w 3723451"/>
                    <a:gd name="T13" fmla="*/ 46701 h 932950"/>
                    <a:gd name="T14" fmla="*/ 334792 w 3723451"/>
                    <a:gd name="T15" fmla="*/ 110809 h 932950"/>
                    <a:gd name="T16" fmla="*/ 126936 w 3723451"/>
                    <a:gd name="T17" fmla="*/ 49060 h 932950"/>
                    <a:gd name="T18" fmla="*/ 93330 w 3723451"/>
                    <a:gd name="T19" fmla="*/ 55724 h 932950"/>
                    <a:gd name="T20" fmla="*/ 0 w 3723451"/>
                    <a:gd name="T21" fmla="*/ 27109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09" name="Freeform 308">
                  <a:extLst>
                    <a:ext uri="{FF2B5EF4-FFF2-40B4-BE49-F238E27FC236}">
                      <a16:creationId xmlns:a16="http://schemas.microsoft.com/office/drawing/2014/main" id="{57107BD6-7F53-3056-CD22-EF02E151B0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5326" y="1730387"/>
                  <a:ext cx="243644" cy="9761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3644 w 1366596"/>
                    <a:gd name="T3" fmla="*/ 75432 h 809868"/>
                    <a:gd name="T4" fmla="*/ 154226 w 1366596"/>
                    <a:gd name="T5" fmla="*/ 97618 h 809868"/>
                    <a:gd name="T6" fmla="*/ 820 w 1366596"/>
                    <a:gd name="T7" fmla="*/ 51582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10" name="Freeform 309">
                  <a:extLst>
                    <a:ext uri="{FF2B5EF4-FFF2-40B4-BE49-F238E27FC236}">
                      <a16:creationId xmlns:a16="http://schemas.microsoft.com/office/drawing/2014/main" id="{533D7B2C-2469-01C9-0E27-1AADC6B32A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1424" y="1733026"/>
                  <a:ext cx="240307" cy="94979"/>
                </a:xfrm>
                <a:custGeom>
                  <a:avLst/>
                  <a:gdLst>
                    <a:gd name="T0" fmla="*/ 237026 w 1348191"/>
                    <a:gd name="T1" fmla="*/ 0 h 791462"/>
                    <a:gd name="T2" fmla="*/ 240307 w 1348191"/>
                    <a:gd name="T3" fmla="*/ 45833 h 791462"/>
                    <a:gd name="T4" fmla="*/ 86937 w 1348191"/>
                    <a:gd name="T5" fmla="*/ 94979 h 791462"/>
                    <a:gd name="T6" fmla="*/ 0 w 1348191"/>
                    <a:gd name="T7" fmla="*/ 73443 h 791462"/>
                    <a:gd name="T8" fmla="*/ 237026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5EAFEBF4-2F6A-6889-052F-9B3A0D3F838F}"/>
                    </a:ext>
                  </a:extLst>
                </p:cNvPr>
                <p:cNvCxnSpPr>
                  <a:cxnSpLocks noChangeShapeType="1"/>
                  <a:endCxn id="306" idx="2"/>
                </p:cNvCxnSpPr>
                <p:nvPr/>
              </p:nvCxnSpPr>
              <p:spPr bwMode="auto">
                <a:xfrm flipH="1" flipV="1">
                  <a:off x="1871142" y="1735664"/>
                  <a:ext cx="3339" cy="124001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2A4316B4-949F-CC7A-F534-F2A62181815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5914" y="1735664"/>
                  <a:ext cx="3337" cy="121362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</p:grpSp>
          <p:grpSp>
            <p:nvGrpSpPr>
              <p:cNvPr id="301" name="Group 184">
                <a:extLst>
                  <a:ext uri="{FF2B5EF4-FFF2-40B4-BE49-F238E27FC236}">
                    <a16:creationId xmlns:a16="http://schemas.microsoft.com/office/drawing/2014/main" id="{A061884F-3ECC-5AA7-6ECE-FC7C6D5281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0362" y="2873352"/>
                <a:ext cx="464530" cy="409472"/>
                <a:chOff x="667045" y="1708643"/>
                <a:chExt cx="464530" cy="409472"/>
              </a:xfrm>
            </p:grpSpPr>
            <p:sp>
              <p:nvSpPr>
                <p:cNvPr id="302" name="Oval 301">
                  <a:extLst>
                    <a:ext uri="{FF2B5EF4-FFF2-40B4-BE49-F238E27FC236}">
                      <a16:creationId xmlns:a16="http://schemas.microsoft.com/office/drawing/2014/main" id="{246CDA34-26A0-C77D-8566-B531AD09BB08}"/>
                    </a:ext>
                  </a:extLst>
                </p:cNvPr>
                <p:cNvSpPr/>
                <p:nvPr/>
              </p:nvSpPr>
              <p:spPr bwMode="auto">
                <a:xfrm>
                  <a:off x="706258" y="1787845"/>
                  <a:ext cx="356062" cy="232324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303" name="TextBox 186">
                  <a:extLst>
                    <a:ext uri="{FF2B5EF4-FFF2-40B4-BE49-F238E27FC236}">
                      <a16:creationId xmlns:a16="http://schemas.microsoft.com/office/drawing/2014/main" id="{FED806BD-2B96-3B76-FFDF-363B2547C3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7045" y="1708643"/>
                  <a:ext cx="464530" cy="4094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Arial" panose="020B0604020202020204" pitchFamily="34" charset="0"/>
                    </a:rPr>
                    <a:t>3b</a:t>
                  </a:r>
                </a:p>
              </p:txBody>
            </p:sp>
          </p:grpSp>
        </p:grpSp>
        <p:grpSp>
          <p:nvGrpSpPr>
            <p:cNvPr id="253" name="Group 135">
              <a:extLst>
                <a:ext uri="{FF2B5EF4-FFF2-40B4-BE49-F238E27FC236}">
                  <a16:creationId xmlns:a16="http://schemas.microsoft.com/office/drawing/2014/main" id="{1FB39B3D-0B85-66D9-41F6-E4B3F0EE04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0320" y="4094669"/>
              <a:ext cx="565150" cy="409472"/>
              <a:chOff x="1736090" y="2873352"/>
              <a:chExt cx="565150" cy="409472"/>
            </a:xfrm>
          </p:grpSpPr>
          <p:grpSp>
            <p:nvGrpSpPr>
              <p:cNvPr id="287" name="Group 327">
                <a:extLst>
                  <a:ext uri="{FF2B5EF4-FFF2-40B4-BE49-F238E27FC236}">
                    <a16:creationId xmlns:a16="http://schemas.microsoft.com/office/drawing/2014/main" id="{1B6ED27A-F029-D30A-0ED9-5BB9268184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91" name="Oval 290">
                  <a:extLst>
                    <a:ext uri="{FF2B5EF4-FFF2-40B4-BE49-F238E27FC236}">
                      <a16:creationId xmlns:a16="http://schemas.microsoft.com/office/drawing/2014/main" id="{F5DB8D3C-BEC3-742C-109F-D5B81DDB9F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6047" y="1693669"/>
                  <a:ext cx="1124772" cy="34825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92" name="Rectangle 291">
                  <a:extLst>
                    <a:ext uri="{FF2B5EF4-FFF2-40B4-BE49-F238E27FC236}">
                      <a16:creationId xmlns:a16="http://schemas.microsoft.com/office/drawing/2014/main" id="{55A4D588-6A2D-3979-79A5-403F22448E32}"/>
                    </a:ext>
                  </a:extLst>
                </p:cNvPr>
                <p:cNvSpPr/>
                <p:nvPr/>
              </p:nvSpPr>
              <p:spPr bwMode="auto">
                <a:xfrm>
                  <a:off x="1872711" y="1770180"/>
                  <a:ext cx="1128108" cy="116086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3" name="Oval 292">
                  <a:extLst>
                    <a:ext uri="{FF2B5EF4-FFF2-40B4-BE49-F238E27FC236}">
                      <a16:creationId xmlns:a16="http://schemas.microsoft.com/office/drawing/2014/main" id="{54E1CEC2-E0FC-A3D8-6B6D-B157DF1AD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2711" y="1577583"/>
                  <a:ext cx="1124770" cy="348257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94" name="Freeform 293">
                  <a:extLst>
                    <a:ext uri="{FF2B5EF4-FFF2-40B4-BE49-F238E27FC236}">
                      <a16:creationId xmlns:a16="http://schemas.microsoft.com/office/drawing/2014/main" id="{A6B07834-8CFA-57FF-DDF8-2E7C87A1FA70}"/>
                    </a:ext>
                  </a:extLst>
                </p:cNvPr>
                <p:cNvSpPr/>
                <p:nvPr/>
              </p:nvSpPr>
              <p:spPr bwMode="auto">
                <a:xfrm>
                  <a:off x="2159744" y="1675201"/>
                  <a:ext cx="550703" cy="18731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95" name="Freeform 294">
                  <a:extLst>
                    <a:ext uri="{FF2B5EF4-FFF2-40B4-BE49-F238E27FC236}">
                      <a16:creationId xmlns:a16="http://schemas.microsoft.com/office/drawing/2014/main" id="{2281E767-10F6-F671-99F8-64C04D1050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3004" y="1635626"/>
                  <a:ext cx="664183" cy="137192"/>
                </a:xfrm>
                <a:custGeom>
                  <a:avLst/>
                  <a:gdLst>
                    <a:gd name="T0" fmla="*/ 0 w 3723451"/>
                    <a:gd name="T1" fmla="*/ 27755 h 932950"/>
                    <a:gd name="T2" fmla="*/ 116868 w 3723451"/>
                    <a:gd name="T3" fmla="*/ 327 h 932950"/>
                    <a:gd name="T4" fmla="*/ 331031 w 3723451"/>
                    <a:gd name="T5" fmla="*/ 63301 h 932950"/>
                    <a:gd name="T6" fmla="*/ 535344 w 3723451"/>
                    <a:gd name="T7" fmla="*/ 0 h 932950"/>
                    <a:gd name="T8" fmla="*/ 664183 w 3723451"/>
                    <a:gd name="T9" fmla="*/ 25190 h 932950"/>
                    <a:gd name="T10" fmla="*/ 568327 w 3723451"/>
                    <a:gd name="T11" fmla="*/ 56165 h 932950"/>
                    <a:gd name="T12" fmla="*/ 537466 w 3723451"/>
                    <a:gd name="T13" fmla="*/ 47814 h 932950"/>
                    <a:gd name="T14" fmla="*/ 334793 w 3723451"/>
                    <a:gd name="T15" fmla="*/ 113448 h 932950"/>
                    <a:gd name="T16" fmla="*/ 126936 w 3723451"/>
                    <a:gd name="T17" fmla="*/ 50228 h 932950"/>
                    <a:gd name="T18" fmla="*/ 93330 w 3723451"/>
                    <a:gd name="T19" fmla="*/ 57051 h 932950"/>
                    <a:gd name="T20" fmla="*/ 0 w 3723451"/>
                    <a:gd name="T21" fmla="*/ 2775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96" name="Freeform 295">
                  <a:extLst>
                    <a:ext uri="{FF2B5EF4-FFF2-40B4-BE49-F238E27FC236}">
                      <a16:creationId xmlns:a16="http://schemas.microsoft.com/office/drawing/2014/main" id="{459BD0DC-E077-198F-835B-13159B8DF3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6892" y="1730605"/>
                  <a:ext cx="243646" cy="124001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3646 w 1366596"/>
                    <a:gd name="T3" fmla="*/ 77471 h 809868"/>
                    <a:gd name="T4" fmla="*/ 154227 w 1366596"/>
                    <a:gd name="T5" fmla="*/ 100256 h 809868"/>
                    <a:gd name="T6" fmla="*/ 820 w 1366596"/>
                    <a:gd name="T7" fmla="*/ 52976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97" name="Freeform 296">
                  <a:extLst>
                    <a:ext uri="{FF2B5EF4-FFF2-40B4-BE49-F238E27FC236}">
                      <a16:creationId xmlns:a16="http://schemas.microsoft.com/office/drawing/2014/main" id="{55782DCF-742D-EC16-6C76-ED2AC3281D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2992" y="1733244"/>
                  <a:ext cx="240307" cy="121362"/>
                </a:xfrm>
                <a:custGeom>
                  <a:avLst/>
                  <a:gdLst>
                    <a:gd name="T0" fmla="*/ 237026 w 1348191"/>
                    <a:gd name="T1" fmla="*/ 0 h 791462"/>
                    <a:gd name="T2" fmla="*/ 240307 w 1348191"/>
                    <a:gd name="T3" fmla="*/ 47106 h 791462"/>
                    <a:gd name="T4" fmla="*/ 86937 w 1348191"/>
                    <a:gd name="T5" fmla="*/ 97617 h 791462"/>
                    <a:gd name="T6" fmla="*/ 0 w 1348191"/>
                    <a:gd name="T7" fmla="*/ 75483 h 791462"/>
                    <a:gd name="T8" fmla="*/ 237026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298" name="Straight Connector 297">
                  <a:extLst>
                    <a:ext uri="{FF2B5EF4-FFF2-40B4-BE49-F238E27FC236}">
                      <a16:creationId xmlns:a16="http://schemas.microsoft.com/office/drawing/2014/main" id="{CDC72CF5-D524-0740-25F0-43B5171F58A7}"/>
                    </a:ext>
                  </a:extLst>
                </p:cNvPr>
                <p:cNvCxnSpPr>
                  <a:cxnSpLocks noChangeShapeType="1"/>
                  <a:endCxn id="293" idx="2"/>
                </p:cNvCxnSpPr>
                <p:nvPr/>
              </p:nvCxnSpPr>
              <p:spPr bwMode="auto">
                <a:xfrm flipH="1" flipV="1">
                  <a:off x="1872711" y="1735881"/>
                  <a:ext cx="3337" cy="150384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  <p:cxnSp>
              <p:nvCxnSpPr>
                <p:cNvPr id="299" name="Straight Connector 298">
                  <a:extLst>
                    <a:ext uri="{FF2B5EF4-FFF2-40B4-BE49-F238E27FC236}">
                      <a16:creationId xmlns:a16="http://schemas.microsoft.com/office/drawing/2014/main" id="{A5824F24-4EAA-61C9-1ED1-EBC49C14E65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7480" y="1735881"/>
                  <a:ext cx="3339" cy="147745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</p:grpSp>
          <p:grpSp>
            <p:nvGrpSpPr>
              <p:cNvPr id="288" name="Group 171">
                <a:extLst>
                  <a:ext uri="{FF2B5EF4-FFF2-40B4-BE49-F238E27FC236}">
                    <a16:creationId xmlns:a16="http://schemas.microsoft.com/office/drawing/2014/main" id="{DA986BAB-D6C9-92A3-EE52-C4B59E515B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0362" y="2873352"/>
                <a:ext cx="464530" cy="409472"/>
                <a:chOff x="667045" y="1708643"/>
                <a:chExt cx="464530" cy="409472"/>
              </a:xfrm>
            </p:grpSpPr>
            <p:sp>
              <p:nvSpPr>
                <p:cNvPr id="289" name="Oval 288">
                  <a:extLst>
                    <a:ext uri="{FF2B5EF4-FFF2-40B4-BE49-F238E27FC236}">
                      <a16:creationId xmlns:a16="http://schemas.microsoft.com/office/drawing/2014/main" id="{C912C9D6-4E7D-887A-600C-2BAC737900DB}"/>
                    </a:ext>
                  </a:extLst>
                </p:cNvPr>
                <p:cNvSpPr/>
                <p:nvPr/>
              </p:nvSpPr>
              <p:spPr bwMode="auto">
                <a:xfrm>
                  <a:off x="725431" y="1787990"/>
                  <a:ext cx="356062" cy="232324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290" name="TextBox 173">
                  <a:extLst>
                    <a:ext uri="{FF2B5EF4-FFF2-40B4-BE49-F238E27FC236}">
                      <a16:creationId xmlns:a16="http://schemas.microsoft.com/office/drawing/2014/main" id="{3F107518-7BF3-EB3F-06E5-EC3A1E84BA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7045" y="1708643"/>
                  <a:ext cx="464530" cy="4094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Arial" panose="020B0604020202020204" pitchFamily="34" charset="0"/>
                    </a:rPr>
                    <a:t>3d</a:t>
                  </a:r>
                </a:p>
              </p:txBody>
            </p:sp>
          </p:grpSp>
        </p:grpSp>
        <p:grpSp>
          <p:nvGrpSpPr>
            <p:cNvPr id="254" name="Group 136">
              <a:extLst>
                <a:ext uri="{FF2B5EF4-FFF2-40B4-BE49-F238E27FC236}">
                  <a16:creationId xmlns:a16="http://schemas.microsoft.com/office/drawing/2014/main" id="{AC73EFE7-B326-AB0A-8970-5F1C99A5CF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1806" y="3485072"/>
              <a:ext cx="565150" cy="409472"/>
              <a:chOff x="1736090" y="2873352"/>
              <a:chExt cx="565150" cy="409472"/>
            </a:xfrm>
          </p:grpSpPr>
          <p:grpSp>
            <p:nvGrpSpPr>
              <p:cNvPr id="274" name="Group 327">
                <a:extLst>
                  <a:ext uri="{FF2B5EF4-FFF2-40B4-BE49-F238E27FC236}">
                    <a16:creationId xmlns:a16="http://schemas.microsoft.com/office/drawing/2014/main" id="{12898DCB-05B8-7A2B-1909-534A256173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26DA80F1-F912-D363-45E2-C82F5AFBE3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878" y="1720989"/>
                  <a:ext cx="1124770" cy="29285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48DB53E2-2717-75EF-AE5F-46883F8491C3}"/>
                    </a:ext>
                  </a:extLst>
                </p:cNvPr>
                <p:cNvSpPr/>
                <p:nvPr/>
              </p:nvSpPr>
              <p:spPr bwMode="auto">
                <a:xfrm>
                  <a:off x="1871540" y="1742095"/>
                  <a:ext cx="1128108" cy="113448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0" name="Oval 279">
                  <a:extLst>
                    <a:ext uri="{FF2B5EF4-FFF2-40B4-BE49-F238E27FC236}">
                      <a16:creationId xmlns:a16="http://schemas.microsoft.com/office/drawing/2014/main" id="{DFAE5110-631F-D727-25F4-CC0E01354A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540" y="1604903"/>
                  <a:ext cx="1124772" cy="292853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81" name="Freeform 280">
                  <a:extLst>
                    <a:ext uri="{FF2B5EF4-FFF2-40B4-BE49-F238E27FC236}">
                      <a16:creationId xmlns:a16="http://schemas.microsoft.com/office/drawing/2014/main" id="{FF6E79C6-B1CC-E1D3-3613-A208B052C8C6}"/>
                    </a:ext>
                  </a:extLst>
                </p:cNvPr>
                <p:cNvSpPr/>
                <p:nvPr/>
              </p:nvSpPr>
              <p:spPr bwMode="auto">
                <a:xfrm>
                  <a:off x="2158573" y="1705159"/>
                  <a:ext cx="550705" cy="12927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82" name="Freeform 281">
                  <a:extLst>
                    <a:ext uri="{FF2B5EF4-FFF2-40B4-BE49-F238E27FC236}">
                      <a16:creationId xmlns:a16="http://schemas.microsoft.com/office/drawing/2014/main" id="{B730212E-4CC1-74F2-CE6C-16547C6A78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1835" y="1662946"/>
                  <a:ext cx="664181" cy="84426"/>
                </a:xfrm>
                <a:custGeom>
                  <a:avLst/>
                  <a:gdLst>
                    <a:gd name="T0" fmla="*/ 0 w 3723451"/>
                    <a:gd name="T1" fmla="*/ 26464 h 932950"/>
                    <a:gd name="T2" fmla="*/ 116867 w 3723451"/>
                    <a:gd name="T3" fmla="*/ 312 h 932950"/>
                    <a:gd name="T4" fmla="*/ 331030 w 3723451"/>
                    <a:gd name="T5" fmla="*/ 60356 h 932950"/>
                    <a:gd name="T6" fmla="*/ 535343 w 3723451"/>
                    <a:gd name="T7" fmla="*/ 0 h 932950"/>
                    <a:gd name="T8" fmla="*/ 664181 w 3723451"/>
                    <a:gd name="T9" fmla="*/ 24018 h 932950"/>
                    <a:gd name="T10" fmla="*/ 568326 w 3723451"/>
                    <a:gd name="T11" fmla="*/ 53552 h 932950"/>
                    <a:gd name="T12" fmla="*/ 537464 w 3723451"/>
                    <a:gd name="T13" fmla="*/ 45589 h 932950"/>
                    <a:gd name="T14" fmla="*/ 334792 w 3723451"/>
                    <a:gd name="T15" fmla="*/ 108170 h 932950"/>
                    <a:gd name="T16" fmla="*/ 126936 w 3723451"/>
                    <a:gd name="T17" fmla="*/ 47891 h 932950"/>
                    <a:gd name="T18" fmla="*/ 93330 w 3723451"/>
                    <a:gd name="T19" fmla="*/ 54397 h 932950"/>
                    <a:gd name="T20" fmla="*/ 0 w 3723451"/>
                    <a:gd name="T21" fmla="*/ 26464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83" name="Freeform 282">
                  <a:extLst>
                    <a:ext uri="{FF2B5EF4-FFF2-40B4-BE49-F238E27FC236}">
                      <a16:creationId xmlns:a16="http://schemas.microsoft.com/office/drawing/2014/main" id="{4D84EFA3-CDEE-E24E-A5CA-8FDF7A1666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5723" y="1734181"/>
                  <a:ext cx="243644" cy="92340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3644 w 1366596"/>
                    <a:gd name="T3" fmla="*/ 73393 h 809868"/>
                    <a:gd name="T4" fmla="*/ 154226 w 1366596"/>
                    <a:gd name="T5" fmla="*/ 94979 h 809868"/>
                    <a:gd name="T6" fmla="*/ 820 w 1366596"/>
                    <a:gd name="T7" fmla="*/ 50188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84" name="Freeform 283">
                  <a:extLst>
                    <a:ext uri="{FF2B5EF4-FFF2-40B4-BE49-F238E27FC236}">
                      <a16:creationId xmlns:a16="http://schemas.microsoft.com/office/drawing/2014/main" id="{DEC7B252-3957-3460-FD3A-3B9457477E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1821" y="1734181"/>
                  <a:ext cx="240307" cy="92340"/>
                </a:xfrm>
                <a:custGeom>
                  <a:avLst/>
                  <a:gdLst>
                    <a:gd name="T0" fmla="*/ 237026 w 1348191"/>
                    <a:gd name="T1" fmla="*/ 0 h 791462"/>
                    <a:gd name="T2" fmla="*/ 240307 w 1348191"/>
                    <a:gd name="T3" fmla="*/ 44559 h 791462"/>
                    <a:gd name="T4" fmla="*/ 86937 w 1348191"/>
                    <a:gd name="T5" fmla="*/ 92340 h 791462"/>
                    <a:gd name="T6" fmla="*/ 0 w 1348191"/>
                    <a:gd name="T7" fmla="*/ 71402 h 791462"/>
                    <a:gd name="T8" fmla="*/ 237026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4656B355-B600-2595-7DE2-83170A9E37E6}"/>
                    </a:ext>
                  </a:extLst>
                </p:cNvPr>
                <p:cNvCxnSpPr>
                  <a:cxnSpLocks noChangeShapeType="1"/>
                  <a:endCxn id="280" idx="2"/>
                </p:cNvCxnSpPr>
                <p:nvPr/>
              </p:nvCxnSpPr>
              <p:spPr bwMode="auto">
                <a:xfrm flipH="1" flipV="1">
                  <a:off x="1871540" y="1736819"/>
                  <a:ext cx="3339" cy="124001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F92619B4-91B4-CD49-EFF9-FE31C433667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6311" y="1734181"/>
                  <a:ext cx="3337" cy="124000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</p:grpSp>
          <p:grpSp>
            <p:nvGrpSpPr>
              <p:cNvPr id="275" name="Group 158">
                <a:extLst>
                  <a:ext uri="{FF2B5EF4-FFF2-40B4-BE49-F238E27FC236}">
                    <a16:creationId xmlns:a16="http://schemas.microsoft.com/office/drawing/2014/main" id="{7A7AFE07-0BCC-2315-5051-A1444B47AA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0362" y="2873352"/>
                <a:ext cx="451027" cy="409472"/>
                <a:chOff x="667045" y="1708643"/>
                <a:chExt cx="451027" cy="409472"/>
              </a:xfrm>
            </p:grpSpPr>
            <p:sp>
              <p:nvSpPr>
                <p:cNvPr id="276" name="Oval 275">
                  <a:extLst>
                    <a:ext uri="{FF2B5EF4-FFF2-40B4-BE49-F238E27FC236}">
                      <a16:creationId xmlns:a16="http://schemas.microsoft.com/office/drawing/2014/main" id="{32BB0603-5EE2-2A40-D800-5A853A538DBD}"/>
                    </a:ext>
                  </a:extLst>
                </p:cNvPr>
                <p:cNvSpPr/>
                <p:nvPr/>
              </p:nvSpPr>
              <p:spPr bwMode="auto">
                <a:xfrm>
                  <a:off x="724846" y="1786855"/>
                  <a:ext cx="357734" cy="232324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277" name="TextBox 160">
                  <a:extLst>
                    <a:ext uri="{FF2B5EF4-FFF2-40B4-BE49-F238E27FC236}">
                      <a16:creationId xmlns:a16="http://schemas.microsoft.com/office/drawing/2014/main" id="{C4967177-7B2F-3FAF-6CB5-0B61C65DBD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7045" y="1708643"/>
                  <a:ext cx="451027" cy="4094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Arial" panose="020B0604020202020204" pitchFamily="34" charset="0"/>
                    </a:rPr>
                    <a:t>3c</a:t>
                  </a:r>
                </a:p>
              </p:txBody>
            </p:sp>
          </p:grpSp>
        </p:grpSp>
        <p:grpSp>
          <p:nvGrpSpPr>
            <p:cNvPr id="255" name="Group 137">
              <a:extLst>
                <a:ext uri="{FF2B5EF4-FFF2-40B4-BE49-F238E27FC236}">
                  <a16:creationId xmlns:a16="http://schemas.microsoft.com/office/drawing/2014/main" id="{F226A151-EB90-71AA-95C0-3625E7A7F8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3331" y="3478719"/>
              <a:ext cx="565150" cy="409472"/>
              <a:chOff x="1736090" y="2873352"/>
              <a:chExt cx="565150" cy="409472"/>
            </a:xfrm>
          </p:grpSpPr>
          <p:grpSp>
            <p:nvGrpSpPr>
              <p:cNvPr id="261" name="Group 327">
                <a:extLst>
                  <a:ext uri="{FF2B5EF4-FFF2-40B4-BE49-F238E27FC236}">
                    <a16:creationId xmlns:a16="http://schemas.microsoft.com/office/drawing/2014/main" id="{12C38D65-6291-2923-F75F-0150F4B4A3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65" name="Oval 264">
                  <a:extLst>
                    <a:ext uri="{FF2B5EF4-FFF2-40B4-BE49-F238E27FC236}">
                      <a16:creationId xmlns:a16="http://schemas.microsoft.com/office/drawing/2014/main" id="{C828FA30-FF78-E894-17F2-08B35FFA3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616" y="1693577"/>
                  <a:ext cx="1124770" cy="32187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66" name="Rectangle 265">
                  <a:extLst>
                    <a:ext uri="{FF2B5EF4-FFF2-40B4-BE49-F238E27FC236}">
                      <a16:creationId xmlns:a16="http://schemas.microsoft.com/office/drawing/2014/main" id="{9D7B4C70-CB50-8906-950F-2CFB02FACD02}"/>
                    </a:ext>
                  </a:extLst>
                </p:cNvPr>
                <p:cNvSpPr/>
                <p:nvPr/>
              </p:nvSpPr>
              <p:spPr bwMode="auto">
                <a:xfrm>
                  <a:off x="1871277" y="1741067"/>
                  <a:ext cx="1128108" cy="116086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7" name="Oval 266">
                  <a:extLst>
                    <a:ext uri="{FF2B5EF4-FFF2-40B4-BE49-F238E27FC236}">
                      <a16:creationId xmlns:a16="http://schemas.microsoft.com/office/drawing/2014/main" id="{1CE69693-B28A-DED9-1D8D-17197132BC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277" y="1577492"/>
                  <a:ext cx="1124772" cy="321874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00F3B994-8B50-55D4-1660-5649E04442CE}"/>
                    </a:ext>
                  </a:extLst>
                </p:cNvPr>
                <p:cNvSpPr/>
                <p:nvPr/>
              </p:nvSpPr>
              <p:spPr bwMode="auto">
                <a:xfrm>
                  <a:off x="2158310" y="1675110"/>
                  <a:ext cx="550705" cy="15829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F7DFA258-1F1D-6D5C-D893-F9123A76B7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1572" y="1635534"/>
                  <a:ext cx="664181" cy="110809"/>
                </a:xfrm>
                <a:custGeom>
                  <a:avLst/>
                  <a:gdLst>
                    <a:gd name="T0" fmla="*/ 0 w 3723451"/>
                    <a:gd name="T1" fmla="*/ 27109 h 932950"/>
                    <a:gd name="T2" fmla="*/ 116867 w 3723451"/>
                    <a:gd name="T3" fmla="*/ 319 h 932950"/>
                    <a:gd name="T4" fmla="*/ 331030 w 3723451"/>
                    <a:gd name="T5" fmla="*/ 61829 h 932950"/>
                    <a:gd name="T6" fmla="*/ 535343 w 3723451"/>
                    <a:gd name="T7" fmla="*/ 0 h 932950"/>
                    <a:gd name="T8" fmla="*/ 664181 w 3723451"/>
                    <a:gd name="T9" fmla="*/ 24604 h 932950"/>
                    <a:gd name="T10" fmla="*/ 568326 w 3723451"/>
                    <a:gd name="T11" fmla="*/ 54858 h 932950"/>
                    <a:gd name="T12" fmla="*/ 537464 w 3723451"/>
                    <a:gd name="T13" fmla="*/ 46701 h 932950"/>
                    <a:gd name="T14" fmla="*/ 334792 w 3723451"/>
                    <a:gd name="T15" fmla="*/ 110809 h 932950"/>
                    <a:gd name="T16" fmla="*/ 126936 w 3723451"/>
                    <a:gd name="T17" fmla="*/ 49060 h 932950"/>
                    <a:gd name="T18" fmla="*/ 93330 w 3723451"/>
                    <a:gd name="T19" fmla="*/ 55724 h 932950"/>
                    <a:gd name="T20" fmla="*/ 0 w 3723451"/>
                    <a:gd name="T21" fmla="*/ 27109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D164C306-FC81-09CA-6742-6515E889FB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5460" y="1730513"/>
                  <a:ext cx="243644" cy="9761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3644 w 1366596"/>
                    <a:gd name="T3" fmla="*/ 75432 h 809868"/>
                    <a:gd name="T4" fmla="*/ 154226 w 1366596"/>
                    <a:gd name="T5" fmla="*/ 97618 h 809868"/>
                    <a:gd name="T6" fmla="*/ 820 w 1366596"/>
                    <a:gd name="T7" fmla="*/ 51582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71" name="Freeform 270">
                  <a:extLst>
                    <a:ext uri="{FF2B5EF4-FFF2-40B4-BE49-F238E27FC236}">
                      <a16:creationId xmlns:a16="http://schemas.microsoft.com/office/drawing/2014/main" id="{7FAF66B9-CD8A-D3E3-4A7C-70B54C352D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1558" y="1733153"/>
                  <a:ext cx="240307" cy="94979"/>
                </a:xfrm>
                <a:custGeom>
                  <a:avLst/>
                  <a:gdLst>
                    <a:gd name="T0" fmla="*/ 237026 w 1348191"/>
                    <a:gd name="T1" fmla="*/ 0 h 791462"/>
                    <a:gd name="T2" fmla="*/ 240307 w 1348191"/>
                    <a:gd name="T3" fmla="*/ 45833 h 791462"/>
                    <a:gd name="T4" fmla="*/ 86937 w 1348191"/>
                    <a:gd name="T5" fmla="*/ 94979 h 791462"/>
                    <a:gd name="T6" fmla="*/ 0 w 1348191"/>
                    <a:gd name="T7" fmla="*/ 73443 h 791462"/>
                    <a:gd name="T8" fmla="*/ 237026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8EB70113-6D39-90C8-543C-000D4FEDE57E}"/>
                    </a:ext>
                  </a:extLst>
                </p:cNvPr>
                <p:cNvCxnSpPr>
                  <a:cxnSpLocks noChangeShapeType="1"/>
                  <a:endCxn id="267" idx="2"/>
                </p:cNvCxnSpPr>
                <p:nvPr/>
              </p:nvCxnSpPr>
              <p:spPr bwMode="auto">
                <a:xfrm flipH="1" flipV="1">
                  <a:off x="1871277" y="1735790"/>
                  <a:ext cx="3339" cy="124001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506B0037-1194-2FD1-FC34-EE7645B0C56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6049" y="1735790"/>
                  <a:ext cx="3337" cy="121362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</p:grpSp>
          <p:grpSp>
            <p:nvGrpSpPr>
              <p:cNvPr id="262" name="Group 145">
                <a:extLst>
                  <a:ext uri="{FF2B5EF4-FFF2-40B4-BE49-F238E27FC236}">
                    <a16:creationId xmlns:a16="http://schemas.microsoft.com/office/drawing/2014/main" id="{8743EDDA-3FF6-2725-1D31-0C8D260018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0362" y="2873352"/>
                <a:ext cx="464530" cy="409472"/>
                <a:chOff x="667045" y="1708643"/>
                <a:chExt cx="464530" cy="409472"/>
              </a:xfrm>
            </p:grpSpPr>
            <p:sp>
              <p:nvSpPr>
                <p:cNvPr id="263" name="Oval 262">
                  <a:extLst>
                    <a:ext uri="{FF2B5EF4-FFF2-40B4-BE49-F238E27FC236}">
                      <a16:creationId xmlns:a16="http://schemas.microsoft.com/office/drawing/2014/main" id="{2D2BD341-A009-0092-71BF-BF05D4EBC531}"/>
                    </a:ext>
                  </a:extLst>
                </p:cNvPr>
                <p:cNvSpPr/>
                <p:nvPr/>
              </p:nvSpPr>
              <p:spPr bwMode="auto">
                <a:xfrm>
                  <a:off x="706325" y="1787929"/>
                  <a:ext cx="356062" cy="232324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264" name="TextBox 147">
                  <a:extLst>
                    <a:ext uri="{FF2B5EF4-FFF2-40B4-BE49-F238E27FC236}">
                      <a16:creationId xmlns:a16="http://schemas.microsoft.com/office/drawing/2014/main" id="{CE081B28-46E1-CE6A-0214-799B6DD116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7045" y="1708643"/>
                  <a:ext cx="464530" cy="4094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Arial" panose="020B0604020202020204" pitchFamily="34" charset="0"/>
                    </a:rPr>
                    <a:t>3a</a:t>
                  </a:r>
                </a:p>
              </p:txBody>
            </p:sp>
          </p:grpSp>
        </p:grpSp>
        <p:cxnSp>
          <p:nvCxnSpPr>
            <p:cNvPr id="256" name="Straight Connector 139">
              <a:extLst>
                <a:ext uri="{FF2B5EF4-FFF2-40B4-BE49-F238E27FC236}">
                  <a16:creationId xmlns:a16="http://schemas.microsoft.com/office/drawing/2014/main" id="{1E86BEED-A4BA-C18D-C4BB-1DA6A23A65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7" name="Straight Connector 140">
              <a:extLst>
                <a:ext uri="{FF2B5EF4-FFF2-40B4-BE49-F238E27FC236}">
                  <a16:creationId xmlns:a16="http://schemas.microsoft.com/office/drawing/2014/main" id="{282288F9-AF3A-3672-CC65-75F490D19218}"/>
                </a:ext>
              </a:extLst>
            </p:cNvPr>
            <p:cNvCxnSpPr>
              <a:cxnSpLocks noChangeShapeType="1"/>
              <a:stCxn id="304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8" name="Straight Connector 141">
              <a:extLst>
                <a:ext uri="{FF2B5EF4-FFF2-40B4-BE49-F238E27FC236}">
                  <a16:creationId xmlns:a16="http://schemas.microsoft.com/office/drawing/2014/main" id="{D57AD75F-FC40-D5C4-5BBB-1E28BDAE10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9" name="Straight Connector 143">
              <a:extLst>
                <a:ext uri="{FF2B5EF4-FFF2-40B4-BE49-F238E27FC236}">
                  <a16:creationId xmlns:a16="http://schemas.microsoft.com/office/drawing/2014/main" id="{BCA57575-7026-DE51-BAC4-B81A773FB6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0" name="Straight Connector 325">
              <a:extLst>
                <a:ext uri="{FF2B5EF4-FFF2-40B4-BE49-F238E27FC236}">
                  <a16:creationId xmlns:a16="http://schemas.microsoft.com/office/drawing/2014/main" id="{D3EEE09B-EC17-31A7-47BA-69D124742C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596702" y="5224152"/>
              <a:ext cx="673647" cy="2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13" name="Straight Connector 127">
            <a:extLst>
              <a:ext uri="{FF2B5EF4-FFF2-40B4-BE49-F238E27FC236}">
                <a16:creationId xmlns:a16="http://schemas.microsoft.com/office/drawing/2014/main" id="{2C3FD993-6F98-0F4F-DAD5-25BA0B84FD8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484689" y="5008995"/>
            <a:ext cx="542925" cy="781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4" name="Straight Connector 128">
            <a:extLst>
              <a:ext uri="{FF2B5EF4-FFF2-40B4-BE49-F238E27FC236}">
                <a16:creationId xmlns:a16="http://schemas.microsoft.com/office/drawing/2014/main" id="{65E80D72-157B-71FD-6D59-BD9AFFAD443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961189" y="4948670"/>
            <a:ext cx="338137" cy="8239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5" name="TextBox 129">
            <a:extLst>
              <a:ext uri="{FF2B5EF4-FFF2-40B4-BE49-F238E27FC236}">
                <a16:creationId xmlns:a16="http://schemas.microsoft.com/office/drawing/2014/main" id="{A421A268-A803-6B83-3641-737B9EB7E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6" y="5107420"/>
            <a:ext cx="682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0"/>
                </a:solidFill>
                <a:latin typeface="Arial" panose="020B0604020202020204" pitchFamily="34" charset="0"/>
              </a:rPr>
              <a:t>AS2</a:t>
            </a:r>
          </a:p>
        </p:txBody>
      </p:sp>
      <p:sp>
        <p:nvSpPr>
          <p:cNvPr id="316" name="TextBox 130">
            <a:extLst>
              <a:ext uri="{FF2B5EF4-FFF2-40B4-BE49-F238E27FC236}">
                <a16:creationId xmlns:a16="http://schemas.microsoft.com/office/drawing/2014/main" id="{606D0B40-BD45-5D53-5370-E1B4F247E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1826" y="4019982"/>
            <a:ext cx="682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0"/>
                </a:solidFill>
                <a:latin typeface="Arial" panose="020B0604020202020204" pitchFamily="34" charset="0"/>
              </a:rPr>
              <a:t>AS3</a:t>
            </a:r>
          </a:p>
        </p:txBody>
      </p:sp>
      <p:sp>
        <p:nvSpPr>
          <p:cNvPr id="317" name="TextBox 131">
            <a:extLst>
              <a:ext uri="{FF2B5EF4-FFF2-40B4-BE49-F238E27FC236}">
                <a16:creationId xmlns:a16="http://schemas.microsoft.com/office/drawing/2014/main" id="{017CA6C0-8BD4-7ED6-BCF0-221477A17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714" y="4231120"/>
            <a:ext cx="682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0"/>
                </a:solidFill>
                <a:latin typeface="Arial" panose="020B0604020202020204" pitchFamily="34" charset="0"/>
              </a:rPr>
              <a:t>AS1</a:t>
            </a:r>
          </a:p>
        </p:txBody>
      </p:sp>
      <p:grpSp>
        <p:nvGrpSpPr>
          <p:cNvPr id="318" name="Group 10">
            <a:extLst>
              <a:ext uri="{FF2B5EF4-FFF2-40B4-BE49-F238E27FC236}">
                <a16:creationId xmlns:a16="http://schemas.microsoft.com/office/drawing/2014/main" id="{861E0EBA-4176-5AB6-8716-13E5EC907E00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5082020"/>
            <a:ext cx="1701800" cy="615950"/>
            <a:chOff x="7073692" y="5469792"/>
            <a:chExt cx="1701734" cy="616172"/>
          </a:xfrm>
        </p:grpSpPr>
        <p:grpSp>
          <p:nvGrpSpPr>
            <p:cNvPr id="319" name="Group 9">
              <a:extLst>
                <a:ext uri="{FF2B5EF4-FFF2-40B4-BE49-F238E27FC236}">
                  <a16:creationId xmlns:a16="http://schemas.microsoft.com/office/drawing/2014/main" id="{B4D7EF1A-B382-C138-1066-D0EFB09E49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73692" y="5469792"/>
              <a:ext cx="1701734" cy="616172"/>
              <a:chOff x="6946249" y="5096269"/>
              <a:chExt cx="1701734" cy="616172"/>
            </a:xfrm>
          </p:grpSpPr>
          <p:sp>
            <p:nvSpPr>
              <p:cNvPr id="321" name="Freeform 2">
                <a:extLst>
                  <a:ext uri="{FF2B5EF4-FFF2-40B4-BE49-F238E27FC236}">
                    <a16:creationId xmlns:a16="http://schemas.microsoft.com/office/drawing/2014/main" id="{22AC45DD-431A-A54C-1CED-41E99AD18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46249" y="5096269"/>
                <a:ext cx="1701734" cy="616172"/>
              </a:xfrm>
              <a:custGeom>
                <a:avLst/>
                <a:gdLst>
                  <a:gd name="T0" fmla="*/ 2147483646 w 11293"/>
                  <a:gd name="T1" fmla="*/ 2147483646 h 11127"/>
                  <a:gd name="T2" fmla="*/ 2147483646 w 11293"/>
                  <a:gd name="T3" fmla="*/ 2147483646 h 11127"/>
                  <a:gd name="T4" fmla="*/ 2147483646 w 11293"/>
                  <a:gd name="T5" fmla="*/ 2147483646 h 11127"/>
                  <a:gd name="T6" fmla="*/ 2147483646 w 11293"/>
                  <a:gd name="T7" fmla="*/ 2147483646 h 11127"/>
                  <a:gd name="T8" fmla="*/ 2147483646 w 11293"/>
                  <a:gd name="T9" fmla="*/ 2147483646 h 11127"/>
                  <a:gd name="T10" fmla="*/ 2147483646 w 11293"/>
                  <a:gd name="T11" fmla="*/ 2147483646 h 11127"/>
                  <a:gd name="T12" fmla="*/ 2147483646 w 11293"/>
                  <a:gd name="T13" fmla="*/ 2147483646 h 11127"/>
                  <a:gd name="T14" fmla="*/ 2147483646 w 11293"/>
                  <a:gd name="T15" fmla="*/ 2147483646 h 1112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22" name="Group 327">
                <a:extLst>
                  <a:ext uri="{FF2B5EF4-FFF2-40B4-BE49-F238E27FC236}">
                    <a16:creationId xmlns:a16="http://schemas.microsoft.com/office/drawing/2014/main" id="{4506FF0B-6EC4-01B4-2959-AEB159F682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326" name="Oval 325">
                  <a:extLst>
                    <a:ext uri="{FF2B5EF4-FFF2-40B4-BE49-F238E27FC236}">
                      <a16:creationId xmlns:a16="http://schemas.microsoft.com/office/drawing/2014/main" id="{7B283C27-BC88-505B-24AA-F8B5D9777B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4747" y="1693374"/>
                  <a:ext cx="1125032" cy="3218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262699"/>
                    </a:gs>
                    <a:gs pos="53000">
                      <a:srgbClr val="8585E0"/>
                    </a:gs>
                    <a:gs pos="100000">
                      <a:srgbClr val="262699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27" name="Rectangle 326">
                  <a:extLst>
                    <a:ext uri="{FF2B5EF4-FFF2-40B4-BE49-F238E27FC236}">
                      <a16:creationId xmlns:a16="http://schemas.microsoft.com/office/drawing/2014/main" id="{F06B7AB0-685A-A439-C6B4-865CF2AF5629}"/>
                    </a:ext>
                  </a:extLst>
                </p:cNvPr>
                <p:cNvSpPr/>
                <p:nvPr/>
              </p:nvSpPr>
              <p:spPr bwMode="auto">
                <a:xfrm>
                  <a:off x="1871407" y="1740865"/>
                  <a:ext cx="1128371" cy="116091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8" name="Oval 327">
                  <a:extLst>
                    <a:ext uri="{FF2B5EF4-FFF2-40B4-BE49-F238E27FC236}">
                      <a16:creationId xmlns:a16="http://schemas.microsoft.com/office/drawing/2014/main" id="{6F80039A-749B-A59A-472A-0D4A5FEE56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871407" y="1577282"/>
                  <a:ext cx="1125034" cy="32188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A8719C3B-C525-4A7C-EBFD-03DE5EA33CE6}"/>
                    </a:ext>
                  </a:extLst>
                </p:cNvPr>
                <p:cNvSpPr/>
                <p:nvPr/>
              </p:nvSpPr>
              <p:spPr bwMode="auto">
                <a:xfrm>
                  <a:off x="2158508" y="1674904"/>
                  <a:ext cx="550833" cy="158306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42288433-F381-66C9-5871-7744979812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1756" y="1635328"/>
                  <a:ext cx="664336" cy="110814"/>
                </a:xfrm>
                <a:custGeom>
                  <a:avLst/>
                  <a:gdLst>
                    <a:gd name="T0" fmla="*/ 0 w 3723451"/>
                    <a:gd name="T1" fmla="*/ 27111 h 932950"/>
                    <a:gd name="T2" fmla="*/ 116895 w 3723451"/>
                    <a:gd name="T3" fmla="*/ 320 h 932950"/>
                    <a:gd name="T4" fmla="*/ 331107 w 3723451"/>
                    <a:gd name="T5" fmla="*/ 61831 h 932950"/>
                    <a:gd name="T6" fmla="*/ 535468 w 3723451"/>
                    <a:gd name="T7" fmla="*/ 0 h 932950"/>
                    <a:gd name="T8" fmla="*/ 664336 w 3723451"/>
                    <a:gd name="T9" fmla="*/ 24605 h 932950"/>
                    <a:gd name="T10" fmla="*/ 568458 w 3723451"/>
                    <a:gd name="T11" fmla="*/ 54861 h 932950"/>
                    <a:gd name="T12" fmla="*/ 537590 w 3723451"/>
                    <a:gd name="T13" fmla="*/ 46704 h 932950"/>
                    <a:gd name="T14" fmla="*/ 334871 w 3723451"/>
                    <a:gd name="T15" fmla="*/ 110814 h 932950"/>
                    <a:gd name="T16" fmla="*/ 126966 w 3723451"/>
                    <a:gd name="T17" fmla="*/ 49062 h 932950"/>
                    <a:gd name="T18" fmla="*/ 93352 w 3723451"/>
                    <a:gd name="T19" fmla="*/ 55727 h 932950"/>
                    <a:gd name="T20" fmla="*/ 0 w 3723451"/>
                    <a:gd name="T21" fmla="*/ 27111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31" name="Freeform 330">
                  <a:extLst>
                    <a:ext uri="{FF2B5EF4-FFF2-40B4-BE49-F238E27FC236}">
                      <a16:creationId xmlns:a16="http://schemas.microsoft.com/office/drawing/2014/main" id="{181B0009-85E0-3823-429D-BD5384F036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5745" y="1730312"/>
                  <a:ext cx="243700" cy="97621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43700 w 1366596"/>
                    <a:gd name="T3" fmla="*/ 75434 h 809868"/>
                    <a:gd name="T4" fmla="*/ 154261 w 1366596"/>
                    <a:gd name="T5" fmla="*/ 97621 h 809868"/>
                    <a:gd name="T6" fmla="*/ 820 w 1366596"/>
                    <a:gd name="T7" fmla="*/ 51584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32" name="Freeform 331">
                  <a:extLst>
                    <a:ext uri="{FF2B5EF4-FFF2-40B4-BE49-F238E27FC236}">
                      <a16:creationId xmlns:a16="http://schemas.microsoft.com/office/drawing/2014/main" id="{A15E761F-C7E6-111A-FC07-C039F42EB7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91740" y="1732949"/>
                  <a:ext cx="240363" cy="94984"/>
                </a:xfrm>
                <a:custGeom>
                  <a:avLst/>
                  <a:gdLst>
                    <a:gd name="T0" fmla="*/ 237082 w 1348191"/>
                    <a:gd name="T1" fmla="*/ 0 h 791462"/>
                    <a:gd name="T2" fmla="*/ 240363 w 1348191"/>
                    <a:gd name="T3" fmla="*/ 45835 h 791462"/>
                    <a:gd name="T4" fmla="*/ 86957 w 1348191"/>
                    <a:gd name="T5" fmla="*/ 94984 h 791462"/>
                    <a:gd name="T6" fmla="*/ 0 w 1348191"/>
                    <a:gd name="T7" fmla="*/ 73447 h 791462"/>
                    <a:gd name="T8" fmla="*/ 237082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7FE4FBCE-CE43-B18B-BE59-80E855042362}"/>
                    </a:ext>
                  </a:extLst>
                </p:cNvPr>
                <p:cNvCxnSpPr>
                  <a:cxnSpLocks noChangeShapeType="1"/>
                  <a:endCxn id="328" idx="2"/>
                </p:cNvCxnSpPr>
                <p:nvPr/>
              </p:nvCxnSpPr>
              <p:spPr bwMode="auto">
                <a:xfrm flipH="1" flipV="1">
                  <a:off x="1871407" y="1735589"/>
                  <a:ext cx="3339" cy="124006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  <p:cxnSp>
              <p:nvCxnSpPr>
                <p:cNvPr id="334" name="Straight Connector 333">
                  <a:extLst>
                    <a:ext uri="{FF2B5EF4-FFF2-40B4-BE49-F238E27FC236}">
                      <a16:creationId xmlns:a16="http://schemas.microsoft.com/office/drawing/2014/main" id="{E4AE59E2-DC83-0D00-539E-6B63792D7EA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2996441" y="1735589"/>
                  <a:ext cx="3337" cy="121368"/>
                </a:xfrm>
                <a:prstGeom prst="line">
                  <a:avLst/>
                </a:prstGeom>
                <a:noFill/>
                <a:ln w="6350">
                  <a:solidFill>
                    <a:schemeClr val="tx1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</p:spPr>
            </p:cxnSp>
          </p:grpSp>
          <p:grpSp>
            <p:nvGrpSpPr>
              <p:cNvPr id="323" name="Group 370">
                <a:extLst>
                  <a:ext uri="{FF2B5EF4-FFF2-40B4-BE49-F238E27FC236}">
                    <a16:creationId xmlns:a16="http://schemas.microsoft.com/office/drawing/2014/main" id="{F811F2C2-BC92-137B-B280-D56DA76FA7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324" name="Oval 323">
                  <a:extLst>
                    <a:ext uri="{FF2B5EF4-FFF2-40B4-BE49-F238E27FC236}">
                      <a16:creationId xmlns:a16="http://schemas.microsoft.com/office/drawing/2014/main" id="{BC7AB1DB-791E-EAB3-F8EA-15C0F4C7C146}"/>
                    </a:ext>
                  </a:extLst>
                </p:cNvPr>
                <p:cNvSpPr/>
                <p:nvPr/>
              </p:nvSpPr>
              <p:spPr bwMode="auto">
                <a:xfrm>
                  <a:off x="724801" y="1787792"/>
                  <a:ext cx="356145" cy="232336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/>
                </a:p>
              </p:txBody>
            </p:sp>
            <p:sp>
              <p:nvSpPr>
                <p:cNvPr id="325" name="TextBox 372">
                  <a:extLst>
                    <a:ext uri="{FF2B5EF4-FFF2-40B4-BE49-F238E27FC236}">
                      <a16:creationId xmlns:a16="http://schemas.microsoft.com/office/drawing/2014/main" id="{5706478F-391E-C058-C321-D0AFAC863AA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itchFamily="2" charset="2"/>
                    <a:buChar char="v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  <a:cs typeface="Calibri" panose="020F050202020403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Arial" panose="020B0604020202020204" pitchFamily="34" charset="0"/>
                    </a:rPr>
                    <a:t>  X</a:t>
                  </a:r>
                </a:p>
              </p:txBody>
            </p:sp>
          </p:grpSp>
        </p:grpSp>
        <p:cxnSp>
          <p:nvCxnSpPr>
            <p:cNvPr id="320" name="Straight Connector 401">
              <a:extLst>
                <a:ext uri="{FF2B5EF4-FFF2-40B4-BE49-F238E27FC236}">
                  <a16:creationId xmlns:a16="http://schemas.microsoft.com/office/drawing/2014/main" id="{ED0E4750-04B2-8344-0346-2FE9DEC7AB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33690" y="5764030"/>
              <a:ext cx="870024" cy="9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3B5F39BA-A740-7504-3491-FE63373DBDFB}"/>
              </a:ext>
            </a:extLst>
          </p:cNvPr>
          <p:cNvGrpSpPr>
            <a:grpSpLocks/>
          </p:cNvGrpSpPr>
          <p:nvPr/>
        </p:nvGrpSpPr>
        <p:grpSpPr bwMode="auto">
          <a:xfrm>
            <a:off x="7151688" y="5047095"/>
            <a:ext cx="1009650" cy="768350"/>
            <a:chOff x="5713444" y="2379268"/>
            <a:chExt cx="1009362" cy="768350"/>
          </a:xfrm>
        </p:grpSpPr>
        <p:sp>
          <p:nvSpPr>
            <p:cNvPr id="336" name="AutoShape 118">
              <a:extLst>
                <a:ext uri="{FF2B5EF4-FFF2-40B4-BE49-F238E27FC236}">
                  <a16:creationId xmlns:a16="http://schemas.microsoft.com/office/drawing/2014/main" id="{ACEF8798-4999-4C12-6CF9-72B510C0E1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002035">
              <a:off x="5467382" y="2625330"/>
              <a:ext cx="768350" cy="276226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37" name="Text Box 119">
              <a:extLst>
                <a:ext uri="{FF2B5EF4-FFF2-40B4-BE49-F238E27FC236}">
                  <a16:creationId xmlns:a16="http://schemas.microsoft.com/office/drawing/2014/main" id="{287C29EA-C2AC-86A8-EA88-1294125DE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6829" y="2784958"/>
              <a:ext cx="81597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CC0000"/>
                  </a:solidFill>
                  <a:latin typeface="Arial" panose="020B0604020202020204" pitchFamily="34" charset="0"/>
                </a:rPr>
                <a:t>AS3,X </a:t>
              </a:r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6F204718-ECF2-8F0D-4DCF-00809ADECB81}"/>
              </a:ext>
            </a:extLst>
          </p:cNvPr>
          <p:cNvGrpSpPr>
            <a:grpSpLocks/>
          </p:cNvGrpSpPr>
          <p:nvPr/>
        </p:nvGrpSpPr>
        <p:grpSpPr bwMode="auto">
          <a:xfrm>
            <a:off x="3467101" y="5107420"/>
            <a:ext cx="1260475" cy="887412"/>
            <a:chOff x="2028828" y="2438604"/>
            <a:chExt cx="1260153" cy="888605"/>
          </a:xfrm>
        </p:grpSpPr>
        <p:sp>
          <p:nvSpPr>
            <p:cNvPr id="339" name="Text Box 119">
              <a:extLst>
                <a:ext uri="{FF2B5EF4-FFF2-40B4-BE49-F238E27FC236}">
                  <a16:creationId xmlns:a16="http://schemas.microsoft.com/office/drawing/2014/main" id="{CC23070F-38F9-517D-9C2B-F91DAA2C0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8828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CC0000"/>
                  </a:solidFill>
                  <a:latin typeface="Arial" panose="020B0604020202020204" pitchFamily="34" charset="0"/>
                </a:rPr>
                <a:t>AS2,AS3,X </a:t>
              </a:r>
            </a:p>
          </p:txBody>
        </p:sp>
        <p:sp>
          <p:nvSpPr>
            <p:cNvPr id="340" name="AutoShape 118">
              <a:extLst>
                <a:ext uri="{FF2B5EF4-FFF2-40B4-BE49-F238E27FC236}">
                  <a16:creationId xmlns:a16="http://schemas.microsoft.com/office/drawing/2014/main" id="{A46D0DA5-2FA6-2DB0-160E-52DAB004B0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445218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A0F40EAC-9B29-D376-1B79-DC684C3CC9BD}"/>
              </a:ext>
            </a:extLst>
          </p:cNvPr>
          <p:cNvGrpSpPr>
            <a:grpSpLocks/>
          </p:cNvGrpSpPr>
          <p:nvPr/>
        </p:nvGrpSpPr>
        <p:grpSpPr bwMode="auto">
          <a:xfrm>
            <a:off x="2838450" y="4586721"/>
            <a:ext cx="1112838" cy="803275"/>
            <a:chOff x="4057381" y="2820739"/>
            <a:chExt cx="1113456" cy="802903"/>
          </a:xfrm>
        </p:grpSpPr>
        <p:cxnSp>
          <p:nvCxnSpPr>
            <p:cNvPr id="342" name="Straight Arrow Connector 2">
              <a:extLst>
                <a:ext uri="{FF2B5EF4-FFF2-40B4-BE49-F238E27FC236}">
                  <a16:creationId xmlns:a16="http://schemas.microsoft.com/office/drawing/2014/main" id="{26372D82-2520-26E5-9987-AF2B68EE8F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3" name="Straight Arrow Connector 329">
              <a:extLst>
                <a:ext uri="{FF2B5EF4-FFF2-40B4-BE49-F238E27FC236}">
                  <a16:creationId xmlns:a16="http://schemas.microsoft.com/office/drawing/2014/main" id="{216D8191-5D43-DD04-5CC4-36350E7067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057381" y="3181458"/>
              <a:ext cx="1059565" cy="14171"/>
            </a:xfrm>
            <a:prstGeom prst="straightConnector1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4" name="Straight Arrow Connector 330">
              <a:extLst>
                <a:ext uri="{FF2B5EF4-FFF2-40B4-BE49-F238E27FC236}">
                  <a16:creationId xmlns:a16="http://schemas.microsoft.com/office/drawing/2014/main" id="{0C4BF716-1F4F-ACC3-A90D-E8F8958808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741068" y="3344630"/>
              <a:ext cx="409376" cy="279012"/>
            </a:xfrm>
            <a:prstGeom prst="straightConnector1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45" name="Straight Connector 324">
            <a:extLst>
              <a:ext uri="{FF2B5EF4-FFF2-40B4-BE49-F238E27FC236}">
                <a16:creationId xmlns:a16="http://schemas.microsoft.com/office/drawing/2014/main" id="{3FB447D1-3D7D-2C3D-5A96-22D1ECEDD635}"/>
              </a:ext>
            </a:extLst>
          </p:cNvPr>
          <p:cNvCxnSpPr>
            <a:cxnSpLocks noChangeShapeType="1"/>
            <a:stCxn id="264" idx="1"/>
          </p:cNvCxnSpPr>
          <p:nvPr/>
        </p:nvCxnSpPr>
        <p:spPr bwMode="auto">
          <a:xfrm flipH="1">
            <a:off x="4484689" y="4845923"/>
            <a:ext cx="2717009" cy="12497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E7ED763F-5BD5-ED3D-7057-7A688D9704B6}"/>
              </a:ext>
            </a:extLst>
          </p:cNvPr>
          <p:cNvGrpSpPr>
            <a:grpSpLocks/>
          </p:cNvGrpSpPr>
          <p:nvPr/>
        </p:nvGrpSpPr>
        <p:grpSpPr bwMode="auto">
          <a:xfrm>
            <a:off x="6056313" y="4289775"/>
            <a:ext cx="943099" cy="547771"/>
            <a:chOff x="4617960" y="1621243"/>
            <a:chExt cx="942885" cy="548040"/>
          </a:xfrm>
        </p:grpSpPr>
        <p:sp>
          <p:nvSpPr>
            <p:cNvPr id="347" name="AutoShape 118">
              <a:extLst>
                <a:ext uri="{FF2B5EF4-FFF2-40B4-BE49-F238E27FC236}">
                  <a16:creationId xmlns:a16="http://schemas.microsoft.com/office/drawing/2014/main" id="{D74EB1D8-2C73-7C76-0A8C-AC4309749C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6819">
              <a:off x="4617960" y="1893058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48" name="TextBox 1">
              <a:extLst>
                <a:ext uri="{FF2B5EF4-FFF2-40B4-BE49-F238E27FC236}">
                  <a16:creationId xmlns:a16="http://schemas.microsoft.com/office/drawing/2014/main" id="{59724192-3C0D-83F9-FA77-03D98FB388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418560">
              <a:off x="4796066" y="1621243"/>
              <a:ext cx="764779" cy="338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CC0000"/>
                  </a:solidFill>
                  <a:latin typeface="Arial" panose="020B0604020202020204" pitchFamily="34" charset="0"/>
                </a:rPr>
                <a:t>AS3,X</a:t>
              </a:r>
            </a:p>
          </p:txBody>
        </p:sp>
      </p:grpSp>
      <p:sp>
        <p:nvSpPr>
          <p:cNvPr id="349" name="TextBox 348">
            <a:extLst>
              <a:ext uri="{FF2B5EF4-FFF2-40B4-BE49-F238E27FC236}">
                <a16:creationId xmlns:a16="http://schemas.microsoft.com/office/drawing/2014/main" id="{1A86CBF1-DE6E-1328-2329-C613F21BB5F7}"/>
              </a:ext>
            </a:extLst>
          </p:cNvPr>
          <p:cNvSpPr txBox="1">
            <a:spLocks noChangeArrowheads="1"/>
          </p:cNvSpPr>
          <p:nvPr/>
        </p:nvSpPr>
        <p:spPr bwMode="auto">
          <a:xfrm rot="21418560">
            <a:off x="3745818" y="4421412"/>
            <a:ext cx="76495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solidFill>
                  <a:srgbClr val="CC0000"/>
                </a:solidFill>
                <a:latin typeface="Arial" panose="020B0604020202020204" pitchFamily="34" charset="0"/>
              </a:rPr>
              <a:t>AS3,X</a:t>
            </a:r>
          </a:p>
        </p:txBody>
      </p: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79A4A4B3-6018-F515-89DB-FB6B579ECB37}"/>
              </a:ext>
            </a:extLst>
          </p:cNvPr>
          <p:cNvGrpSpPr>
            <a:grpSpLocks/>
          </p:cNvGrpSpPr>
          <p:nvPr/>
        </p:nvGrpSpPr>
        <p:grpSpPr bwMode="auto">
          <a:xfrm>
            <a:off x="2587626" y="4550207"/>
            <a:ext cx="1300163" cy="1068388"/>
            <a:chOff x="1149470" y="2245331"/>
            <a:chExt cx="1300492" cy="1068501"/>
          </a:xfrm>
        </p:grpSpPr>
        <p:sp>
          <p:nvSpPr>
            <p:cNvPr id="351" name="TextBox 8">
              <a:extLst>
                <a:ext uri="{FF2B5EF4-FFF2-40B4-BE49-F238E27FC236}">
                  <a16:creationId xmlns:a16="http://schemas.microsoft.com/office/drawing/2014/main" id="{CA6538FE-09C2-8FC8-A95A-817C5C8AC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447" y="2998844"/>
              <a:ext cx="2845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52" name="TextBox 335">
              <a:extLst>
                <a:ext uri="{FF2B5EF4-FFF2-40B4-BE49-F238E27FC236}">
                  <a16:creationId xmlns:a16="http://schemas.microsoft.com/office/drawing/2014/main" id="{2A23CAAA-AFAE-E7B7-6E11-719BB3FA8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8923" y="3006055"/>
              <a:ext cx="2845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53" name="TextBox 337">
              <a:extLst>
                <a:ext uri="{FF2B5EF4-FFF2-40B4-BE49-F238E27FC236}">
                  <a16:creationId xmlns:a16="http://schemas.microsoft.com/office/drawing/2014/main" id="{11E6F6E2-3DF8-77DE-45CC-98D5DC026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54" name="TextBox 338">
              <a:extLst>
                <a:ext uri="{FF2B5EF4-FFF2-40B4-BE49-F238E27FC236}">
                  <a16:creationId xmlns:a16="http://schemas.microsoft.com/office/drawing/2014/main" id="{AF40405F-CA39-8BC2-FC33-B022F9657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9883" y="2623598"/>
              <a:ext cx="2845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2</a:t>
              </a:r>
            </a:p>
          </p:txBody>
        </p:sp>
      </p:grp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B18C19B2-4533-31B9-3331-F595510C21C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657600" y="5466195"/>
            <a:ext cx="300038" cy="182562"/>
          </a:xfrm>
          <a:prstGeom prst="straightConnector1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6" name="TextBox 17">
            <a:extLst>
              <a:ext uri="{FF2B5EF4-FFF2-40B4-BE49-F238E27FC236}">
                <a16:creationId xmlns:a16="http://schemas.microsoft.com/office/drawing/2014/main" id="{F3E0928F-6C71-312E-919E-D3C3B09EC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4076" y="6034521"/>
            <a:ext cx="13001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physical link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A2A520D4-C832-5CF3-0516-B40DA126D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1" y="5164570"/>
            <a:ext cx="11223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local link interfaces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at 1a, 1d</a:t>
            </a:r>
          </a:p>
        </p:txBody>
      </p: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36109998-E7A4-6DA4-80AB-CDC3087760B8}"/>
              </a:ext>
            </a:extLst>
          </p:cNvPr>
          <p:cNvGrpSpPr>
            <a:grpSpLocks/>
          </p:cNvGrpSpPr>
          <p:nvPr/>
        </p:nvGrpSpPr>
        <p:grpSpPr bwMode="auto">
          <a:xfrm>
            <a:off x="2770189" y="4735945"/>
            <a:ext cx="960437" cy="811212"/>
            <a:chOff x="1331251" y="2431189"/>
            <a:chExt cx="961014" cy="810304"/>
          </a:xfrm>
        </p:grpSpPr>
        <p:cxnSp>
          <p:nvCxnSpPr>
            <p:cNvPr id="359" name="Straight Connector 15">
              <a:extLst>
                <a:ext uri="{FF2B5EF4-FFF2-40B4-BE49-F238E27FC236}">
                  <a16:creationId xmlns:a16="http://schemas.microsoft.com/office/drawing/2014/main" id="{595FFA60-33B3-A5BB-8A47-3162C5D6CF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331251" y="2431189"/>
              <a:ext cx="48189" cy="810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0" name="Straight Connector 334">
              <a:extLst>
                <a:ext uri="{FF2B5EF4-FFF2-40B4-BE49-F238E27FC236}">
                  <a16:creationId xmlns:a16="http://schemas.microsoft.com/office/drawing/2014/main" id="{3008F14A-5ABD-A40C-66E6-CAAAE96B26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81115" y="2850809"/>
              <a:ext cx="104212" cy="3726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1" name="Straight Connector 341">
              <a:extLst>
                <a:ext uri="{FF2B5EF4-FFF2-40B4-BE49-F238E27FC236}">
                  <a16:creationId xmlns:a16="http://schemas.microsoft.com/office/drawing/2014/main" id="{DA4326F5-F01A-3DF9-7769-DDC1306CA8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86317" y="3162800"/>
              <a:ext cx="168546" cy="588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2" name="Straight Connector 342">
              <a:extLst>
                <a:ext uri="{FF2B5EF4-FFF2-40B4-BE49-F238E27FC236}">
                  <a16:creationId xmlns:a16="http://schemas.microsoft.com/office/drawing/2014/main" id="{9F5F41FC-DBD1-A689-8F5E-B1B288E0CA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64971" y="3164519"/>
              <a:ext cx="927294" cy="678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400769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" grpId="0"/>
      <p:bldP spid="349" grpId="1"/>
      <p:bldP spid="357" grpId="0"/>
      <p:bldP spid="35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2CB0A-2D11-E0DB-5E77-B8A3550A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57D51E-0C01-1A7B-843F-A19695D6E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  <a:p>
            <a:pPr lvl="1"/>
            <a:r>
              <a:rPr lang="en-US" dirty="0"/>
              <a:t>Broadcast (shared) channel: collision without coordination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channel partitioning: TDMA, FDMA, CDMA</a:t>
            </a:r>
          </a:p>
          <a:p>
            <a:pPr lvl="1"/>
            <a:r>
              <a:rPr lang="en-US" dirty="0"/>
              <a:t>Random access: Slotted-ALOHA, ALOHA, CSMA, CSMA/CD, CSMA/CA </a:t>
            </a:r>
          </a:p>
          <a:p>
            <a:pPr lvl="1"/>
            <a:r>
              <a:rPr lang="en-US" dirty="0"/>
              <a:t>“taking turns”: Polling, token</a:t>
            </a:r>
          </a:p>
          <a:p>
            <a:pPr lvl="1"/>
            <a:r>
              <a:rPr lang="en-US" dirty="0"/>
              <a:t>Ethernet uses?</a:t>
            </a:r>
          </a:p>
          <a:p>
            <a:r>
              <a:rPr lang="en-US" dirty="0"/>
              <a:t>How to pick a proper multiple access protocol?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42E5B2-E6A4-D3A3-BB37-FDC1BE38B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 6: Link layer + Multiple Access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ACA9B-E381-E5E3-F6B6-BBEFF8CB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42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1E7CA-B156-4ECE-0170-0C3EB73D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29451-F1FC-9FD8-5EDC-BFAF3AA83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6"/>
            <a:ext cx="10515600" cy="5362574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sz="5100" dirty="0"/>
              <a:t>Framing</a:t>
            </a:r>
          </a:p>
          <a:p>
            <a:pPr lvl="1">
              <a:defRPr/>
            </a:pPr>
            <a:r>
              <a:rPr lang="en-US" sz="5100" dirty="0"/>
              <a:t>Ethernet frame format</a:t>
            </a:r>
          </a:p>
          <a:p>
            <a:pPr lvl="1">
              <a:defRPr/>
            </a:pPr>
            <a:r>
              <a:rPr lang="en-US" sz="5100" dirty="0"/>
              <a:t>MAC address: 48 bit</a:t>
            </a:r>
          </a:p>
          <a:p>
            <a:pPr lvl="2">
              <a:defRPr/>
            </a:pPr>
            <a:r>
              <a:rPr lang="en-US" sz="4400" dirty="0">
                <a:solidFill>
                  <a:srgbClr val="C00000"/>
                </a:solidFill>
              </a:rPr>
              <a:t>Flat </a:t>
            </a:r>
            <a:r>
              <a:rPr lang="en-US" sz="4400" dirty="0"/>
              <a:t> (how different from IP address?)</a:t>
            </a:r>
          </a:p>
          <a:p>
            <a:pPr lvl="2">
              <a:defRPr/>
            </a:pPr>
            <a:r>
              <a:rPr lang="en-US" sz="4400" dirty="0"/>
              <a:t>How to learn MAC address? </a:t>
            </a:r>
            <a:r>
              <a:rPr lang="en-US" sz="4400" dirty="0">
                <a:solidFill>
                  <a:srgbClr val="C00000"/>
                </a:solidFill>
              </a:rPr>
              <a:t>(ARP)</a:t>
            </a:r>
          </a:p>
          <a:p>
            <a:pPr>
              <a:defRPr/>
            </a:pPr>
            <a:r>
              <a:rPr lang="en-US" sz="5100" dirty="0"/>
              <a:t>Link layer: </a:t>
            </a:r>
            <a:r>
              <a:rPr lang="en-US" sz="5100" b="1" dirty="0">
                <a:solidFill>
                  <a:srgbClr val="C00000"/>
                </a:solidFill>
              </a:rPr>
              <a:t>plug-and-play</a:t>
            </a:r>
          </a:p>
          <a:p>
            <a:r>
              <a:rPr lang="en-US" sz="5100" dirty="0"/>
              <a:t>Ethernet Switch</a:t>
            </a:r>
          </a:p>
          <a:p>
            <a:pPr lvl="1"/>
            <a:r>
              <a:rPr lang="en-US" sz="4200" dirty="0"/>
              <a:t>How to build forwarding table (hw5)</a:t>
            </a:r>
          </a:p>
          <a:p>
            <a:pPr lvl="1"/>
            <a:r>
              <a:rPr lang="en-US" sz="4200" dirty="0"/>
              <a:t>How to map the interface and MAC address</a:t>
            </a:r>
          </a:p>
          <a:p>
            <a:pPr lvl="1"/>
            <a:r>
              <a:rPr lang="en-US" sz="4200" dirty="0">
                <a:solidFill>
                  <a:srgbClr val="C00000"/>
                </a:solidFill>
              </a:rPr>
              <a:t> </a:t>
            </a:r>
            <a:r>
              <a:rPr lang="en-US" sz="4200" b="1" dirty="0">
                <a:solidFill>
                  <a:srgbClr val="C00000"/>
                </a:solidFill>
              </a:rPr>
              <a:t>Self-learning </a:t>
            </a:r>
          </a:p>
          <a:p>
            <a:pPr lvl="2"/>
            <a:r>
              <a:rPr lang="en-US" sz="3800" dirty="0"/>
              <a:t>When to flood</a:t>
            </a:r>
          </a:p>
          <a:p>
            <a:pPr lvl="2"/>
            <a:r>
              <a:rPr lang="en-US" sz="3800" dirty="0"/>
              <a:t>When to selective forward?</a:t>
            </a:r>
          </a:p>
          <a:p>
            <a:pPr lvl="1"/>
            <a:r>
              <a:rPr lang="en-US" sz="4600" dirty="0"/>
              <a:t>Collision</a:t>
            </a:r>
          </a:p>
          <a:p>
            <a:pPr>
              <a:defRPr/>
            </a:pPr>
            <a:endParaRPr lang="en-US" b="1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E3E01-C549-ABFC-DB55-2FDCE152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Ch6: link-layer framing &amp; addressing  </a:t>
            </a:r>
          </a:p>
        </p:txBody>
      </p:sp>
      <p:grpSp>
        <p:nvGrpSpPr>
          <p:cNvPr id="4" name="Group 51">
            <a:extLst>
              <a:ext uri="{FF2B5EF4-FFF2-40B4-BE49-F238E27FC236}">
                <a16:creationId xmlns:a16="http://schemas.microsoft.com/office/drawing/2014/main" id="{E6B8871F-2190-1CC1-16B8-7D2FAD0143BF}"/>
              </a:ext>
            </a:extLst>
          </p:cNvPr>
          <p:cNvGrpSpPr>
            <a:grpSpLocks/>
          </p:cNvGrpSpPr>
          <p:nvPr/>
        </p:nvGrpSpPr>
        <p:grpSpPr bwMode="auto">
          <a:xfrm>
            <a:off x="5307919" y="1486312"/>
            <a:ext cx="6291262" cy="993775"/>
            <a:chOff x="940711" y="4902593"/>
            <a:chExt cx="6291001" cy="992895"/>
          </a:xfrm>
        </p:grpSpPr>
        <p:sp>
          <p:nvSpPr>
            <p:cNvPr id="5" name="Line 10">
              <a:extLst>
                <a:ext uri="{FF2B5EF4-FFF2-40B4-BE49-F238E27FC236}">
                  <a16:creationId xmlns:a16="http://schemas.microsoft.com/office/drawing/2014/main" id="{906C8E89-1279-28F1-3D73-8A7DF5FD6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DEF55BB7-8FE7-1CFB-F39E-B49DBED61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7" name="Straight Connector 3">
              <a:extLst>
                <a:ext uri="{FF2B5EF4-FFF2-40B4-BE49-F238E27FC236}">
                  <a16:creationId xmlns:a16="http://schemas.microsoft.com/office/drawing/2014/main" id="{FDD9BED7-828A-B785-B71D-CB0EED4383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" name="Straight Connector 32">
              <a:extLst>
                <a:ext uri="{FF2B5EF4-FFF2-40B4-BE49-F238E27FC236}">
                  <a16:creationId xmlns:a16="http://schemas.microsoft.com/office/drawing/2014/main" id="{3983F25C-AEDD-5389-2147-748D4D196E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9" name="Straight Connector 33">
              <a:extLst>
                <a:ext uri="{FF2B5EF4-FFF2-40B4-BE49-F238E27FC236}">
                  <a16:creationId xmlns:a16="http://schemas.microsoft.com/office/drawing/2014/main" id="{8DF4FB10-AB20-02B2-169E-BB67188F1E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0" name="Straight Connector 34">
              <a:extLst>
                <a:ext uri="{FF2B5EF4-FFF2-40B4-BE49-F238E27FC236}">
                  <a16:creationId xmlns:a16="http://schemas.microsoft.com/office/drawing/2014/main" id="{6BDA807A-75B8-72A9-1652-5C52C0E928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1" name="Straight Connector 35">
              <a:extLst>
                <a:ext uri="{FF2B5EF4-FFF2-40B4-BE49-F238E27FC236}">
                  <a16:creationId xmlns:a16="http://schemas.microsoft.com/office/drawing/2014/main" id="{03952B2E-A150-B9B9-FAFE-03D720D222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79BF043D-DB1E-02D5-897D-AE28C7447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352" y="5332220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>
                  <a:solidFill>
                    <a:schemeClr val="bg1"/>
                  </a:solidFill>
                  <a:latin typeface="Arial" charset="0"/>
                  <a:cs typeface="Arial" charset="0"/>
                </a:rPr>
                <a:t>dest.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3" name="TextBox 37">
              <a:extLst>
                <a:ext uri="{FF2B5EF4-FFF2-40B4-BE49-F238E27FC236}">
                  <a16:creationId xmlns:a16="http://schemas.microsoft.com/office/drawing/2014/main" id="{D0B861AF-69D8-F0A5-012B-51AA75FF0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3645" y="5340803"/>
              <a:ext cx="84481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>
                  <a:solidFill>
                    <a:schemeClr val="bg1"/>
                  </a:solidFill>
                  <a:latin typeface="Arial" charset="0"/>
                  <a:cs typeface="Arial" charset="0"/>
                </a:rPr>
                <a:t>source</a:t>
              </a:r>
            </a:p>
            <a:p>
              <a:pPr algn="ctr">
                <a:lnSpc>
                  <a:spcPts val="1200"/>
                </a:lnSpc>
              </a:pPr>
              <a:r>
                <a:rPr lang="en-US" sz="1400">
                  <a:solidFill>
                    <a:schemeClr val="bg1"/>
                  </a:solidFill>
                  <a:latin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14" name="TextBox 38">
              <a:extLst>
                <a:ext uri="{FF2B5EF4-FFF2-40B4-BE49-F238E27FC236}">
                  <a16:creationId xmlns:a16="http://schemas.microsoft.com/office/drawing/2014/main" id="{82CBDB0F-132E-3D8D-D860-21418E5D1B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3534" y="5353451"/>
              <a:ext cx="1377407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charset="0"/>
                  <a:cs typeface="Arial" charset="0"/>
                </a:rPr>
                <a:t>data (payload)</a:t>
              </a:r>
            </a:p>
          </p:txBody>
        </p:sp>
        <p:sp>
          <p:nvSpPr>
            <p:cNvPr id="15" name="TextBox 39">
              <a:extLst>
                <a:ext uri="{FF2B5EF4-FFF2-40B4-BE49-F238E27FC236}">
                  <a16:creationId xmlns:a16="http://schemas.microsoft.com/office/drawing/2014/main" id="{CF7FCA11-7A5F-5703-F2DC-63108E2A4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>
                  <a:solidFill>
                    <a:schemeClr val="bg1"/>
                  </a:solidFill>
                  <a:latin typeface="Arial" charset="0"/>
                  <a:cs typeface="Arial" charset="0"/>
                </a:rPr>
                <a:t>CRC</a:t>
              </a:r>
            </a:p>
          </p:txBody>
        </p:sp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FAC5BE0A-50E8-1E54-FBFE-84F5BCB0D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711" y="5444340"/>
              <a:ext cx="10701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>
                  <a:solidFill>
                    <a:schemeClr val="bg1"/>
                  </a:solidFill>
                  <a:latin typeface="Arial" charset="0"/>
                  <a:cs typeface="Arial" charset="0"/>
                </a:rPr>
                <a:t>preamble</a:t>
              </a:r>
            </a:p>
          </p:txBody>
        </p:sp>
        <p:sp>
          <p:nvSpPr>
            <p:cNvPr id="17" name="Text Box 9">
              <a:extLst>
                <a:ext uri="{FF2B5EF4-FFF2-40B4-BE49-F238E27FC236}">
                  <a16:creationId xmlns:a16="http://schemas.microsoft.com/office/drawing/2014/main" id="{979AF6CB-EA0D-C575-8A51-440AC963F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600">
                  <a:solidFill>
                    <a:srgbClr val="000000"/>
                  </a:solidFill>
                  <a:latin typeface="Arial" charset="0"/>
                </a:rPr>
                <a:t>type</a:t>
              </a:r>
            </a:p>
          </p:txBody>
        </p:sp>
      </p:grpSp>
      <p:grpSp>
        <p:nvGrpSpPr>
          <p:cNvPr id="18" name="Group 34">
            <a:extLst>
              <a:ext uri="{FF2B5EF4-FFF2-40B4-BE49-F238E27FC236}">
                <a16:creationId xmlns:a16="http://schemas.microsoft.com/office/drawing/2014/main" id="{A8173F84-2E4E-8896-2A51-7AA2796F6CD0}"/>
              </a:ext>
            </a:extLst>
          </p:cNvPr>
          <p:cNvGrpSpPr>
            <a:grpSpLocks/>
          </p:cNvGrpSpPr>
          <p:nvPr/>
        </p:nvGrpSpPr>
        <p:grpSpPr bwMode="auto">
          <a:xfrm>
            <a:off x="7661567" y="2854036"/>
            <a:ext cx="3076895" cy="3929336"/>
            <a:chOff x="5106576" y="1425893"/>
            <a:chExt cx="3710855" cy="4352878"/>
          </a:xfrm>
        </p:grpSpPr>
        <p:sp>
          <p:nvSpPr>
            <p:cNvPr id="19" name="Text Box 34">
              <a:extLst>
                <a:ext uri="{FF2B5EF4-FFF2-40B4-BE49-F238E27FC236}">
                  <a16:creationId xmlns:a16="http://schemas.microsoft.com/office/drawing/2014/main" id="{46596E22-948F-7424-68FF-E25242A3D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7861" y="5062772"/>
              <a:ext cx="3269570" cy="715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>
                  <a:latin typeface="Arial" charset="0"/>
                  <a:cs typeface="Arial" charset="0"/>
                </a:rPr>
                <a:t>switch with six interfaces</a:t>
              </a:r>
            </a:p>
            <a:p>
              <a:pPr algn="ctr">
                <a:defRPr/>
              </a:pPr>
              <a:r>
                <a:rPr lang="en-US">
                  <a:latin typeface="Arial" charset="0"/>
                  <a:cs typeface="Arial" charset="0"/>
                </a:rPr>
                <a:t>(</a:t>
              </a:r>
              <a:r>
                <a:rPr lang="en-US">
                  <a:solidFill>
                    <a:srgbClr val="FF0000"/>
                  </a:solidFill>
                  <a:latin typeface="Arial" charset="0"/>
                  <a:cs typeface="Arial" charset="0"/>
                </a:rPr>
                <a:t>1,2,3,4,5,6</a:t>
              </a:r>
              <a:r>
                <a:rPr lang="en-US">
                  <a:latin typeface="Arial" charset="0"/>
                  <a:cs typeface="Arial" charset="0"/>
                </a:rPr>
                <a:t>)</a:t>
              </a:r>
              <a:r>
                <a:rPr lang="en-US" i="0">
                  <a:latin typeface="Arial" charset="0"/>
                  <a:cs typeface="Arial" charset="0"/>
                </a:rPr>
                <a:t>  </a:t>
              </a:r>
            </a:p>
          </p:txBody>
        </p:sp>
        <p:grpSp>
          <p:nvGrpSpPr>
            <p:cNvPr id="20" name="Group 36">
              <a:extLst>
                <a:ext uri="{FF2B5EF4-FFF2-40B4-BE49-F238E27FC236}">
                  <a16:creationId xmlns:a16="http://schemas.microsoft.com/office/drawing/2014/main" id="{A74307D8-82C8-C18B-65C7-D3DB06757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6576" y="1425893"/>
              <a:ext cx="3664919" cy="3639631"/>
              <a:chOff x="731524" y="1819788"/>
              <a:chExt cx="3664919" cy="3639631"/>
            </a:xfrm>
          </p:grpSpPr>
          <p:sp>
            <p:nvSpPr>
              <p:cNvPr id="21" name="Text Box 23">
                <a:extLst>
                  <a:ext uri="{FF2B5EF4-FFF2-40B4-BE49-F238E27FC236}">
                    <a16:creationId xmlns:a16="http://schemas.microsoft.com/office/drawing/2014/main" id="{07907DC3-0894-621F-A3F7-C5A68538D6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408309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latin typeface="Arial" charset="0"/>
                    <a:cs typeface="Arial" charset="0"/>
                  </a:rPr>
                  <a:t>A</a:t>
                </a:r>
              </a:p>
            </p:txBody>
          </p:sp>
          <p:sp>
            <p:nvSpPr>
              <p:cNvPr id="22" name="Text Box 24">
                <a:extLst>
                  <a:ext uri="{FF2B5EF4-FFF2-40B4-BE49-F238E27FC236}">
                    <a16:creationId xmlns:a16="http://schemas.microsoft.com/office/drawing/2014/main" id="{C0F4026E-AEC7-310D-44BC-1FBB12E76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547505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latin typeface="Arial" charset="0"/>
                    <a:cs typeface="Arial" charset="0"/>
                  </a:rPr>
                  <a:t>A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3" name="Text Box 25">
                <a:extLst>
                  <a:ext uri="{FF2B5EF4-FFF2-40B4-BE49-F238E27FC236}">
                    <a16:creationId xmlns:a16="http://schemas.microsoft.com/office/drawing/2014/main" id="{84D53A5C-2915-29D5-AD58-D09CB032A9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408309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latin typeface="Arial" charset="0"/>
                    <a:cs typeface="Arial" charset="0"/>
                  </a:rPr>
                  <a:t>B</a:t>
                </a:r>
              </a:p>
            </p:txBody>
          </p:sp>
          <p:sp>
            <p:nvSpPr>
              <p:cNvPr id="24" name="Text Box 26">
                <a:extLst>
                  <a:ext uri="{FF2B5EF4-FFF2-40B4-BE49-F238E27FC236}">
                    <a16:creationId xmlns:a16="http://schemas.microsoft.com/office/drawing/2014/main" id="{A6CA1DD4-0137-504F-FB00-CF80C02F6B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547505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latin typeface="Arial" charset="0"/>
                    <a:cs typeface="Arial" charset="0"/>
                  </a:rPr>
                  <a:t>B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5" name="Text Box 27">
                <a:extLst>
                  <a:ext uri="{FF2B5EF4-FFF2-40B4-BE49-F238E27FC236}">
                    <a16:creationId xmlns:a16="http://schemas.microsoft.com/office/drawing/2014/main" id="{D9860515-D6CF-C807-BC2D-A5EF5DD0E1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423775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latin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26" name="Text Box 28">
                <a:extLst>
                  <a:ext uri="{FF2B5EF4-FFF2-40B4-BE49-F238E27FC236}">
                    <a16:creationId xmlns:a16="http://schemas.microsoft.com/office/drawing/2014/main" id="{0565E075-AD46-295F-D326-0B14FF938D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3715" y="2465886"/>
                <a:ext cx="562972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latin typeface="Arial" charset="0"/>
                    <a:cs typeface="Arial" charset="0"/>
                  </a:rPr>
                  <a:t>C</a:t>
                </a:r>
                <a:r>
                  <a:rPr lang="ja-JP" altLang="en-US" i="0">
                    <a:latin typeface="Arial" charset="0"/>
                    <a:cs typeface="Arial" charset="0"/>
                  </a:rPr>
                  <a:t>’</a:t>
                </a:r>
                <a:endParaRPr lang="en-US" i="0"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Line 17">
                <a:extLst>
                  <a:ext uri="{FF2B5EF4-FFF2-40B4-BE49-F238E27FC236}">
                    <a16:creationId xmlns:a16="http://schemas.microsoft.com/office/drawing/2014/main" id="{26F570A7-7E4E-228F-B5EF-65CA899D8A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8" name="Line 18">
                <a:extLst>
                  <a:ext uri="{FF2B5EF4-FFF2-40B4-BE49-F238E27FC236}">
                    <a16:creationId xmlns:a16="http://schemas.microsoft.com/office/drawing/2014/main" id="{1407762E-F010-BAA7-6D7B-F1AB1CCD35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9" name="Line 19">
                <a:extLst>
                  <a:ext uri="{FF2B5EF4-FFF2-40B4-BE49-F238E27FC236}">
                    <a16:creationId xmlns:a16="http://schemas.microsoft.com/office/drawing/2014/main" id="{C4D71CC9-F030-2E5F-6232-A89B7AB36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0" name="Line 20">
                <a:extLst>
                  <a:ext uri="{FF2B5EF4-FFF2-40B4-BE49-F238E27FC236}">
                    <a16:creationId xmlns:a16="http://schemas.microsoft.com/office/drawing/2014/main" id="{0EDE928B-3F75-A1A6-ADD5-12F01A195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31" name="Group 47">
                <a:extLst>
                  <a:ext uri="{FF2B5EF4-FFF2-40B4-BE49-F238E27FC236}">
                    <a16:creationId xmlns:a16="http://schemas.microsoft.com/office/drawing/2014/main" id="{838C4C88-98E8-97AF-7810-5767DD045D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5" name="Rectangle 48">
                  <a:extLst>
                    <a:ext uri="{FF2B5EF4-FFF2-40B4-BE49-F238E27FC236}">
                      <a16:creationId xmlns:a16="http://schemas.microsoft.com/office/drawing/2014/main" id="{CC7F9DF9-4F34-8C48-241D-F588E0EB15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66" name="Group 49">
                  <a:extLst>
                    <a:ext uri="{FF2B5EF4-FFF2-40B4-BE49-F238E27FC236}">
                      <a16:creationId xmlns:a16="http://schemas.microsoft.com/office/drawing/2014/main" id="{16C2CEE2-8FED-F074-A2B1-D7B64968B7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67" name="Picture 50" descr="desktop_computer_stylized_medium">
                    <a:extLst>
                      <a:ext uri="{FF2B5EF4-FFF2-40B4-BE49-F238E27FC236}">
                        <a16:creationId xmlns:a16="http://schemas.microsoft.com/office/drawing/2014/main" id="{219F4DED-AAC5-0F85-54A8-60AFFF8C03B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8" name="Freeform 51">
                    <a:extLst>
                      <a:ext uri="{FF2B5EF4-FFF2-40B4-BE49-F238E27FC236}">
                        <a16:creationId xmlns:a16="http://schemas.microsoft.com/office/drawing/2014/main" id="{C8270A69-94D8-E75B-3BDC-85BF63F224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5595 w 356"/>
                      <a:gd name="T3" fmla="*/ 341 h 368"/>
                      <a:gd name="T4" fmla="*/ 6638 w 356"/>
                      <a:gd name="T5" fmla="*/ 7113 h 368"/>
                      <a:gd name="T6" fmla="*/ 1463 w 356"/>
                      <a:gd name="T7" fmla="*/ 8895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32" name="Group 48">
                <a:extLst>
                  <a:ext uri="{FF2B5EF4-FFF2-40B4-BE49-F238E27FC236}">
                    <a16:creationId xmlns:a16="http://schemas.microsoft.com/office/drawing/2014/main" id="{5CC0055D-7D22-3907-18CC-D2C393778B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61" name="Group 44">
                  <a:extLst>
                    <a:ext uri="{FF2B5EF4-FFF2-40B4-BE49-F238E27FC236}">
                      <a16:creationId xmlns:a16="http://schemas.microsoft.com/office/drawing/2014/main" id="{C82220AD-05F7-5773-E121-55BE7335AC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63" name="Picture 45" descr="desktop_computer_stylized_medium">
                    <a:extLst>
                      <a:ext uri="{FF2B5EF4-FFF2-40B4-BE49-F238E27FC236}">
                        <a16:creationId xmlns:a16="http://schemas.microsoft.com/office/drawing/2014/main" id="{A6277178-B292-8574-F2E3-E3E8258A5E8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64" name="Freeform 46">
                    <a:extLst>
                      <a:ext uri="{FF2B5EF4-FFF2-40B4-BE49-F238E27FC236}">
                        <a16:creationId xmlns:a16="http://schemas.microsoft.com/office/drawing/2014/main" id="{64E9B905-845D-90C7-202C-C33CB2C5E4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5595 w 356"/>
                      <a:gd name="T3" fmla="*/ 341 h 368"/>
                      <a:gd name="T4" fmla="*/ 6638 w 356"/>
                      <a:gd name="T5" fmla="*/ 7113 h 368"/>
                      <a:gd name="T6" fmla="*/ 1463 w 356"/>
                      <a:gd name="T7" fmla="*/ 8895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2" name="Rectangle 43">
                  <a:extLst>
                    <a:ext uri="{FF2B5EF4-FFF2-40B4-BE49-F238E27FC236}">
                      <a16:creationId xmlns:a16="http://schemas.microsoft.com/office/drawing/2014/main" id="{780B39A2-3377-17E1-BC30-A3C0A35F98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3" name="Rectangle 43">
                <a:extLst>
                  <a:ext uri="{FF2B5EF4-FFF2-40B4-BE49-F238E27FC236}">
                    <a16:creationId xmlns:a16="http://schemas.microsoft.com/office/drawing/2014/main" id="{4A32BDA4-73AD-5626-DB70-805DA8715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34" name="Group 44">
                <a:extLst>
                  <a:ext uri="{FF2B5EF4-FFF2-40B4-BE49-F238E27FC236}">
                    <a16:creationId xmlns:a16="http://schemas.microsoft.com/office/drawing/2014/main" id="{8339FC3C-35A2-6366-AD10-648FEA00E6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59" name="Picture 45" descr="desktop_computer_stylized_medium">
                  <a:extLst>
                    <a:ext uri="{FF2B5EF4-FFF2-40B4-BE49-F238E27FC236}">
                      <a16:creationId xmlns:a16="http://schemas.microsoft.com/office/drawing/2014/main" id="{9E23D8D7-C5B7-4865-FC96-1BE33E34CD7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0" name="Freeform 46">
                  <a:extLst>
                    <a:ext uri="{FF2B5EF4-FFF2-40B4-BE49-F238E27FC236}">
                      <a16:creationId xmlns:a16="http://schemas.microsoft.com/office/drawing/2014/main" id="{EE5578CA-3440-E86B-AFA8-DB6A7DEB7C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5595 w 356"/>
                    <a:gd name="T3" fmla="*/ 341 h 368"/>
                    <a:gd name="T4" fmla="*/ 6638 w 356"/>
                    <a:gd name="T5" fmla="*/ 7113 h 368"/>
                    <a:gd name="T6" fmla="*/ 1463 w 356"/>
                    <a:gd name="T7" fmla="*/ 889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" name="Group 51">
                <a:extLst>
                  <a:ext uri="{FF2B5EF4-FFF2-40B4-BE49-F238E27FC236}">
                    <a16:creationId xmlns:a16="http://schemas.microsoft.com/office/drawing/2014/main" id="{ED854B30-18DB-4373-85EE-CA38517195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55" name="Rectangle 43">
                  <a:extLst>
                    <a:ext uri="{FF2B5EF4-FFF2-40B4-BE49-F238E27FC236}">
                      <a16:creationId xmlns:a16="http://schemas.microsoft.com/office/drawing/2014/main" id="{67C1E97C-43F7-A464-4CB1-462CF924EE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56" name="Group 44">
                  <a:extLst>
                    <a:ext uri="{FF2B5EF4-FFF2-40B4-BE49-F238E27FC236}">
                      <a16:creationId xmlns:a16="http://schemas.microsoft.com/office/drawing/2014/main" id="{C2EDF437-B0FE-20B3-A844-6D618494AB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57" name="Picture 45" descr="desktop_computer_stylized_medium">
                    <a:extLst>
                      <a:ext uri="{FF2B5EF4-FFF2-40B4-BE49-F238E27FC236}">
                        <a16:creationId xmlns:a16="http://schemas.microsoft.com/office/drawing/2014/main" id="{52301F1F-81C9-91FB-9543-56E217FC278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8" name="Freeform 46">
                    <a:extLst>
                      <a:ext uri="{FF2B5EF4-FFF2-40B4-BE49-F238E27FC236}">
                        <a16:creationId xmlns:a16="http://schemas.microsoft.com/office/drawing/2014/main" id="{66A0BD47-4E8D-A0FE-5ECF-F8C1A5F64C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5595 w 356"/>
                      <a:gd name="T3" fmla="*/ 341 h 368"/>
                      <a:gd name="T4" fmla="*/ 6638 w 356"/>
                      <a:gd name="T5" fmla="*/ 7113 h 368"/>
                      <a:gd name="T6" fmla="*/ 1463 w 356"/>
                      <a:gd name="T7" fmla="*/ 8895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</p:grpSp>
          <p:pic>
            <p:nvPicPr>
              <p:cNvPr id="36" name="Picture 3">
                <a:extLst>
                  <a:ext uri="{FF2B5EF4-FFF2-40B4-BE49-F238E27FC236}">
                    <a16:creationId xmlns:a16="http://schemas.microsoft.com/office/drawing/2014/main" id="{91DA95F1-5C3F-63ED-8040-081B08E89A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grpSp>
            <p:nvGrpSpPr>
              <p:cNvPr id="37" name="Group 53">
                <a:extLst>
                  <a:ext uri="{FF2B5EF4-FFF2-40B4-BE49-F238E27FC236}">
                    <a16:creationId xmlns:a16="http://schemas.microsoft.com/office/drawing/2014/main" id="{ACEFE7F4-F30A-2CDA-DEE5-62DE226F30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51" name="Rectangle 48">
                  <a:extLst>
                    <a:ext uri="{FF2B5EF4-FFF2-40B4-BE49-F238E27FC236}">
                      <a16:creationId xmlns:a16="http://schemas.microsoft.com/office/drawing/2014/main" id="{864638DB-CADB-A4B8-F8D2-BBE4E6B959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  <p:grpSp>
              <p:nvGrpSpPr>
                <p:cNvPr id="52" name="Group 49">
                  <a:extLst>
                    <a:ext uri="{FF2B5EF4-FFF2-40B4-BE49-F238E27FC236}">
                      <a16:creationId xmlns:a16="http://schemas.microsoft.com/office/drawing/2014/main" id="{3422A6E7-9A17-890F-9226-2330A4DD04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53" name="Picture 50" descr="desktop_computer_stylized_medium">
                    <a:extLst>
                      <a:ext uri="{FF2B5EF4-FFF2-40B4-BE49-F238E27FC236}">
                        <a16:creationId xmlns:a16="http://schemas.microsoft.com/office/drawing/2014/main" id="{FB2020B4-24EC-3409-405E-526200A7309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4" name="Freeform 51">
                    <a:extLst>
                      <a:ext uri="{FF2B5EF4-FFF2-40B4-BE49-F238E27FC236}">
                        <a16:creationId xmlns:a16="http://schemas.microsoft.com/office/drawing/2014/main" id="{9F89F6D7-34CD-6D27-1DC5-D58F7DDEFF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5595 w 356"/>
                      <a:gd name="T3" fmla="*/ 341 h 368"/>
                      <a:gd name="T4" fmla="*/ 6638 w 356"/>
                      <a:gd name="T5" fmla="*/ 7113 h 368"/>
                      <a:gd name="T6" fmla="*/ 1463 w 356"/>
                      <a:gd name="T7" fmla="*/ 8895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38" name="Group 54">
                <a:extLst>
                  <a:ext uri="{FF2B5EF4-FFF2-40B4-BE49-F238E27FC236}">
                    <a16:creationId xmlns:a16="http://schemas.microsoft.com/office/drawing/2014/main" id="{B361620F-4396-04AF-C607-91233D0AE1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47" name="Group 44">
                  <a:extLst>
                    <a:ext uri="{FF2B5EF4-FFF2-40B4-BE49-F238E27FC236}">
                      <a16:creationId xmlns:a16="http://schemas.microsoft.com/office/drawing/2014/main" id="{5A158342-D222-6A51-3E47-EFCEA21811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49" name="Picture 45" descr="desktop_computer_stylized_medium">
                    <a:extLst>
                      <a:ext uri="{FF2B5EF4-FFF2-40B4-BE49-F238E27FC236}">
                        <a16:creationId xmlns:a16="http://schemas.microsoft.com/office/drawing/2014/main" id="{94D61156-0401-4CC0-DB27-6AE17D681A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0" name="Freeform 46">
                    <a:extLst>
                      <a:ext uri="{FF2B5EF4-FFF2-40B4-BE49-F238E27FC236}">
                        <a16:creationId xmlns:a16="http://schemas.microsoft.com/office/drawing/2014/main" id="{D6EFC021-6EA9-057F-364C-5B0048013A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5595 w 356"/>
                      <a:gd name="T3" fmla="*/ 341 h 368"/>
                      <a:gd name="T4" fmla="*/ 6638 w 356"/>
                      <a:gd name="T5" fmla="*/ 7113 h 368"/>
                      <a:gd name="T6" fmla="*/ 1463 w 356"/>
                      <a:gd name="T7" fmla="*/ 8895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="" xmlns:a14="http://schemas.microsoft.com/office/drawing/2010/main"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8" name="Rectangle 43">
                  <a:extLst>
                    <a:ext uri="{FF2B5EF4-FFF2-40B4-BE49-F238E27FC236}">
                      <a16:creationId xmlns:a16="http://schemas.microsoft.com/office/drawing/2014/main" id="{3880C7E3-315B-8782-AAA0-F6AAF4B39E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39" name="Line 17">
                <a:extLst>
                  <a:ext uri="{FF2B5EF4-FFF2-40B4-BE49-F238E27FC236}">
                    <a16:creationId xmlns:a16="http://schemas.microsoft.com/office/drawing/2014/main" id="{CDFFDB7E-2376-3AF0-6916-F573496AC3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" name="Line 19">
                <a:extLst>
                  <a:ext uri="{FF2B5EF4-FFF2-40B4-BE49-F238E27FC236}">
                    <a16:creationId xmlns:a16="http://schemas.microsoft.com/office/drawing/2014/main" id="{7F9C52A5-A7C1-525D-418C-B3F250FBD4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1" name="Text Box 35">
                <a:extLst>
                  <a:ext uri="{FF2B5EF4-FFF2-40B4-BE49-F238E27FC236}">
                    <a16:creationId xmlns:a16="http://schemas.microsoft.com/office/drawing/2014/main" id="{94023EE6-11D3-EA8E-E88D-8C1108D76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77377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1</a:t>
                </a:r>
              </a:p>
            </p:txBody>
          </p:sp>
          <p:sp>
            <p:nvSpPr>
              <p:cNvPr id="42" name="Text Box 36">
                <a:extLst>
                  <a:ext uri="{FF2B5EF4-FFF2-40B4-BE49-F238E27FC236}">
                    <a16:creationId xmlns:a16="http://schemas.microsoft.com/office/drawing/2014/main" id="{BC47BCFB-9328-94A9-2F02-6EC30EA49C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77377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2</a:t>
                </a:r>
              </a:p>
            </p:txBody>
          </p:sp>
          <p:sp>
            <p:nvSpPr>
              <p:cNvPr id="43" name="Text Box 37">
                <a:extLst>
                  <a:ext uri="{FF2B5EF4-FFF2-40B4-BE49-F238E27FC236}">
                    <a16:creationId xmlns:a16="http://schemas.microsoft.com/office/drawing/2014/main" id="{E71110FC-F9B8-1B0C-C7E9-D6AFD05DA9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77377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44" name="Text Box 38">
                <a:extLst>
                  <a:ext uri="{FF2B5EF4-FFF2-40B4-BE49-F238E27FC236}">
                    <a16:creationId xmlns:a16="http://schemas.microsoft.com/office/drawing/2014/main" id="{52FAD936-C814-79DB-47B7-0DD4FDA283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77377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45" name="Text Box 39">
                <a:extLst>
                  <a:ext uri="{FF2B5EF4-FFF2-40B4-BE49-F238E27FC236}">
                    <a16:creationId xmlns:a16="http://schemas.microsoft.com/office/drawing/2014/main" id="{68DDEAAA-0B37-7501-86BD-7E67BFFDFA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77377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46" name="Text Box 40">
                <a:extLst>
                  <a:ext uri="{FF2B5EF4-FFF2-40B4-BE49-F238E27FC236}">
                    <a16:creationId xmlns:a16="http://schemas.microsoft.com/office/drawing/2014/main" id="{F18FBE37-9A9B-9627-90D7-F1CFE8B052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0" cy="4091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>
                  <a:defRPr/>
                </a:pPr>
                <a:r>
                  <a:rPr lang="en-US" i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4681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9F9B9-7AA5-FC1B-3EBA-0D1BC69D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CA573-4CDB-1465-AEC2-E91B8CC94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Ch6 + Ch7: From Ethernet to Wireless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4127-4227-4103-0A3A-66F832310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/>
              <a:t> switch vs router: common and difference?</a:t>
            </a:r>
          </a:p>
          <a:p>
            <a:pPr lvl="1"/>
            <a:r>
              <a:rPr lang="en-US" dirty="0"/>
              <a:t>Switch (L2): </a:t>
            </a:r>
            <a:r>
              <a:rPr lang="en-US" b="1" dirty="0"/>
              <a:t>transparent</a:t>
            </a:r>
            <a:r>
              <a:rPr lang="en-US" dirty="0"/>
              <a:t> to hosts </a:t>
            </a:r>
          </a:p>
          <a:p>
            <a:pPr lvl="2"/>
            <a:r>
              <a:rPr lang="en-US" dirty="0"/>
              <a:t>N switches may be used in one subnet </a:t>
            </a:r>
          </a:p>
          <a:p>
            <a:r>
              <a:rPr lang="en-US" sz="3200" dirty="0"/>
              <a:t> VLAN: virtualization over switch </a:t>
            </a:r>
          </a:p>
          <a:p>
            <a:r>
              <a:rPr lang="en-US" sz="3200" dirty="0"/>
              <a:t>Wireless: </a:t>
            </a:r>
            <a:r>
              <a:rPr lang="en-US" sz="3200" dirty="0" err="1"/>
              <a:t>WiFi</a:t>
            </a:r>
            <a:r>
              <a:rPr lang="en-US" sz="3200" dirty="0"/>
              <a:t> + 4G (5G) </a:t>
            </a:r>
            <a:endParaRPr lang="en-US" sz="2800" dirty="0"/>
          </a:p>
          <a:p>
            <a:pPr lvl="1"/>
            <a:r>
              <a:rPr lang="en-US" sz="2800" dirty="0"/>
              <a:t>base station: wireless AP or cell tower</a:t>
            </a:r>
          </a:p>
          <a:p>
            <a:pPr lvl="1"/>
            <a:r>
              <a:rPr lang="en-US" sz="2900" dirty="0"/>
              <a:t>Two modes: infrastructure and ad hoc</a:t>
            </a:r>
          </a:p>
          <a:p>
            <a:pPr lvl="1"/>
            <a:r>
              <a:rPr lang="en-US" sz="2900" dirty="0"/>
              <a:t>Wireless </a:t>
            </a:r>
            <a:r>
              <a:rPr lang="en-US" sz="2800" dirty="0"/>
              <a:t>characteristics</a:t>
            </a:r>
          </a:p>
          <a:p>
            <a:pPr lvl="2"/>
            <a:r>
              <a:rPr lang="en-US" sz="2400" dirty="0"/>
              <a:t>SNR V.S. BER and modulation scheme</a:t>
            </a:r>
          </a:p>
          <a:p>
            <a:pPr lvl="2"/>
            <a:r>
              <a:rPr lang="en-US" sz="2400" dirty="0">
                <a:ea typeface="ＭＳ Ｐゴシック" charset="0"/>
              </a:rPr>
              <a:t>Hidden terminal problem</a:t>
            </a:r>
          </a:p>
          <a:p>
            <a:pPr lvl="2"/>
            <a:r>
              <a:rPr lang="en-US" sz="2400" dirty="0"/>
              <a:t>Association and sleep mode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F05537-23E4-4707-6E35-01DB2DA8060A}"/>
              </a:ext>
            </a:extLst>
          </p:cNvPr>
          <p:cNvGrpSpPr/>
          <p:nvPr/>
        </p:nvGrpSpPr>
        <p:grpSpPr>
          <a:xfrm>
            <a:off x="8502597" y="3169444"/>
            <a:ext cx="1243611" cy="519112"/>
            <a:chOff x="9287864" y="4082048"/>
            <a:chExt cx="1243611" cy="519112"/>
          </a:xfrm>
        </p:grpSpPr>
        <p:sp>
          <p:nvSpPr>
            <p:cNvPr id="5" name="Rectangle 75">
              <a:extLst>
                <a:ext uri="{FF2B5EF4-FFF2-40B4-BE49-F238E27FC236}">
                  <a16:creationId xmlns:a16="http://schemas.microsoft.com/office/drawing/2014/main" id="{3CFE27FD-9526-21B8-1076-367CE2293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C15CD08D-A639-0719-7036-1A0925ACC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9866" y="4128085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BF5BD65A-5086-5FAF-7E44-DAD619D7B5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51453" y="4342570"/>
              <a:ext cx="1179110" cy="14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AFF253D7-E92E-9F54-B07C-753DCA571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36310436-D688-6681-8D25-D11DE910B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0891" y="413284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" name="Line 21">
              <a:extLst>
                <a:ext uri="{FF2B5EF4-FFF2-40B4-BE49-F238E27FC236}">
                  <a16:creationId xmlns:a16="http://schemas.microsoft.com/office/drawing/2014/main" id="{667166B9-5EF5-C9EF-4F22-A7B1D611FA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0378" y="412967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" name="Line 23">
              <a:extLst>
                <a:ext uri="{FF2B5EF4-FFF2-40B4-BE49-F238E27FC236}">
                  <a16:creationId xmlns:a16="http://schemas.microsoft.com/office/drawing/2014/main" id="{47D5FC9F-53F9-3B60-AE62-33D2AB29E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11878" y="4137610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Text Box 26">
              <a:extLst>
                <a:ext uri="{FF2B5EF4-FFF2-40B4-BE49-F238E27FC236}">
                  <a16:creationId xmlns:a16="http://schemas.microsoft.com/office/drawing/2014/main" id="{248FBF3A-7AAF-B3DB-195A-9CDBB6546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8</a:t>
              </a:r>
            </a:p>
          </p:txBody>
        </p:sp>
        <p:sp>
          <p:nvSpPr>
            <p:cNvPr id="13" name="Text Box 30">
              <a:extLst>
                <a:ext uri="{FF2B5EF4-FFF2-40B4-BE49-F238E27FC236}">
                  <a16:creationId xmlns:a16="http://schemas.microsoft.com/office/drawing/2014/main" id="{7C488EEC-3C14-6A64-2E32-33631C4FB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14" name="Text Box 57">
              <a:extLst>
                <a:ext uri="{FF2B5EF4-FFF2-40B4-BE49-F238E27FC236}">
                  <a16:creationId xmlns:a16="http://schemas.microsoft.com/office/drawing/2014/main" id="{BB4DFE65-813E-FA24-0C1D-2039F45A2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7</a:t>
              </a:r>
            </a:p>
          </p:txBody>
        </p:sp>
        <p:sp>
          <p:nvSpPr>
            <p:cNvPr id="15" name="Oval 81">
              <a:extLst>
                <a:ext uri="{FF2B5EF4-FFF2-40B4-BE49-F238E27FC236}">
                  <a16:creationId xmlns:a16="http://schemas.microsoft.com/office/drawing/2014/main" id="{4EEE448C-3FFC-7791-BDB4-ADF6981A7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" name="Oval 82">
              <a:extLst>
                <a:ext uri="{FF2B5EF4-FFF2-40B4-BE49-F238E27FC236}">
                  <a16:creationId xmlns:a16="http://schemas.microsoft.com/office/drawing/2014/main" id="{543E1B47-03A3-742A-25C1-C7F41B0F2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" name="Oval 83">
              <a:extLst>
                <a:ext uri="{FF2B5EF4-FFF2-40B4-BE49-F238E27FC236}">
                  <a16:creationId xmlns:a16="http://schemas.microsoft.com/office/drawing/2014/main" id="{D4C7564C-0820-380F-1E31-4991392F5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D02083-9C60-8622-D7E4-CA9FB3569565}"/>
              </a:ext>
            </a:extLst>
          </p:cNvPr>
          <p:cNvGrpSpPr/>
          <p:nvPr/>
        </p:nvGrpSpPr>
        <p:grpSpPr>
          <a:xfrm>
            <a:off x="9671465" y="3164689"/>
            <a:ext cx="1259780" cy="523875"/>
            <a:chOff x="10932220" y="4822113"/>
            <a:chExt cx="1259780" cy="523875"/>
          </a:xfrm>
        </p:grpSpPr>
        <p:sp>
          <p:nvSpPr>
            <p:cNvPr id="19" name="Rectangle 76">
              <a:extLst>
                <a:ext uri="{FF2B5EF4-FFF2-40B4-BE49-F238E27FC236}">
                  <a16:creationId xmlns:a16="http://schemas.microsoft.com/office/drawing/2014/main" id="{FBDC2E28-B4E0-B8B8-ED66-E790767B2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071" y="4880851"/>
              <a:ext cx="1190929" cy="4572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id="{8585B517-6EA0-1469-8C1D-569BCC173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391" y="4872913"/>
              <a:ext cx="1181609" cy="46831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Line 3">
              <a:extLst>
                <a:ext uri="{FF2B5EF4-FFF2-40B4-BE49-F238E27FC236}">
                  <a16:creationId xmlns:a16="http://schemas.microsoft.com/office/drawing/2014/main" id="{6AC6A3CA-F860-8A36-5643-27EFB48DC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09376" y="5090714"/>
              <a:ext cx="1163270" cy="2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4886A5C0-FDD0-E146-6022-2E0E2F930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1146" y="4882438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38A156EE-27C7-6611-F3D2-9E25521F8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5871" y="4877676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0517E785-4872-1BF4-C247-F8F28159AF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6421" y="4872913"/>
              <a:ext cx="0" cy="463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" name="Text Box 27">
              <a:extLst>
                <a:ext uri="{FF2B5EF4-FFF2-40B4-BE49-F238E27FC236}">
                  <a16:creationId xmlns:a16="http://schemas.microsoft.com/office/drawing/2014/main" id="{018591DE-43BD-01F7-B67E-C213CC169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9</a:t>
              </a:r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FAA1CC6D-77C1-DCD1-DEBE-4134BF93F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16</a:t>
              </a:r>
            </a:p>
          </p:txBody>
        </p:sp>
        <p:sp>
          <p:nvSpPr>
            <p:cNvPr id="27" name="Text Box 29">
              <a:extLst>
                <a:ext uri="{FF2B5EF4-FFF2-40B4-BE49-F238E27FC236}">
                  <a16:creationId xmlns:a16="http://schemas.microsoft.com/office/drawing/2014/main" id="{0ED0C2B6-2371-8D71-BF61-A12F89E1F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10</a:t>
              </a:r>
            </a:p>
          </p:txBody>
        </p:sp>
        <p:sp>
          <p:nvSpPr>
            <p:cNvPr id="28" name="Text Box 74">
              <a:extLst>
                <a:ext uri="{FF2B5EF4-FFF2-40B4-BE49-F238E27FC236}">
                  <a16:creationId xmlns:a16="http://schemas.microsoft.com/office/drawing/2014/main" id="{F1E41E9F-DACA-D18C-8AD8-EB40B7984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800" i="0" dirty="0">
                  <a:solidFill>
                    <a:schemeClr val="bg1"/>
                  </a:solidFill>
                  <a:latin typeface="Arial" charset="0"/>
                </a:rPr>
                <a:t>15</a:t>
              </a:r>
            </a:p>
          </p:txBody>
        </p:sp>
        <p:sp>
          <p:nvSpPr>
            <p:cNvPr id="29" name="Oval 84">
              <a:extLst>
                <a:ext uri="{FF2B5EF4-FFF2-40B4-BE49-F238E27FC236}">
                  <a16:creationId xmlns:a16="http://schemas.microsoft.com/office/drawing/2014/main" id="{0112C88D-6590-DEDB-A980-D931FEBD4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Oval 85">
              <a:extLst>
                <a:ext uri="{FF2B5EF4-FFF2-40B4-BE49-F238E27FC236}">
                  <a16:creationId xmlns:a16="http://schemas.microsoft.com/office/drawing/2014/main" id="{88D22018-8C49-BBB8-7287-5CC4B72C5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" name="Oval 86">
              <a:extLst>
                <a:ext uri="{FF2B5EF4-FFF2-40B4-BE49-F238E27FC236}">
                  <a16:creationId xmlns:a16="http://schemas.microsoft.com/office/drawing/2014/main" id="{F1044DF3-E865-7383-2E02-79D354472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349DB4B-8E44-FF36-B2E9-EA96EB874F21}"/>
              </a:ext>
            </a:extLst>
          </p:cNvPr>
          <p:cNvGrpSpPr/>
          <p:nvPr/>
        </p:nvGrpSpPr>
        <p:grpSpPr>
          <a:xfrm>
            <a:off x="8546569" y="2789896"/>
            <a:ext cx="2388836" cy="410624"/>
            <a:chOff x="7399107" y="1365161"/>
            <a:chExt cx="2388836" cy="732595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8E44FCB-80FC-4014-3D5F-9FF0E64EA289}"/>
                </a:ext>
              </a:extLst>
            </p:cNvPr>
            <p:cNvSpPr/>
            <p:nvPr/>
          </p:nvSpPr>
          <p:spPr>
            <a:xfrm>
              <a:off x="7399107" y="1365161"/>
              <a:ext cx="2388836" cy="732595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F96CE69-D6FC-0145-C857-F4A557A1354F}"/>
                </a:ext>
              </a:extLst>
            </p:cNvPr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76829AEA-D424-D9A9-CD03-D81ABEE115A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EEAC04E5-C804-81FC-BEE1-1A15B85B84C8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5E601093-8111-672F-B1CD-DF0142F6D7B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D1BDF71A-AE76-2FC8-D66B-E6BCCB1FB58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Line 61">
            <a:extLst>
              <a:ext uri="{FF2B5EF4-FFF2-40B4-BE49-F238E27FC236}">
                <a16:creationId xmlns:a16="http://schemas.microsoft.com/office/drawing/2014/main" id="{9D5F92CE-4DA5-245B-E846-2A60BA4368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4347" y="3520214"/>
            <a:ext cx="901700" cy="27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0" name="Line 62">
            <a:extLst>
              <a:ext uri="{FF2B5EF4-FFF2-40B4-BE49-F238E27FC236}">
                <a16:creationId xmlns:a16="http://schemas.microsoft.com/office/drawing/2014/main" id="{03CF4E93-38E7-AF6E-CCF9-A1207E25F9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80110" y="3520214"/>
            <a:ext cx="806450" cy="419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1" name="Line 63">
            <a:extLst>
              <a:ext uri="{FF2B5EF4-FFF2-40B4-BE49-F238E27FC236}">
                <a16:creationId xmlns:a16="http://schemas.microsoft.com/office/drawing/2014/main" id="{DFAE265F-1FE1-27F5-6A25-0DDB501C7F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99246" y="3535140"/>
            <a:ext cx="672983" cy="36131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2" name="Text Box 64">
            <a:extLst>
              <a:ext uri="{FF2B5EF4-FFF2-40B4-BE49-F238E27FC236}">
                <a16:creationId xmlns:a16="http://schemas.microsoft.com/office/drawing/2014/main" id="{C74BD210-2791-8325-40E7-30C8EAED7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8768" y="3735399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i="0" dirty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sp>
        <p:nvSpPr>
          <p:cNvPr id="43" name="Line 69">
            <a:extLst>
              <a:ext uri="{FF2B5EF4-FFF2-40B4-BE49-F238E27FC236}">
                <a16:creationId xmlns:a16="http://schemas.microsoft.com/office/drawing/2014/main" id="{5E258D4C-9EE4-285F-7776-9E843827C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7310" y="3523389"/>
            <a:ext cx="101600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4" name="Line 70">
            <a:extLst>
              <a:ext uri="{FF2B5EF4-FFF2-40B4-BE49-F238E27FC236}">
                <a16:creationId xmlns:a16="http://schemas.microsoft.com/office/drawing/2014/main" id="{FA017F1E-0592-D58A-CBD8-7E2B7E356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7785" y="3321776"/>
            <a:ext cx="479425" cy="6032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5" name="Line 71">
            <a:extLst>
              <a:ext uri="{FF2B5EF4-FFF2-40B4-BE49-F238E27FC236}">
                <a16:creationId xmlns:a16="http://schemas.microsoft.com/office/drawing/2014/main" id="{043E2336-3E8B-5BD1-93BE-1C4B21842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53447" y="3266214"/>
            <a:ext cx="514350" cy="484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46" name="Text Box 72">
            <a:extLst>
              <a:ext uri="{FF2B5EF4-FFF2-40B4-BE49-F238E27FC236}">
                <a16:creationId xmlns:a16="http://schemas.microsoft.com/office/drawing/2014/main" id="{18ECBF94-C265-5940-0D8A-5433E00BB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74" y="4226964"/>
            <a:ext cx="1731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EE (VLAN ports 1-8)</a:t>
            </a:r>
          </a:p>
        </p:txBody>
      </p:sp>
      <p:sp>
        <p:nvSpPr>
          <p:cNvPr id="47" name="Text Box 73">
            <a:extLst>
              <a:ext uri="{FF2B5EF4-FFF2-40B4-BE49-F238E27FC236}">
                <a16:creationId xmlns:a16="http://schemas.microsoft.com/office/drawing/2014/main" id="{B754F8B1-4BA7-8986-9533-05587A3D8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4569" y="4226964"/>
            <a:ext cx="2572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i="0" dirty="0">
                <a:solidFill>
                  <a:srgbClr val="000000"/>
                </a:solidFill>
                <a:latin typeface="Arial" charset="0"/>
              </a:rPr>
              <a:t>CS (VLAN ports 9-15)</a:t>
            </a:r>
          </a:p>
        </p:txBody>
      </p:sp>
      <p:sp>
        <p:nvSpPr>
          <p:cNvPr id="48" name="Text Box 45">
            <a:extLst>
              <a:ext uri="{FF2B5EF4-FFF2-40B4-BE49-F238E27FC236}">
                <a16:creationId xmlns:a16="http://schemas.microsoft.com/office/drawing/2014/main" id="{95EE79DC-4962-902D-67E0-84AEE2222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2524" y="3698446"/>
            <a:ext cx="343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i="0" dirty="0">
                <a:solidFill>
                  <a:srgbClr val="000000"/>
                </a:solidFill>
                <a:latin typeface="+mn-lt"/>
              </a:rPr>
              <a:t>…</a:t>
            </a:r>
          </a:p>
        </p:txBody>
      </p:sp>
      <p:grpSp>
        <p:nvGrpSpPr>
          <p:cNvPr id="49" name="Group 44">
            <a:extLst>
              <a:ext uri="{FF2B5EF4-FFF2-40B4-BE49-F238E27FC236}">
                <a16:creationId xmlns:a16="http://schemas.microsoft.com/office/drawing/2014/main" id="{2500AF3D-A012-8B27-168D-CB59173D0EC2}"/>
              </a:ext>
            </a:extLst>
          </p:cNvPr>
          <p:cNvGrpSpPr>
            <a:grpSpLocks/>
          </p:cNvGrpSpPr>
          <p:nvPr/>
        </p:nvGrpSpPr>
        <p:grpSpPr bwMode="auto">
          <a:xfrm>
            <a:off x="7257772" y="3705951"/>
            <a:ext cx="609600" cy="558800"/>
            <a:chOff x="-44" y="1473"/>
            <a:chExt cx="981" cy="1105"/>
          </a:xfrm>
        </p:grpSpPr>
        <p:pic>
          <p:nvPicPr>
            <p:cNvPr id="50" name="Picture 45" descr="desktop_computer_stylized_medium">
              <a:extLst>
                <a:ext uri="{FF2B5EF4-FFF2-40B4-BE49-F238E27FC236}">
                  <a16:creationId xmlns:a16="http://schemas.microsoft.com/office/drawing/2014/main" id="{72728400-094F-E770-58B8-53E64F04B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CCE3E3E-BF55-2C0A-80D4-286CFB48E0D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2" name="Group 44">
            <a:extLst>
              <a:ext uri="{FF2B5EF4-FFF2-40B4-BE49-F238E27FC236}">
                <a16:creationId xmlns:a16="http://schemas.microsoft.com/office/drawing/2014/main" id="{9E5AFC74-7A3F-403C-4C46-8AC5CD8B8844}"/>
              </a:ext>
            </a:extLst>
          </p:cNvPr>
          <p:cNvGrpSpPr>
            <a:grpSpLocks/>
          </p:cNvGrpSpPr>
          <p:nvPr/>
        </p:nvGrpSpPr>
        <p:grpSpPr bwMode="auto">
          <a:xfrm>
            <a:off x="7822553" y="3711285"/>
            <a:ext cx="609600" cy="558800"/>
            <a:chOff x="-44" y="1473"/>
            <a:chExt cx="981" cy="1105"/>
          </a:xfrm>
        </p:grpSpPr>
        <p:pic>
          <p:nvPicPr>
            <p:cNvPr id="53" name="Picture 45" descr="desktop_computer_stylized_medium">
              <a:extLst>
                <a:ext uri="{FF2B5EF4-FFF2-40B4-BE49-F238E27FC236}">
                  <a16:creationId xmlns:a16="http://schemas.microsoft.com/office/drawing/2014/main" id="{E6A05B01-2E81-BD2C-DAE2-CE9ECECCDD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" name="Freeform 46">
              <a:extLst>
                <a:ext uri="{FF2B5EF4-FFF2-40B4-BE49-F238E27FC236}">
                  <a16:creationId xmlns:a16="http://schemas.microsoft.com/office/drawing/2014/main" id="{42BF8DF5-F653-15F0-F71C-F3F0FFDFE43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5" name="Group 44">
            <a:extLst>
              <a:ext uri="{FF2B5EF4-FFF2-40B4-BE49-F238E27FC236}">
                <a16:creationId xmlns:a16="http://schemas.microsoft.com/office/drawing/2014/main" id="{C0588DF8-9A9A-3D4E-7287-F8826716C3F9}"/>
              </a:ext>
            </a:extLst>
          </p:cNvPr>
          <p:cNvGrpSpPr>
            <a:grpSpLocks/>
          </p:cNvGrpSpPr>
          <p:nvPr/>
        </p:nvGrpSpPr>
        <p:grpSpPr bwMode="auto">
          <a:xfrm>
            <a:off x="8579420" y="3706623"/>
            <a:ext cx="609600" cy="558800"/>
            <a:chOff x="-44" y="1473"/>
            <a:chExt cx="981" cy="1105"/>
          </a:xfrm>
        </p:grpSpPr>
        <p:pic>
          <p:nvPicPr>
            <p:cNvPr id="56" name="Picture 45" descr="desktop_computer_stylized_medium">
              <a:extLst>
                <a:ext uri="{FF2B5EF4-FFF2-40B4-BE49-F238E27FC236}">
                  <a16:creationId xmlns:a16="http://schemas.microsoft.com/office/drawing/2014/main" id="{C3D0BCC1-4F7E-F5E9-9D4B-DD8AD9B1D2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5EDC9E3C-FB85-88F3-F817-842C2D627A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8" name="Group 44">
            <a:extLst>
              <a:ext uri="{FF2B5EF4-FFF2-40B4-BE49-F238E27FC236}">
                <a16:creationId xmlns:a16="http://schemas.microsoft.com/office/drawing/2014/main" id="{AE881D67-318B-CF67-AA1E-B9C5E6097E6C}"/>
              </a:ext>
            </a:extLst>
          </p:cNvPr>
          <p:cNvGrpSpPr>
            <a:grpSpLocks/>
          </p:cNvGrpSpPr>
          <p:nvPr/>
        </p:nvGrpSpPr>
        <p:grpSpPr bwMode="auto">
          <a:xfrm>
            <a:off x="9544821" y="3701961"/>
            <a:ext cx="609600" cy="558800"/>
            <a:chOff x="-44" y="1473"/>
            <a:chExt cx="981" cy="1105"/>
          </a:xfrm>
        </p:grpSpPr>
        <p:pic>
          <p:nvPicPr>
            <p:cNvPr id="59" name="Picture 45" descr="desktop_computer_stylized_medium">
              <a:extLst>
                <a:ext uri="{FF2B5EF4-FFF2-40B4-BE49-F238E27FC236}">
                  <a16:creationId xmlns:a16="http://schemas.microsoft.com/office/drawing/2014/main" id="{D94927AC-B3DD-B6A8-A49E-92401BC911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" name="Freeform 46">
              <a:extLst>
                <a:ext uri="{FF2B5EF4-FFF2-40B4-BE49-F238E27FC236}">
                  <a16:creationId xmlns:a16="http://schemas.microsoft.com/office/drawing/2014/main" id="{76272133-6661-9CDA-2617-2B44ACF1FE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1" name="Group 44">
            <a:extLst>
              <a:ext uri="{FF2B5EF4-FFF2-40B4-BE49-F238E27FC236}">
                <a16:creationId xmlns:a16="http://schemas.microsoft.com/office/drawing/2014/main" id="{5E81B449-7F2E-53BF-C49A-52BB95CF2FFF}"/>
              </a:ext>
            </a:extLst>
          </p:cNvPr>
          <p:cNvGrpSpPr>
            <a:grpSpLocks/>
          </p:cNvGrpSpPr>
          <p:nvPr/>
        </p:nvGrpSpPr>
        <p:grpSpPr bwMode="auto">
          <a:xfrm>
            <a:off x="10060048" y="3707871"/>
            <a:ext cx="609600" cy="558800"/>
            <a:chOff x="-44" y="1473"/>
            <a:chExt cx="981" cy="1105"/>
          </a:xfrm>
        </p:grpSpPr>
        <p:pic>
          <p:nvPicPr>
            <p:cNvPr id="62" name="Picture 45" descr="desktop_computer_stylized_medium">
              <a:extLst>
                <a:ext uri="{FF2B5EF4-FFF2-40B4-BE49-F238E27FC236}">
                  <a16:creationId xmlns:a16="http://schemas.microsoft.com/office/drawing/2014/main" id="{CF242B73-3206-8082-CAE8-0DC5A4B22B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Freeform 46">
              <a:extLst>
                <a:ext uri="{FF2B5EF4-FFF2-40B4-BE49-F238E27FC236}">
                  <a16:creationId xmlns:a16="http://schemas.microsoft.com/office/drawing/2014/main" id="{15ED63C9-74D3-4C47-5E05-26C0B43005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64" name="Group 44">
            <a:extLst>
              <a:ext uri="{FF2B5EF4-FFF2-40B4-BE49-F238E27FC236}">
                <a16:creationId xmlns:a16="http://schemas.microsoft.com/office/drawing/2014/main" id="{902A76B8-BF1A-B680-F032-FFF23E636A17}"/>
              </a:ext>
            </a:extLst>
          </p:cNvPr>
          <p:cNvGrpSpPr>
            <a:grpSpLocks/>
          </p:cNvGrpSpPr>
          <p:nvPr/>
        </p:nvGrpSpPr>
        <p:grpSpPr bwMode="auto">
          <a:xfrm>
            <a:off x="10923649" y="3716863"/>
            <a:ext cx="609600" cy="558800"/>
            <a:chOff x="-44" y="1473"/>
            <a:chExt cx="981" cy="1105"/>
          </a:xfrm>
        </p:grpSpPr>
        <p:pic>
          <p:nvPicPr>
            <p:cNvPr id="65" name="Picture 45" descr="desktop_computer_stylized_medium">
              <a:extLst>
                <a:ext uri="{FF2B5EF4-FFF2-40B4-BE49-F238E27FC236}">
                  <a16:creationId xmlns:a16="http://schemas.microsoft.com/office/drawing/2014/main" id="{B1D4725C-31B9-CC7D-AEAE-6B588009B9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Freeform 46">
              <a:extLst>
                <a:ext uri="{FF2B5EF4-FFF2-40B4-BE49-F238E27FC236}">
                  <a16:creationId xmlns:a16="http://schemas.microsoft.com/office/drawing/2014/main" id="{2147A8E3-E592-2071-2103-03E2CEDC8AD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3416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E81B-4BBC-610D-7648-24BD7E92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004D-9BC1-50FC-0055-2048C6F0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Ch7: Wireless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49BDA-4D96-EF73-0FE9-0D4C1DFDF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940542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 err="1"/>
              <a:t>WiFi</a:t>
            </a:r>
            <a:r>
              <a:rPr lang="en-US" sz="3200" dirty="0"/>
              <a:t>: </a:t>
            </a:r>
          </a:p>
          <a:p>
            <a:pPr lvl="1"/>
            <a:r>
              <a:rPr lang="en-US" sz="2800" dirty="0"/>
              <a:t>why CSMA/CA instead of CSMA/CD? What is RTS-CTS?</a:t>
            </a:r>
          </a:p>
          <a:p>
            <a:pPr lvl="1"/>
            <a:r>
              <a:rPr lang="en-US" sz="2800" dirty="0"/>
              <a:t>Frame format: duration, 4 MAC addresses, sequence number, CRC</a:t>
            </a:r>
          </a:p>
          <a:p>
            <a:pPr lvl="1"/>
            <a:r>
              <a:rPr lang="en-US" sz="2800" dirty="0"/>
              <a:t>Mobility within same subnet</a:t>
            </a:r>
          </a:p>
          <a:p>
            <a:pPr lvl="1"/>
            <a:endParaRPr lang="en-US" sz="2800" dirty="0"/>
          </a:p>
          <a:p>
            <a:r>
              <a:rPr lang="en-US" sz="3200" dirty="0"/>
              <a:t>More multiple access protocols:</a:t>
            </a:r>
          </a:p>
          <a:p>
            <a:pPr lvl="1"/>
            <a:r>
              <a:rPr lang="en-US" sz="2800" dirty="0"/>
              <a:t>Bluetooth: taking turns</a:t>
            </a:r>
          </a:p>
          <a:p>
            <a:pPr lvl="1"/>
            <a:r>
              <a:rPr lang="en-US" sz="2800" dirty="0"/>
              <a:t>3G: channel partitioning (CDMA)</a:t>
            </a:r>
          </a:p>
          <a:p>
            <a:pPr lvl="1"/>
            <a:endParaRPr lang="en-US" sz="2800" dirty="0"/>
          </a:p>
          <a:p>
            <a:r>
              <a:rPr lang="en-US" sz="3200" dirty="0"/>
              <a:t>Mobility:</a:t>
            </a:r>
          </a:p>
          <a:p>
            <a:pPr lvl="1"/>
            <a:r>
              <a:rPr lang="en-US" sz="2800" dirty="0"/>
              <a:t>4 levels</a:t>
            </a:r>
          </a:p>
          <a:p>
            <a:pPr lvl="1"/>
            <a:r>
              <a:rPr lang="en-US" sz="2800" dirty="0"/>
              <a:t>indirect routing and direct routing</a:t>
            </a:r>
          </a:p>
          <a:p>
            <a:pPr lvl="1"/>
            <a:r>
              <a:rPr lang="en-US" sz="2800" dirty="0"/>
              <a:t>Mobile IP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3855F90-7936-CCE6-351E-FA85644A068E}"/>
              </a:ext>
            </a:extLst>
          </p:cNvPr>
          <p:cNvCxnSpPr/>
          <p:nvPr/>
        </p:nvCxnSpPr>
        <p:spPr>
          <a:xfrm>
            <a:off x="9936308" y="3429000"/>
            <a:ext cx="0" cy="914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356">
            <a:extLst>
              <a:ext uri="{FF2B5EF4-FFF2-40B4-BE49-F238E27FC236}">
                <a16:creationId xmlns:a16="http://schemas.microsoft.com/office/drawing/2014/main" id="{A79BA970-BB3A-A22C-E2F5-27F7458413A1}"/>
              </a:ext>
            </a:extLst>
          </p:cNvPr>
          <p:cNvGrpSpPr>
            <a:grpSpLocks/>
          </p:cNvGrpSpPr>
          <p:nvPr/>
        </p:nvGrpSpPr>
        <p:grpSpPr bwMode="auto">
          <a:xfrm>
            <a:off x="9859963" y="5509637"/>
            <a:ext cx="376237" cy="349250"/>
            <a:chOff x="313" y="1497"/>
            <a:chExt cx="1152" cy="1014"/>
          </a:xfrm>
        </p:grpSpPr>
        <p:pic>
          <p:nvPicPr>
            <p:cNvPr id="69" name="Picture 354" descr="laptop_stylized_small">
              <a:extLst>
                <a:ext uri="{FF2B5EF4-FFF2-40B4-BE49-F238E27FC236}">
                  <a16:creationId xmlns:a16="http://schemas.microsoft.com/office/drawing/2014/main" id="{E4392F0A-DA5C-383C-C207-1FB183E08F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" name="Picture 355" descr="antenna_stylized">
              <a:extLst>
                <a:ext uri="{FF2B5EF4-FFF2-40B4-BE49-F238E27FC236}">
                  <a16:creationId xmlns:a16="http://schemas.microsoft.com/office/drawing/2014/main" id="{CFA9A326-4036-7DD8-E657-A3C5D55C74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1" name="Group 361">
            <a:extLst>
              <a:ext uri="{FF2B5EF4-FFF2-40B4-BE49-F238E27FC236}">
                <a16:creationId xmlns:a16="http://schemas.microsoft.com/office/drawing/2014/main" id="{A7F58B66-CB77-6045-58F2-D51E6515EEAE}"/>
              </a:ext>
            </a:extLst>
          </p:cNvPr>
          <p:cNvGrpSpPr>
            <a:grpSpLocks/>
          </p:cNvGrpSpPr>
          <p:nvPr/>
        </p:nvGrpSpPr>
        <p:grpSpPr bwMode="auto">
          <a:xfrm>
            <a:off x="8955088" y="5327074"/>
            <a:ext cx="762000" cy="663575"/>
            <a:chOff x="2967" y="478"/>
            <a:chExt cx="788" cy="625"/>
          </a:xfrm>
        </p:grpSpPr>
        <p:pic>
          <p:nvPicPr>
            <p:cNvPr id="72" name="Picture 358" descr="access_point_stylized_small">
              <a:extLst>
                <a:ext uri="{FF2B5EF4-FFF2-40B4-BE49-F238E27FC236}">
                  <a16:creationId xmlns:a16="http://schemas.microsoft.com/office/drawing/2014/main" id="{C358A11A-9E0C-4927-3ED3-C0553F3AC4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" name="Picture 360" descr="antenna_radiation_stylized">
              <a:extLst>
                <a:ext uri="{FF2B5EF4-FFF2-40B4-BE49-F238E27FC236}">
                  <a16:creationId xmlns:a16="http://schemas.microsoft.com/office/drawing/2014/main" id="{77A7FB19-2543-73E1-6970-86CAD10AC6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4" name="Group 361">
            <a:extLst>
              <a:ext uri="{FF2B5EF4-FFF2-40B4-BE49-F238E27FC236}">
                <a16:creationId xmlns:a16="http://schemas.microsoft.com/office/drawing/2014/main" id="{20658336-C621-275D-41AA-FB002100D2FC}"/>
              </a:ext>
            </a:extLst>
          </p:cNvPr>
          <p:cNvGrpSpPr>
            <a:grpSpLocks/>
          </p:cNvGrpSpPr>
          <p:nvPr/>
        </p:nvGrpSpPr>
        <p:grpSpPr bwMode="auto">
          <a:xfrm>
            <a:off x="10591800" y="5347712"/>
            <a:ext cx="762000" cy="661987"/>
            <a:chOff x="2967" y="478"/>
            <a:chExt cx="788" cy="625"/>
          </a:xfrm>
        </p:grpSpPr>
        <p:pic>
          <p:nvPicPr>
            <p:cNvPr id="75" name="Picture 358" descr="access_point_stylized_small">
              <a:extLst>
                <a:ext uri="{FF2B5EF4-FFF2-40B4-BE49-F238E27FC236}">
                  <a16:creationId xmlns:a16="http://schemas.microsoft.com/office/drawing/2014/main" id="{0AF710E9-ACF7-ECE5-0BA0-3CAC2AB64D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" name="Picture 360" descr="antenna_radiation_stylized">
              <a:extLst>
                <a:ext uri="{FF2B5EF4-FFF2-40B4-BE49-F238E27FC236}">
                  <a16:creationId xmlns:a16="http://schemas.microsoft.com/office/drawing/2014/main" id="{31752C48-AE32-27A4-7AF5-F9141AA556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7" name="Line 13">
            <a:extLst>
              <a:ext uri="{FF2B5EF4-FFF2-40B4-BE49-F238E27FC236}">
                <a16:creationId xmlns:a16="http://schemas.microsoft.com/office/drawing/2014/main" id="{428E5411-4F00-FD36-F59E-81BA6C69250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69513" y="4514274"/>
            <a:ext cx="744537" cy="1168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78" name="Line 13">
            <a:extLst>
              <a:ext uri="{FF2B5EF4-FFF2-40B4-BE49-F238E27FC236}">
                <a16:creationId xmlns:a16="http://schemas.microsoft.com/office/drawing/2014/main" id="{5E1FE914-8638-3BDE-06F6-E59F79F59B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3375" y="4534912"/>
            <a:ext cx="657225" cy="11382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1853800-EB4F-038F-C7DB-1C363FAED29A}"/>
              </a:ext>
            </a:extLst>
          </p:cNvPr>
          <p:cNvGrpSpPr/>
          <p:nvPr/>
        </p:nvGrpSpPr>
        <p:grpSpPr>
          <a:xfrm>
            <a:off x="9579558" y="3248311"/>
            <a:ext cx="744676" cy="388508"/>
            <a:chOff x="7493876" y="2774731"/>
            <a:chExt cx="1481958" cy="894622"/>
          </a:xfrm>
        </p:grpSpPr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B16387E5-28E5-5A0D-9F28-D1E488FF036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27F224B-6688-5697-1089-7B6FCCC660F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8DB2CE17-7D62-3800-5495-9E07EFFF61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61109F41-F726-CE99-AD87-BD83BCF117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485F6777-7AE9-9394-9444-AFDA221AB1A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B1166A80-7737-1B2D-7A76-BF5DD08FC6C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FD055993-F32A-CE2C-6AC6-13B87D9B02C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00E8BEA-DBFD-96FC-16F4-642F58566B20}"/>
              </a:ext>
            </a:extLst>
          </p:cNvPr>
          <p:cNvGrpSpPr/>
          <p:nvPr/>
        </p:nvGrpSpPr>
        <p:grpSpPr>
          <a:xfrm>
            <a:off x="9588601" y="4244398"/>
            <a:ext cx="711278" cy="420709"/>
            <a:chOff x="3668110" y="2448910"/>
            <a:chExt cx="3794234" cy="216513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CEBBAF7-94A1-ECB3-41E2-08EA85745A6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C9BBE92C-EF2F-BF64-545A-98306F5D598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939DD28-647B-43ED-1375-E951A87FDE55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77BAD5E5-39EB-6012-BA07-F77DF470BAED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040028D4-D572-0B96-D717-EFEEB223B613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76343FA2-F4B4-7817-59A7-9C3A29705499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9ED3B32E-515A-A1F6-EAE6-65020631BF05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" name="Line 59">
            <a:extLst>
              <a:ext uri="{FF2B5EF4-FFF2-40B4-BE49-F238E27FC236}">
                <a16:creationId xmlns:a16="http://schemas.microsoft.com/office/drawing/2014/main" id="{DBE5C50F-9685-C327-BB27-49A59104C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36200" y="5723146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419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8611F2-1FE5-09E0-E203-15EA8368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7D18CB-8F78-35A3-5750-B3CACD6D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CSMA/CD</a:t>
            </a:r>
          </a:p>
          <a:p>
            <a:r>
              <a:rPr lang="en-US" dirty="0"/>
              <a:t>After aborting, NIC enters </a:t>
            </a:r>
            <a:r>
              <a:rPr lang="en-US" i="1" dirty="0">
                <a:solidFill>
                  <a:srgbClr val="CC0000"/>
                </a:solidFill>
              </a:rPr>
              <a:t>binary (exponential) </a:t>
            </a:r>
            <a:r>
              <a:rPr lang="en-US" i="1" dirty="0" err="1">
                <a:solidFill>
                  <a:srgbClr val="CC0000"/>
                </a:solidFill>
              </a:rPr>
              <a:t>backoff</a:t>
            </a:r>
            <a:r>
              <a:rPr lang="en-US" i="1" dirty="0">
                <a:solidFill>
                  <a:srgbClr val="CC0000"/>
                </a:solidFill>
              </a:rPr>
              <a:t>: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98A1FCEC-F3C6-867C-F9C9-8D1401EF5E5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065667" y="3687302"/>
            <a:ext cx="8285162" cy="30988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600" dirty="0">
                <a:solidFill>
                  <a:srgbClr val="FF0000"/>
                </a:solidFill>
              </a:rPr>
              <a:t>802.11: </a:t>
            </a:r>
            <a:r>
              <a:rPr lang="en-US" sz="2600" i="1" dirty="0">
                <a:solidFill>
                  <a:srgbClr val="FF0000"/>
                </a:solidFill>
              </a:rPr>
              <a:t>no</a:t>
            </a:r>
            <a:r>
              <a:rPr lang="en-US" sz="2600" dirty="0">
                <a:solidFill>
                  <a:srgbClr val="FF0000"/>
                </a:solidFill>
              </a:rPr>
              <a:t> collision detection!</a:t>
            </a:r>
          </a:p>
          <a:p>
            <a:pPr>
              <a:defRPr/>
            </a:pPr>
            <a:r>
              <a:rPr lang="en-US" sz="2600" dirty="0"/>
              <a:t>avoid collisions (CA): 2</a:t>
            </a:r>
            <a:r>
              <a:rPr lang="en-US" sz="2600" baseline="30000" dirty="0"/>
              <a:t>+</a:t>
            </a:r>
            <a:r>
              <a:rPr lang="en-US" sz="2600" dirty="0"/>
              <a:t> nodes </a:t>
            </a:r>
            <a:r>
              <a:rPr lang="en-US" sz="2600" dirty="0">
                <a:sym typeface="Symbol" charset="0"/>
              </a:rPr>
              <a:t>transmitting at same time</a:t>
            </a:r>
          </a:p>
          <a:p>
            <a:pPr>
              <a:defRPr/>
            </a:pPr>
            <a:r>
              <a:rPr lang="en-US" sz="2600" dirty="0">
                <a:sym typeface="Symbol" charset="0"/>
              </a:rPr>
              <a:t>802.11: CSMA - sense before transmitting</a:t>
            </a:r>
          </a:p>
          <a:p>
            <a:pPr lvl="1">
              <a:defRPr/>
            </a:pPr>
            <a:r>
              <a:rPr lang="en-US" sz="2600" dirty="0"/>
              <a:t>don</a:t>
            </a:r>
            <a:r>
              <a:rPr lang="ja-JP" altLang="en-US" sz="2600" dirty="0"/>
              <a:t>’</a:t>
            </a:r>
            <a:r>
              <a:rPr lang="en-US" sz="2600" dirty="0"/>
              <a:t>t collide with ongoing transmission by other node</a:t>
            </a:r>
          </a:p>
          <a:p>
            <a:pPr>
              <a:defRPr/>
            </a:pPr>
            <a:r>
              <a:rPr lang="en-US" dirty="0"/>
              <a:t>DIFS-DATA-SIFS-ACK: mandatory </a:t>
            </a:r>
          </a:p>
          <a:p>
            <a:pPr>
              <a:defRPr/>
            </a:pPr>
            <a:r>
              <a:rPr lang="en-US" dirty="0"/>
              <a:t>RTS-CTS-DATA-ACK</a:t>
            </a:r>
          </a:p>
          <a:p>
            <a:pPr lvl="1">
              <a:defRPr/>
            </a:pPr>
            <a:r>
              <a:rPr lang="en-US" dirty="0"/>
              <a:t>RTS-CTS: reserve channel (hidden terminal)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E04A491-AFFC-ABCD-384D-691F6D87E33E}"/>
              </a:ext>
            </a:extLst>
          </p:cNvPr>
          <p:cNvSpPr txBox="1">
            <a:spLocks noChangeArrowheads="1"/>
          </p:cNvSpPr>
          <p:nvPr/>
        </p:nvSpPr>
        <p:spPr>
          <a:xfrm>
            <a:off x="1322048" y="2599198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600" dirty="0">
                <a:solidFill>
                  <a:srgbClr val="0432FF"/>
                </a:solidFill>
                <a:latin typeface="+mn-lt"/>
              </a:rPr>
              <a:t>802.11 CSMA/CA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59390-D03F-E1C8-2AFE-0E0DF788F343}"/>
              </a:ext>
            </a:extLst>
          </p:cNvPr>
          <p:cNvSpPr txBox="1"/>
          <p:nvPr/>
        </p:nvSpPr>
        <p:spPr>
          <a:xfrm>
            <a:off x="2451100" y="6401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432FF"/>
                </a:solidFill>
                <a:latin typeface="+mn-lt"/>
              </a:rPr>
              <a:t>Ethernet CSMA/CD algorithm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20134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5B58-0466-624A-B6B4-8884322A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Ch4: Addressing &amp; NAT</a:t>
            </a:r>
          </a:p>
        </p:txBody>
      </p:sp>
      <p:sp>
        <p:nvSpPr>
          <p:cNvPr id="4" name="Freeform 45">
            <a:extLst>
              <a:ext uri="{FF2B5EF4-FFF2-40B4-BE49-F238E27FC236}">
                <a16:creationId xmlns:a16="http://schemas.microsoft.com/office/drawing/2014/main" id="{67B8449A-30F1-A543-B912-D54F331FD4CE}"/>
              </a:ext>
            </a:extLst>
          </p:cNvPr>
          <p:cNvSpPr>
            <a:spLocks/>
          </p:cNvSpPr>
          <p:nvPr/>
        </p:nvSpPr>
        <p:spPr bwMode="auto">
          <a:xfrm>
            <a:off x="8381207" y="1511545"/>
            <a:ext cx="1444625" cy="2714625"/>
          </a:xfrm>
          <a:custGeom>
            <a:avLst/>
            <a:gdLst>
              <a:gd name="T0" fmla="*/ 2147483646 w 910"/>
              <a:gd name="T1" fmla="*/ 2147483646 h 1710"/>
              <a:gd name="T2" fmla="*/ 2147483646 w 910"/>
              <a:gd name="T3" fmla="*/ 2147483646 h 1710"/>
              <a:gd name="T4" fmla="*/ 2147483646 w 910"/>
              <a:gd name="T5" fmla="*/ 2147483646 h 1710"/>
              <a:gd name="T6" fmla="*/ 2147483646 w 910"/>
              <a:gd name="T7" fmla="*/ 2147483646 h 1710"/>
              <a:gd name="T8" fmla="*/ 2147483646 w 910"/>
              <a:gd name="T9" fmla="*/ 2147483646 h 1710"/>
              <a:gd name="T10" fmla="*/ 2147483646 w 910"/>
              <a:gd name="T11" fmla="*/ 2147483646 h 1710"/>
              <a:gd name="T12" fmla="*/ 2147483646 w 910"/>
              <a:gd name="T13" fmla="*/ 2147483646 h 1710"/>
              <a:gd name="T14" fmla="*/ 2147483646 w 910"/>
              <a:gd name="T15" fmla="*/ 2147483646 h 1710"/>
              <a:gd name="T16" fmla="*/ 2147483646 w 910"/>
              <a:gd name="T17" fmla="*/ 2147483646 h 1710"/>
              <a:gd name="T18" fmla="*/ 2147483646 w 910"/>
              <a:gd name="T19" fmla="*/ 2147483646 h 1710"/>
              <a:gd name="T20" fmla="*/ 2147483646 w 910"/>
              <a:gd name="T21" fmla="*/ 2147483646 h 1710"/>
              <a:gd name="T22" fmla="*/ 2147483646 w 910"/>
              <a:gd name="T23" fmla="*/ 2147483646 h 171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10" h="17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A4F7824-032C-CC48-A56C-32C7E00AF5B6}"/>
              </a:ext>
            </a:extLst>
          </p:cNvPr>
          <p:cNvSpPr>
            <a:spLocks/>
          </p:cNvSpPr>
          <p:nvPr/>
        </p:nvSpPr>
        <p:spPr bwMode="auto">
          <a:xfrm>
            <a:off x="6407943" y="2689470"/>
            <a:ext cx="2019300" cy="295275"/>
          </a:xfrm>
          <a:custGeom>
            <a:avLst/>
            <a:gdLst>
              <a:gd name="T0" fmla="*/ 0 w 1272"/>
              <a:gd name="T1" fmla="*/ 0 h 186"/>
              <a:gd name="T2" fmla="*/ 2147483646 w 1272"/>
              <a:gd name="T3" fmla="*/ 2147483646 h 18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651A69F8-ECD4-D345-A25C-BE0BAA3D08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4793" y="2965694"/>
            <a:ext cx="89535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172FBD9E-CFD4-2145-A746-A43684E14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044" y="1555994"/>
            <a:ext cx="847725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0EF1CBF-BA02-5C49-916B-26C0E04BF47D}"/>
              </a:ext>
            </a:extLst>
          </p:cNvPr>
          <p:cNvSpPr>
            <a:spLocks/>
          </p:cNvSpPr>
          <p:nvPr/>
        </p:nvSpPr>
        <p:spPr bwMode="auto">
          <a:xfrm>
            <a:off x="4806157" y="2135433"/>
            <a:ext cx="1773237" cy="979487"/>
          </a:xfrm>
          <a:custGeom>
            <a:avLst/>
            <a:gdLst>
              <a:gd name="T0" fmla="*/ 2147483646 w 1117"/>
              <a:gd name="T1" fmla="*/ 2147483646 h 617"/>
              <a:gd name="T2" fmla="*/ 2147483646 w 1117"/>
              <a:gd name="T3" fmla="*/ 2147483646 h 617"/>
              <a:gd name="T4" fmla="*/ 2147483646 w 1117"/>
              <a:gd name="T5" fmla="*/ 2147483646 h 617"/>
              <a:gd name="T6" fmla="*/ 2147483646 w 1117"/>
              <a:gd name="T7" fmla="*/ 2147483646 h 617"/>
              <a:gd name="T8" fmla="*/ 2147483646 w 1117"/>
              <a:gd name="T9" fmla="*/ 2147483646 h 617"/>
              <a:gd name="T10" fmla="*/ 2147483646 w 1117"/>
              <a:gd name="T11" fmla="*/ 2147483646 h 617"/>
              <a:gd name="T12" fmla="*/ 2147483646 w 1117"/>
              <a:gd name="T13" fmla="*/ 2147483646 h 617"/>
              <a:gd name="T14" fmla="*/ 2147483646 w 1117"/>
              <a:gd name="T15" fmla="*/ 2147483646 h 617"/>
              <a:gd name="T16" fmla="*/ 2147483646 w 1117"/>
              <a:gd name="T17" fmla="*/ 2147483646 h 617"/>
              <a:gd name="T18" fmla="*/ 2147483646 w 1117"/>
              <a:gd name="T19" fmla="*/ 2147483646 h 617"/>
              <a:gd name="T20" fmla="*/ 2147483646 w 1117"/>
              <a:gd name="T21" fmla="*/ 2147483646 h 617"/>
              <a:gd name="T22" fmla="*/ 2147483646 w 1117"/>
              <a:gd name="T23" fmla="*/ 2147483646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0AE3207B-AEDF-8948-9930-0BB090F1E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9719" y="1862383"/>
            <a:ext cx="17171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en-US" sz="1400">
                <a:latin typeface="Arial" panose="020B0604020202020204" pitchFamily="34" charset="0"/>
              </a:rPr>
              <a:t>“</a:t>
            </a:r>
            <a:r>
              <a:rPr lang="en-US" altLang="ja-JP" sz="1400">
                <a:latin typeface="Arial" panose="020B0604020202020204" pitchFamily="34" charset="0"/>
              </a:rPr>
              <a:t>Send me anything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with addresses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beginning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u="sng">
                <a:solidFill>
                  <a:srgbClr val="CC0000"/>
                </a:solidFill>
                <a:latin typeface="Arial" panose="020B0604020202020204" pitchFamily="34" charset="0"/>
              </a:rPr>
              <a:t>200.23.16.0/20</a:t>
            </a:r>
            <a:r>
              <a:rPr lang="ja-JP" altLang="en-US" sz="1400">
                <a:latin typeface="Arial" panose="020B0604020202020204" pitchFamily="34" charset="0"/>
              </a:rPr>
              <a:t>”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4AD913-4702-3342-B793-A8D363465C32}"/>
              </a:ext>
            </a:extLst>
          </p:cNvPr>
          <p:cNvGrpSpPr>
            <a:grpSpLocks/>
          </p:cNvGrpSpPr>
          <p:nvPr/>
        </p:nvGrpSpPr>
        <p:grpSpPr bwMode="auto">
          <a:xfrm>
            <a:off x="1991518" y="1328982"/>
            <a:ext cx="2338388" cy="404812"/>
            <a:chOff x="1004" y="1639"/>
            <a:chExt cx="1473" cy="255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191B143-18F5-4D4B-BA0C-AF9ED8B96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18495A85-D8AD-EB4E-A9B7-F28CC0A533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200.23.16.0/23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69A7DC-1F78-C148-ADCD-7255C7011B17}"/>
              </a:ext>
            </a:extLst>
          </p:cNvPr>
          <p:cNvGrpSpPr>
            <a:grpSpLocks/>
          </p:cNvGrpSpPr>
          <p:nvPr/>
        </p:nvGrpSpPr>
        <p:grpSpPr bwMode="auto">
          <a:xfrm>
            <a:off x="1934368" y="3338757"/>
            <a:ext cx="2338388" cy="404812"/>
            <a:chOff x="1004" y="1639"/>
            <a:chExt cx="1473" cy="255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DC2FC7F-0CE0-EC49-AEE8-76186EFFF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51C8F4AD-3969-F644-96FE-6E55A3DF6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200.23.30.0/23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20" name="Text Box 19">
            <a:extLst>
              <a:ext uri="{FF2B5EF4-FFF2-40B4-BE49-F238E27FC236}">
                <a16:creationId xmlns:a16="http://schemas.microsoft.com/office/drawing/2014/main" id="{A653F267-8663-E746-920E-050006DC4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9493" y="2567232"/>
            <a:ext cx="1506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Fly-By-Night-ISP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4DE9BB74-BCD3-5249-A100-2357DB080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19" y="1071807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Organization 0</a:t>
            </a: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7CDF8C88-A8DB-7645-B935-FA88370A7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094" y="3081582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Organization 7</a:t>
            </a: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EC9CA5AB-ED2E-0441-8001-AE8EB7446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969" y="2891082"/>
            <a:ext cx="784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Internet</a:t>
            </a:r>
          </a:p>
        </p:txBody>
      </p:sp>
      <p:grpSp>
        <p:nvGrpSpPr>
          <p:cNvPr id="32" name="Group 32">
            <a:extLst>
              <a:ext uri="{FF2B5EF4-FFF2-40B4-BE49-F238E27FC236}">
                <a16:creationId xmlns:a16="http://schemas.microsoft.com/office/drawing/2014/main" id="{F9A7773C-EE0F-AE47-9D59-E6DD00B8DF24}"/>
              </a:ext>
            </a:extLst>
          </p:cNvPr>
          <p:cNvGrpSpPr>
            <a:grpSpLocks/>
          </p:cNvGrpSpPr>
          <p:nvPr/>
        </p:nvGrpSpPr>
        <p:grpSpPr bwMode="auto">
          <a:xfrm>
            <a:off x="2039143" y="2510082"/>
            <a:ext cx="2338388" cy="404812"/>
            <a:chOff x="1004" y="1639"/>
            <a:chExt cx="1473" cy="255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9D35A944-0F1A-3746-82F9-9D5DD5C11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7AA302DE-42E9-484D-9E47-DD9C8A28A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Arial" panose="020B0604020202020204" pitchFamily="34" charset="0"/>
                </a:rPr>
                <a:t>200.23.20.0/23</a:t>
              </a: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35" name="Text Box 35">
            <a:extLst>
              <a:ext uri="{FF2B5EF4-FFF2-40B4-BE49-F238E27FC236}">
                <a16:creationId xmlns:a16="http://schemas.microsoft.com/office/drawing/2014/main" id="{5E622DE4-50FD-304D-8059-21D7B6683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094" y="2310057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Organization 2</a:t>
            </a:r>
          </a:p>
        </p:txBody>
      </p:sp>
      <p:grpSp>
        <p:nvGrpSpPr>
          <p:cNvPr id="36" name="Group 36">
            <a:extLst>
              <a:ext uri="{FF2B5EF4-FFF2-40B4-BE49-F238E27FC236}">
                <a16:creationId xmlns:a16="http://schemas.microsoft.com/office/drawing/2014/main" id="{B0BBF371-A951-D442-96E1-BF40EAB5D929}"/>
              </a:ext>
            </a:extLst>
          </p:cNvPr>
          <p:cNvGrpSpPr>
            <a:grpSpLocks/>
          </p:cNvGrpSpPr>
          <p:nvPr/>
        </p:nvGrpSpPr>
        <p:grpSpPr bwMode="auto">
          <a:xfrm>
            <a:off x="3388519" y="2767258"/>
            <a:ext cx="257175" cy="663575"/>
            <a:chOff x="870" y="2941"/>
            <a:chExt cx="162" cy="418"/>
          </a:xfrm>
        </p:grpSpPr>
        <p:sp>
          <p:nvSpPr>
            <p:cNvPr id="37" name="Text Box 37">
              <a:extLst>
                <a:ext uri="{FF2B5EF4-FFF2-40B4-BE49-F238E27FC236}">
                  <a16:creationId xmlns:a16="http://schemas.microsoft.com/office/drawing/2014/main" id="{DCCA90D5-5CE9-4643-8C2A-A87B9EDBC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.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8" name="Text Box 38">
              <a:extLst>
                <a:ext uri="{FF2B5EF4-FFF2-40B4-BE49-F238E27FC236}">
                  <a16:creationId xmlns:a16="http://schemas.microsoft.com/office/drawing/2014/main" id="{85D6D104-06DA-9A48-A21F-C4F55E05A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.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F7F95889-107D-E94D-9932-B1798DFE9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.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B262692B-04C3-8249-81AC-92B870121D3F}"/>
              </a:ext>
            </a:extLst>
          </p:cNvPr>
          <p:cNvGrpSpPr>
            <a:grpSpLocks/>
          </p:cNvGrpSpPr>
          <p:nvPr/>
        </p:nvGrpSpPr>
        <p:grpSpPr bwMode="auto">
          <a:xfrm>
            <a:off x="4417219" y="2471983"/>
            <a:ext cx="257175" cy="663575"/>
            <a:chOff x="870" y="2941"/>
            <a:chExt cx="162" cy="418"/>
          </a:xfrm>
        </p:grpSpPr>
        <p:sp>
          <p:nvSpPr>
            <p:cNvPr id="41" name="Text Box 41">
              <a:extLst>
                <a:ext uri="{FF2B5EF4-FFF2-40B4-BE49-F238E27FC236}">
                  <a16:creationId xmlns:a16="http://schemas.microsoft.com/office/drawing/2014/main" id="{2F1BB675-2AE0-C545-ADA2-C481AA6F9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.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42" name="Text Box 42">
              <a:extLst>
                <a:ext uri="{FF2B5EF4-FFF2-40B4-BE49-F238E27FC236}">
                  <a16:creationId xmlns:a16="http://schemas.microsoft.com/office/drawing/2014/main" id="{83D18ED3-0B76-7946-A9DC-476FE8077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.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43" name="Text Box 43">
              <a:extLst>
                <a:ext uri="{FF2B5EF4-FFF2-40B4-BE49-F238E27FC236}">
                  <a16:creationId xmlns:a16="http://schemas.microsoft.com/office/drawing/2014/main" id="{9B5882F8-B1F5-0443-A9D3-06C4F251B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latin typeface="Arial" panose="020B0604020202020204" pitchFamily="34" charset="0"/>
                </a:rPr>
                <a:t>.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4" name="Freeform 80">
            <a:extLst>
              <a:ext uri="{FF2B5EF4-FFF2-40B4-BE49-F238E27FC236}">
                <a16:creationId xmlns:a16="http://schemas.microsoft.com/office/drawing/2014/main" id="{23AFAAFD-B244-DD4D-B798-5B09D2765F4A}"/>
              </a:ext>
            </a:extLst>
          </p:cNvPr>
          <p:cNvSpPr>
            <a:spLocks/>
          </p:cNvSpPr>
          <p:nvPr/>
        </p:nvSpPr>
        <p:spPr bwMode="auto">
          <a:xfrm>
            <a:off x="5676901" y="4367451"/>
            <a:ext cx="3738563" cy="2697162"/>
          </a:xfrm>
          <a:custGeom>
            <a:avLst/>
            <a:gdLst>
              <a:gd name="T0" fmla="*/ 2147483646 w 2355"/>
              <a:gd name="T1" fmla="*/ 2147483646 h 1699"/>
              <a:gd name="T2" fmla="*/ 2147483646 w 2355"/>
              <a:gd name="T3" fmla="*/ 2147483646 h 1699"/>
              <a:gd name="T4" fmla="*/ 2147483646 w 2355"/>
              <a:gd name="T5" fmla="*/ 2147483646 h 1699"/>
              <a:gd name="T6" fmla="*/ 2147483646 w 2355"/>
              <a:gd name="T7" fmla="*/ 2147483646 h 1699"/>
              <a:gd name="T8" fmla="*/ 2147483646 w 2355"/>
              <a:gd name="T9" fmla="*/ 2147483646 h 1699"/>
              <a:gd name="T10" fmla="*/ 2147483646 w 2355"/>
              <a:gd name="T11" fmla="*/ 2147483646 h 1699"/>
              <a:gd name="T12" fmla="*/ 2147483646 w 2355"/>
              <a:gd name="T13" fmla="*/ 2147483646 h 1699"/>
              <a:gd name="T14" fmla="*/ 2147483646 w 2355"/>
              <a:gd name="T15" fmla="*/ 2147483646 h 1699"/>
              <a:gd name="T16" fmla="*/ 2147483646 w 2355"/>
              <a:gd name="T17" fmla="*/ 2147483646 h 1699"/>
              <a:gd name="T18" fmla="*/ 2147483646 w 2355"/>
              <a:gd name="T19" fmla="*/ 2147483646 h 1699"/>
              <a:gd name="T20" fmla="*/ 2147483646 w 2355"/>
              <a:gd name="T21" fmla="*/ 2147483646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Freeform 4">
            <a:extLst>
              <a:ext uri="{FF2B5EF4-FFF2-40B4-BE49-F238E27FC236}">
                <a16:creationId xmlns:a16="http://schemas.microsoft.com/office/drawing/2014/main" id="{21E81D17-6A25-6B43-9E07-990379CF80BF}"/>
              </a:ext>
            </a:extLst>
          </p:cNvPr>
          <p:cNvSpPr>
            <a:spLocks/>
          </p:cNvSpPr>
          <p:nvPr/>
        </p:nvSpPr>
        <p:spPr bwMode="auto">
          <a:xfrm>
            <a:off x="1524000" y="5227882"/>
            <a:ext cx="3849688" cy="1425575"/>
          </a:xfrm>
          <a:custGeom>
            <a:avLst/>
            <a:gdLst>
              <a:gd name="T0" fmla="*/ 2147483646 w 2425"/>
              <a:gd name="T1" fmla="*/ 2147483646 h 898"/>
              <a:gd name="T2" fmla="*/ 2147483646 w 2425"/>
              <a:gd name="T3" fmla="*/ 2147483646 h 898"/>
              <a:gd name="T4" fmla="*/ 2147483646 w 2425"/>
              <a:gd name="T5" fmla="*/ 2147483646 h 898"/>
              <a:gd name="T6" fmla="*/ 2147483646 w 2425"/>
              <a:gd name="T7" fmla="*/ 2147483646 h 898"/>
              <a:gd name="T8" fmla="*/ 2147483646 w 2425"/>
              <a:gd name="T9" fmla="*/ 2147483646 h 898"/>
              <a:gd name="T10" fmla="*/ 2147483646 w 2425"/>
              <a:gd name="T11" fmla="*/ 2147483646 h 898"/>
              <a:gd name="T12" fmla="*/ 2147483646 w 2425"/>
              <a:gd name="T13" fmla="*/ 2147483646 h 898"/>
              <a:gd name="T14" fmla="*/ 2147483646 w 2425"/>
              <a:gd name="T15" fmla="*/ 2147483646 h 89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25" h="898">
                <a:moveTo>
                  <a:pt x="2056" y="289"/>
                </a:moveTo>
                <a:cubicBezTo>
                  <a:pt x="1826" y="223"/>
                  <a:pt x="1133" y="113"/>
                  <a:pt x="810" y="75"/>
                </a:cubicBezTo>
                <a:cubicBezTo>
                  <a:pt x="487" y="37"/>
                  <a:pt x="230" y="0"/>
                  <a:pt x="115" y="60"/>
                </a:cubicBezTo>
                <a:cubicBezTo>
                  <a:pt x="0" y="120"/>
                  <a:pt x="121" y="301"/>
                  <a:pt x="121" y="433"/>
                </a:cubicBezTo>
                <a:cubicBezTo>
                  <a:pt x="121" y="565"/>
                  <a:pt x="25" y="802"/>
                  <a:pt x="115" y="850"/>
                </a:cubicBezTo>
                <a:cubicBezTo>
                  <a:pt x="205" y="898"/>
                  <a:pt x="316" y="784"/>
                  <a:pt x="662" y="721"/>
                </a:cubicBezTo>
                <a:cubicBezTo>
                  <a:pt x="1008" y="658"/>
                  <a:pt x="1961" y="544"/>
                  <a:pt x="2193" y="472"/>
                </a:cubicBezTo>
                <a:cubicBezTo>
                  <a:pt x="2425" y="400"/>
                  <a:pt x="2292" y="327"/>
                  <a:pt x="2056" y="289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Line 8">
            <a:extLst>
              <a:ext uri="{FF2B5EF4-FFF2-40B4-BE49-F238E27FC236}">
                <a16:creationId xmlns:a16="http://schemas.microsoft.com/office/drawing/2014/main" id="{01E398B9-2BCD-4B44-9CF2-44479DE024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5831131"/>
            <a:ext cx="1214438" cy="11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" name="Line 9">
            <a:extLst>
              <a:ext uri="{FF2B5EF4-FFF2-40B4-BE49-F238E27FC236}">
                <a16:creationId xmlns:a16="http://schemas.microsoft.com/office/drawing/2014/main" id="{89A5AB8E-8B32-824D-95AF-772B615C0F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5881931"/>
            <a:ext cx="3000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" name="Line 10">
            <a:extLst>
              <a:ext uri="{FF2B5EF4-FFF2-40B4-BE49-F238E27FC236}">
                <a16:creationId xmlns:a16="http://schemas.microsoft.com/office/drawing/2014/main" id="{568397A1-420E-8645-ADE7-CA12B287B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31238" y="5094531"/>
            <a:ext cx="1333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9" name="Line 11">
            <a:extLst>
              <a:ext uri="{FF2B5EF4-FFF2-40B4-BE49-F238E27FC236}">
                <a16:creationId xmlns:a16="http://schemas.microsoft.com/office/drawing/2014/main" id="{C2A46847-69EA-344A-8A52-FDB51EB0C1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37588" y="6599481"/>
            <a:ext cx="171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DDB00646-76FF-9249-B5C4-16FBA5242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6713" y="4824656"/>
            <a:ext cx="9191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10.0.0.1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CB016DC4-0E5C-3643-AB9A-7AFAAA790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3713" y="5593006"/>
            <a:ext cx="9191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10.0.0.2</a:t>
            </a:r>
          </a:p>
        </p:txBody>
      </p:sp>
      <p:sp>
        <p:nvSpPr>
          <p:cNvPr id="52" name="Text Box 14">
            <a:extLst>
              <a:ext uri="{FF2B5EF4-FFF2-40B4-BE49-F238E27FC236}">
                <a16:creationId xmlns:a16="http://schemas.microsoft.com/office/drawing/2014/main" id="{ED560245-76DC-1F49-80E8-704EA8DC4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1" y="6399456"/>
            <a:ext cx="919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10.0.0.3</a:t>
            </a:r>
          </a:p>
        </p:txBody>
      </p:sp>
      <p:sp>
        <p:nvSpPr>
          <p:cNvPr id="53" name="Text Box 15">
            <a:extLst>
              <a:ext uri="{FF2B5EF4-FFF2-40B4-BE49-F238E27FC236}">
                <a16:creationId xmlns:a16="http://schemas.microsoft.com/office/drawing/2014/main" id="{A0BD094C-22BD-BA47-8002-F7B79394B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1988" y="5315193"/>
            <a:ext cx="9191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10.0.0.4</a:t>
            </a:r>
          </a:p>
        </p:txBody>
      </p:sp>
      <p:sp>
        <p:nvSpPr>
          <p:cNvPr id="54" name="Line 16">
            <a:extLst>
              <a:ext uri="{FF2B5EF4-FFF2-40B4-BE49-F238E27FC236}">
                <a16:creationId xmlns:a16="http://schemas.microsoft.com/office/drawing/2014/main" id="{67F92047-BEC3-7C4B-81A4-A89463D189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5814" y="5593007"/>
            <a:ext cx="85725" cy="128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B9465EB6-CACF-5145-9C18-2B3A3838E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100" y="5972418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138.76.29.7</a:t>
            </a:r>
          </a:p>
        </p:txBody>
      </p:sp>
      <p:sp>
        <p:nvSpPr>
          <p:cNvPr id="56" name="Line 18">
            <a:extLst>
              <a:ext uri="{FF2B5EF4-FFF2-40B4-BE49-F238E27FC236}">
                <a16:creationId xmlns:a16="http://schemas.microsoft.com/office/drawing/2014/main" id="{6B8CB91C-33E6-234C-9760-BDAEAEFA8A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6026" y="5920032"/>
            <a:ext cx="85725" cy="128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7" name="Line 79">
            <a:extLst>
              <a:ext uri="{FF2B5EF4-FFF2-40B4-BE49-F238E27FC236}">
                <a16:creationId xmlns:a16="http://schemas.microsoft.com/office/drawing/2014/main" id="{30DC7B49-2874-404D-9B10-28CB9220D1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0439" y="5870818"/>
            <a:ext cx="302577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" name="Text Box 81">
            <a:extLst>
              <a:ext uri="{FF2B5EF4-FFF2-40B4-BE49-F238E27FC236}">
                <a16:creationId xmlns:a16="http://schemas.microsoft.com/office/drawing/2014/main" id="{FEDD6CCF-3599-FA4F-9927-5AB41FE41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4323007"/>
            <a:ext cx="2279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local network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(e.g., home network)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10.0.0/24</a:t>
            </a:r>
          </a:p>
        </p:txBody>
      </p:sp>
      <p:sp>
        <p:nvSpPr>
          <p:cNvPr id="59" name="Line 82">
            <a:extLst>
              <a:ext uri="{FF2B5EF4-FFF2-40B4-BE49-F238E27FC236}">
                <a16:creationId xmlns:a16="http://schemas.microsoft.com/office/drawing/2014/main" id="{C35ED6D0-F02B-FB44-B4CC-07BD63661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0" y="4548431"/>
            <a:ext cx="1385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" name="Line 83">
            <a:extLst>
              <a:ext uri="{FF2B5EF4-FFF2-40B4-BE49-F238E27FC236}">
                <a16:creationId xmlns:a16="http://schemas.microsoft.com/office/drawing/2014/main" id="{C5EDE623-191F-D547-800A-D3DAF3CA9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7838" y="4408732"/>
            <a:ext cx="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" name="Line 84">
            <a:extLst>
              <a:ext uri="{FF2B5EF4-FFF2-40B4-BE49-F238E27FC236}">
                <a16:creationId xmlns:a16="http://schemas.microsoft.com/office/drawing/2014/main" id="{D3F8371B-E8D4-C74C-9A49-7BE12068F36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97539" y="4535731"/>
            <a:ext cx="898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2" name="Line 86">
            <a:extLst>
              <a:ext uri="{FF2B5EF4-FFF2-40B4-BE49-F238E27FC236}">
                <a16:creationId xmlns:a16="http://schemas.microsoft.com/office/drawing/2014/main" id="{B1F60463-6AC9-F64B-909C-AEED2A3720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2100" y="4548431"/>
            <a:ext cx="1385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3" name="Line 87">
            <a:extLst>
              <a:ext uri="{FF2B5EF4-FFF2-40B4-BE49-F238E27FC236}">
                <a16:creationId xmlns:a16="http://schemas.microsoft.com/office/drawing/2014/main" id="{44CD7AA1-15A2-F240-AA1F-99E09B0C6C4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90764" y="4535731"/>
            <a:ext cx="898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4" name="Text Box 88">
            <a:extLst>
              <a:ext uri="{FF2B5EF4-FFF2-40B4-BE49-F238E27FC236}">
                <a16:creationId xmlns:a16="http://schemas.microsoft.com/office/drawing/2014/main" id="{D5AA4CE5-1FEC-914D-98C2-53C19FC9A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175" y="4310306"/>
            <a:ext cx="958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rest of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Internet</a:t>
            </a:r>
          </a:p>
        </p:txBody>
      </p:sp>
      <p:grpSp>
        <p:nvGrpSpPr>
          <p:cNvPr id="67" name="Group 98">
            <a:extLst>
              <a:ext uri="{FF2B5EF4-FFF2-40B4-BE49-F238E27FC236}">
                <a16:creationId xmlns:a16="http://schemas.microsoft.com/office/drawing/2014/main" id="{64F4B1AD-85EB-D84E-BED8-9B9A3784D600}"/>
              </a:ext>
            </a:extLst>
          </p:cNvPr>
          <p:cNvGrpSpPr>
            <a:grpSpLocks/>
          </p:cNvGrpSpPr>
          <p:nvPr/>
        </p:nvGrpSpPr>
        <p:grpSpPr bwMode="auto">
          <a:xfrm>
            <a:off x="5157788" y="5707306"/>
            <a:ext cx="900112" cy="347662"/>
            <a:chOff x="4396" y="1245"/>
            <a:chExt cx="672" cy="248"/>
          </a:xfrm>
        </p:grpSpPr>
        <p:sp>
          <p:nvSpPr>
            <p:cNvPr id="68" name="Oval 407">
              <a:extLst>
                <a:ext uri="{FF2B5EF4-FFF2-40B4-BE49-F238E27FC236}">
                  <a16:creationId xmlns:a16="http://schemas.microsoft.com/office/drawing/2014/main" id="{7D3F7EF9-0296-934F-9B60-2B241869C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410">
              <a:extLst>
                <a:ext uri="{FF2B5EF4-FFF2-40B4-BE49-F238E27FC236}">
                  <a16:creationId xmlns:a16="http://schemas.microsoft.com/office/drawing/2014/main" id="{C726F82C-D302-AC40-9E1D-B0ECB0EF6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" name="Oval 411">
              <a:extLst>
                <a:ext uri="{FF2B5EF4-FFF2-40B4-BE49-F238E27FC236}">
                  <a16:creationId xmlns:a16="http://schemas.microsoft.com/office/drawing/2014/main" id="{E10E3AF5-665D-844E-BB88-606995D50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itchFamily="2" charset="2"/>
                <a:buChar char="v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1" name="Group 102">
              <a:extLst>
                <a:ext uri="{FF2B5EF4-FFF2-40B4-BE49-F238E27FC236}">
                  <a16:creationId xmlns:a16="http://schemas.microsoft.com/office/drawing/2014/main" id="{8E8C604F-0FB4-5B43-8E7F-6AD0F7E76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74" name="Freeform 103">
                <a:extLst>
                  <a:ext uri="{FF2B5EF4-FFF2-40B4-BE49-F238E27FC236}">
                    <a16:creationId xmlns:a16="http://schemas.microsoft.com/office/drawing/2014/main" id="{0F016E85-E1A3-2C44-9508-369513E740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04">
                <a:extLst>
                  <a:ext uri="{FF2B5EF4-FFF2-40B4-BE49-F238E27FC236}">
                    <a16:creationId xmlns:a16="http://schemas.microsoft.com/office/drawing/2014/main" id="{2D137BC7-3926-274D-BA0B-4480779719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2" name="Line 105">
              <a:extLst>
                <a:ext uri="{FF2B5EF4-FFF2-40B4-BE49-F238E27FC236}">
                  <a16:creationId xmlns:a16="http://schemas.microsoft.com/office/drawing/2014/main" id="{2728DD1C-FE2A-6C43-95D5-282B8C9DF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106">
              <a:extLst>
                <a:ext uri="{FF2B5EF4-FFF2-40B4-BE49-F238E27FC236}">
                  <a16:creationId xmlns:a16="http://schemas.microsoft.com/office/drawing/2014/main" id="{EADF6861-D974-D54C-848A-6ABDCAA59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107">
            <a:extLst>
              <a:ext uri="{FF2B5EF4-FFF2-40B4-BE49-F238E27FC236}">
                <a16:creationId xmlns:a16="http://schemas.microsoft.com/office/drawing/2014/main" id="{9FD61B7F-0827-E546-AE87-95B16B37960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731250" y="4888156"/>
            <a:ext cx="641350" cy="558800"/>
            <a:chOff x="-44" y="1473"/>
            <a:chExt cx="981" cy="1105"/>
          </a:xfrm>
        </p:grpSpPr>
        <p:pic>
          <p:nvPicPr>
            <p:cNvPr id="77" name="Picture 108" descr="desktop_computer_stylized_medium">
              <a:extLst>
                <a:ext uri="{FF2B5EF4-FFF2-40B4-BE49-F238E27FC236}">
                  <a16:creationId xmlns:a16="http://schemas.microsoft.com/office/drawing/2014/main" id="{06E7C785-34A2-DC40-BA30-63C65E604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Freeform 109">
              <a:extLst>
                <a:ext uri="{FF2B5EF4-FFF2-40B4-BE49-F238E27FC236}">
                  <a16:creationId xmlns:a16="http://schemas.microsoft.com/office/drawing/2014/main" id="{B0FA5CC5-BB49-9F42-9DF7-1E6C39A529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4356 w 356"/>
                <a:gd name="T3" fmla="*/ 8247 h 368"/>
                <a:gd name="T4" fmla="*/ 123796 w 356"/>
                <a:gd name="T5" fmla="*/ 171821 h 368"/>
                <a:gd name="T6" fmla="*/ 27283 w 356"/>
                <a:gd name="T7" fmla="*/ 21488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9" name="Group 110">
            <a:extLst>
              <a:ext uri="{FF2B5EF4-FFF2-40B4-BE49-F238E27FC236}">
                <a16:creationId xmlns:a16="http://schemas.microsoft.com/office/drawing/2014/main" id="{DA9FE6AF-CCB0-824A-A58E-4C3E121BA15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770938" y="5564431"/>
            <a:ext cx="641350" cy="558800"/>
            <a:chOff x="-44" y="1473"/>
            <a:chExt cx="981" cy="1105"/>
          </a:xfrm>
        </p:grpSpPr>
        <p:pic>
          <p:nvPicPr>
            <p:cNvPr id="80" name="Picture 111" descr="desktop_computer_stylized_medium">
              <a:extLst>
                <a:ext uri="{FF2B5EF4-FFF2-40B4-BE49-F238E27FC236}">
                  <a16:creationId xmlns:a16="http://schemas.microsoft.com/office/drawing/2014/main" id="{21F456B4-F45A-B34E-AFBA-B593E4C7E0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" name="Freeform 112">
              <a:extLst>
                <a:ext uri="{FF2B5EF4-FFF2-40B4-BE49-F238E27FC236}">
                  <a16:creationId xmlns:a16="http://schemas.microsoft.com/office/drawing/2014/main" id="{D2458E21-1BDE-C142-ADF1-838E1B23E9D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4356 w 356"/>
                <a:gd name="T3" fmla="*/ 8247 h 368"/>
                <a:gd name="T4" fmla="*/ 123796 w 356"/>
                <a:gd name="T5" fmla="*/ 171821 h 368"/>
                <a:gd name="T6" fmla="*/ 27283 w 356"/>
                <a:gd name="T7" fmla="*/ 21488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2" name="Group 113">
            <a:extLst>
              <a:ext uri="{FF2B5EF4-FFF2-40B4-BE49-F238E27FC236}">
                <a16:creationId xmlns:a16="http://schemas.microsoft.com/office/drawing/2014/main" id="{E272865A-EA03-6546-868D-2833AFF0206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778875" y="6318493"/>
            <a:ext cx="641350" cy="558800"/>
            <a:chOff x="-44" y="1473"/>
            <a:chExt cx="981" cy="1105"/>
          </a:xfrm>
        </p:grpSpPr>
        <p:pic>
          <p:nvPicPr>
            <p:cNvPr id="83" name="Picture 114" descr="desktop_computer_stylized_medium">
              <a:extLst>
                <a:ext uri="{FF2B5EF4-FFF2-40B4-BE49-F238E27FC236}">
                  <a16:creationId xmlns:a16="http://schemas.microsoft.com/office/drawing/2014/main" id="{480CB77E-16B5-8947-A93B-A0B7F38989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" name="Freeform 115">
              <a:extLst>
                <a:ext uri="{FF2B5EF4-FFF2-40B4-BE49-F238E27FC236}">
                  <a16:creationId xmlns:a16="http://schemas.microsoft.com/office/drawing/2014/main" id="{5C23545F-058B-1949-8B0B-1BCA0C750F2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04356 w 356"/>
                <a:gd name="T3" fmla="*/ 8247 h 368"/>
                <a:gd name="T4" fmla="*/ 123796 w 356"/>
                <a:gd name="T5" fmla="*/ 171821 h 368"/>
                <a:gd name="T6" fmla="*/ 27283 w 356"/>
                <a:gd name="T7" fmla="*/ 21488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5" name="Rectangle 1">
            <a:extLst>
              <a:ext uri="{FF2B5EF4-FFF2-40B4-BE49-F238E27FC236}">
                <a16:creationId xmlns:a16="http://schemas.microsoft.com/office/drawing/2014/main" id="{1793ACB6-24B4-8843-82BA-98C5DF854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6776" y="3754682"/>
            <a:ext cx="7535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IPv4 crisis: run out of IP addresses </a:t>
            </a:r>
            <a:r>
              <a:rPr lang="en-US" altLang="en-US" sz="3200" dirty="0">
                <a:solidFill>
                  <a:srgbClr val="0432FF"/>
                </a:solidFill>
              </a:rPr>
              <a:t>--&gt; IPv6 </a:t>
            </a:r>
          </a:p>
        </p:txBody>
      </p:sp>
    </p:spTree>
    <p:extLst>
      <p:ext uri="{BB962C8B-B14F-4D97-AF65-F5344CB8AC3E}">
        <p14:creationId xmlns:p14="http://schemas.microsoft.com/office/powerpoint/2010/main" val="121407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Ch 6: Link layer + Ch 7 Wireless (partly)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Basic services in link layers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Framing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Link access (multiple access)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Reliable transfer (link-level)</a:t>
            </a:r>
          </a:p>
          <a:p>
            <a:pPr lvl="1">
              <a:defRPr/>
            </a:pPr>
            <a:r>
              <a:rPr lang="en-US" dirty="0">
                <a:cs typeface="+mn-cs"/>
              </a:rPr>
              <a:t>Error detection and correction</a:t>
            </a:r>
            <a:endParaRPr lang="en-US" dirty="0"/>
          </a:p>
          <a:p>
            <a:pPr>
              <a:defRPr/>
            </a:pPr>
            <a:r>
              <a:rPr lang="en-US" dirty="0"/>
              <a:t>Error detection and correction</a:t>
            </a:r>
          </a:p>
          <a:p>
            <a:pPr lvl="1">
              <a:defRPr/>
            </a:pPr>
            <a:r>
              <a:rPr lang="en-US" dirty="0"/>
              <a:t>2D parity code</a:t>
            </a:r>
          </a:p>
          <a:p>
            <a:pPr lvl="1">
              <a:defRPr/>
            </a:pPr>
            <a:r>
              <a:rPr lang="en-US" dirty="0"/>
              <a:t>CRC  (Q: how to calculate R, given D and G)</a:t>
            </a:r>
          </a:p>
          <a:p>
            <a:pPr lvl="2">
              <a:defRPr/>
            </a:pPr>
            <a:endParaRPr lang="en-US" dirty="0"/>
          </a:p>
          <a:p>
            <a:pPr lvl="2">
              <a:defRPr/>
            </a:pPr>
            <a:endParaRPr lang="en-US" dirty="0"/>
          </a:p>
          <a:p>
            <a:pPr lvl="2">
              <a:defRPr/>
            </a:pPr>
            <a:endParaRPr lang="en-US" dirty="0"/>
          </a:p>
          <a:p>
            <a:pPr lvl="2">
              <a:defRPr/>
            </a:pPr>
            <a:endParaRPr lang="en-US" dirty="0"/>
          </a:p>
          <a:p>
            <a:pPr lvl="2">
              <a:defRPr/>
            </a:pPr>
            <a:r>
              <a:rPr lang="en-US" dirty="0"/>
              <a:t>Hint:  A-B = A XOR B, A+B = A XOR B</a:t>
            </a:r>
          </a:p>
          <a:p>
            <a:pPr lvl="1">
              <a:defRPr/>
            </a:pPr>
            <a:endParaRPr lang="en-US" i="1" dirty="0">
              <a:solidFill>
                <a:srgbClr val="CC0000"/>
              </a:solidFill>
              <a:latin typeface="Gill Sans MT" charset="0"/>
              <a:cs typeface="+mn-cs"/>
            </a:endParaRPr>
          </a:p>
        </p:txBody>
      </p:sp>
      <p:pic>
        <p:nvPicPr>
          <p:cNvPr id="6" name="Picture 4" descr="524 CRC cod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083" y="3592854"/>
            <a:ext cx="4756077" cy="1126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622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ABF0F0-A6BA-D0BB-64C7-760C16A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  <a:p>
            <a:pPr lvl="1"/>
            <a:r>
              <a:rPr lang="en-US" dirty="0"/>
              <a:t>Broadcast (shared) channel: collision without coordination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channel partitioning: TDMA, FDMA, CDMA</a:t>
            </a:r>
          </a:p>
          <a:p>
            <a:pPr lvl="1"/>
            <a:r>
              <a:rPr lang="en-US" dirty="0"/>
              <a:t>Random access: Slotted-ALOHA, ALOHA, CSMA, CSMA/CD, CSMA/CA </a:t>
            </a:r>
          </a:p>
          <a:p>
            <a:pPr lvl="1"/>
            <a:r>
              <a:rPr lang="en-US" dirty="0"/>
              <a:t>“taking turns”: Polling, token</a:t>
            </a:r>
          </a:p>
          <a:p>
            <a:pPr lvl="1"/>
            <a:endParaRPr lang="en-US" dirty="0"/>
          </a:p>
          <a:p>
            <a:r>
              <a:rPr lang="en-US" dirty="0"/>
              <a:t>How to pick a proper multiple access protocol?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FA283E-54D8-CB78-AC5A-E7770632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Access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A2ECF-A149-9E5D-E67A-84A00C613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Wireless and Mobile Networks: 7- 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47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CSMA/CD</a:t>
            </a:r>
          </a:p>
          <a:p>
            <a:r>
              <a:rPr lang="en-US" dirty="0"/>
              <a:t>After aborting, NIC enters </a:t>
            </a:r>
            <a:r>
              <a:rPr lang="en-US" i="1" dirty="0">
                <a:solidFill>
                  <a:srgbClr val="CC0000"/>
                </a:solidFill>
              </a:rPr>
              <a:t>binary (exponential) </a:t>
            </a:r>
            <a:r>
              <a:rPr lang="en-US" i="1" dirty="0" err="1">
                <a:solidFill>
                  <a:srgbClr val="CC0000"/>
                </a:solidFill>
              </a:rPr>
              <a:t>backoff</a:t>
            </a:r>
            <a:r>
              <a:rPr lang="en-US" i="1" dirty="0">
                <a:solidFill>
                  <a:srgbClr val="CC0000"/>
                </a:solidFill>
              </a:rPr>
              <a:t>:</a:t>
            </a:r>
          </a:p>
        </p:txBody>
      </p:sp>
      <p:sp>
        <p:nvSpPr>
          <p:cNvPr id="11" name="Content Placeholder 1"/>
          <p:cNvSpPr>
            <a:spLocks noGrp="1"/>
          </p:cNvSpPr>
          <p:nvPr>
            <p:ph sz="half" idx="4294967295"/>
          </p:nvPr>
        </p:nvSpPr>
        <p:spPr>
          <a:xfrm>
            <a:off x="1065667" y="3687302"/>
            <a:ext cx="8285162" cy="30988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600" dirty="0">
                <a:solidFill>
                  <a:srgbClr val="FF0000"/>
                </a:solidFill>
              </a:rPr>
              <a:t>802.11: </a:t>
            </a:r>
            <a:r>
              <a:rPr lang="en-US" sz="2600" i="1" dirty="0">
                <a:solidFill>
                  <a:srgbClr val="FF0000"/>
                </a:solidFill>
              </a:rPr>
              <a:t>no</a:t>
            </a:r>
            <a:r>
              <a:rPr lang="en-US" sz="2600" dirty="0">
                <a:solidFill>
                  <a:srgbClr val="FF0000"/>
                </a:solidFill>
              </a:rPr>
              <a:t> collision detection!</a:t>
            </a:r>
          </a:p>
          <a:p>
            <a:pPr>
              <a:defRPr/>
            </a:pPr>
            <a:r>
              <a:rPr lang="en-US" sz="2600" dirty="0"/>
              <a:t>avoid collisions (CA): 2</a:t>
            </a:r>
            <a:r>
              <a:rPr lang="en-US" sz="2600" baseline="30000" dirty="0"/>
              <a:t>+</a:t>
            </a:r>
            <a:r>
              <a:rPr lang="en-US" sz="2600" dirty="0"/>
              <a:t> nodes </a:t>
            </a:r>
            <a:r>
              <a:rPr lang="en-US" sz="2600" dirty="0">
                <a:sym typeface="Symbol" charset="0"/>
              </a:rPr>
              <a:t>transmitting at same time</a:t>
            </a:r>
          </a:p>
          <a:p>
            <a:pPr>
              <a:defRPr/>
            </a:pPr>
            <a:r>
              <a:rPr lang="en-US" sz="2600" dirty="0">
                <a:sym typeface="Symbol" charset="0"/>
              </a:rPr>
              <a:t>802.11: CSMA - sense before transmitting</a:t>
            </a:r>
          </a:p>
          <a:p>
            <a:pPr lvl="1">
              <a:defRPr/>
            </a:pPr>
            <a:r>
              <a:rPr lang="en-US" sz="2600" dirty="0"/>
              <a:t>don</a:t>
            </a:r>
            <a:r>
              <a:rPr lang="ja-JP" altLang="en-US" sz="2600" dirty="0"/>
              <a:t>’</a:t>
            </a:r>
            <a:r>
              <a:rPr lang="en-US" sz="2600" dirty="0"/>
              <a:t>t collide with ongoing transmission by other node</a:t>
            </a:r>
          </a:p>
          <a:p>
            <a:pPr>
              <a:defRPr/>
            </a:pPr>
            <a:r>
              <a:rPr lang="en-US" dirty="0"/>
              <a:t>DIFS-DATA-SIFS-ACK: mandatory </a:t>
            </a:r>
          </a:p>
          <a:p>
            <a:pPr>
              <a:defRPr/>
            </a:pPr>
            <a:r>
              <a:rPr lang="en-US" dirty="0"/>
              <a:t>RTS-CTS-DATA-ACK</a:t>
            </a:r>
          </a:p>
          <a:p>
            <a:pPr lvl="1">
              <a:defRPr/>
            </a:pPr>
            <a:r>
              <a:rPr lang="en-US" dirty="0"/>
              <a:t>RTS-CTS: reserve channel (hidden terminal)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322048" y="2599198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600" dirty="0">
                <a:solidFill>
                  <a:srgbClr val="0432FF"/>
                </a:solidFill>
                <a:latin typeface="+mn-lt"/>
              </a:rPr>
              <a:t>802.11 CSMA/CA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DD0A1-5C81-CB64-7E75-DF1A896D5942}"/>
              </a:ext>
            </a:extLst>
          </p:cNvPr>
          <p:cNvSpPr txBox="1"/>
          <p:nvPr/>
        </p:nvSpPr>
        <p:spPr>
          <a:xfrm>
            <a:off x="2451100" y="6401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432FF"/>
                </a:solidFill>
                <a:latin typeface="+mn-lt"/>
              </a:rPr>
              <a:t>Ethernet CSMA/CD algorithm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6123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B8BC-7382-3D42-B4C1-E0D21BC9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Sample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F6106-6D27-5B4E-8C9C-5FE9752DE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is each protocol for? </a:t>
            </a:r>
          </a:p>
          <a:p>
            <a:pPr lvl="1"/>
            <a:r>
              <a:rPr lang="en-US" dirty="0"/>
              <a:t>HTTP</a:t>
            </a:r>
          </a:p>
          <a:p>
            <a:pPr lvl="1"/>
            <a:r>
              <a:rPr lang="en-US" dirty="0"/>
              <a:t>DNS</a:t>
            </a:r>
          </a:p>
          <a:p>
            <a:pPr lvl="1"/>
            <a:r>
              <a:rPr lang="en-US" dirty="0"/>
              <a:t>DHCP</a:t>
            </a:r>
          </a:p>
          <a:p>
            <a:pPr lvl="1"/>
            <a:r>
              <a:rPr lang="en-US" dirty="0"/>
              <a:t>TCP</a:t>
            </a:r>
          </a:p>
          <a:p>
            <a:pPr lvl="1"/>
            <a:r>
              <a:rPr lang="en-US" dirty="0"/>
              <a:t>UDP</a:t>
            </a:r>
          </a:p>
          <a:p>
            <a:pPr lvl="1"/>
            <a:r>
              <a:rPr lang="en-US" dirty="0"/>
              <a:t>IP</a:t>
            </a:r>
          </a:p>
          <a:p>
            <a:pPr lvl="1"/>
            <a:r>
              <a:rPr lang="en-US" dirty="0"/>
              <a:t>ICMP</a:t>
            </a:r>
          </a:p>
          <a:p>
            <a:pPr lvl="1"/>
            <a:r>
              <a:rPr lang="en-US" dirty="0"/>
              <a:t>BGP</a:t>
            </a:r>
          </a:p>
          <a:p>
            <a:pPr lvl="1"/>
            <a:r>
              <a:rPr lang="en-US" dirty="0"/>
              <a:t>OSPF</a:t>
            </a:r>
          </a:p>
          <a:p>
            <a:pPr lvl="1"/>
            <a:r>
              <a:rPr lang="en-US" dirty="0"/>
              <a:t>CSMA/CD</a:t>
            </a:r>
          </a:p>
          <a:p>
            <a:pPr lvl="1"/>
            <a:r>
              <a:rPr lang="en-US" dirty="0"/>
              <a:t>CSMA/CA</a:t>
            </a:r>
          </a:p>
          <a:p>
            <a:pPr lvl="1"/>
            <a:r>
              <a:rPr lang="en-US" dirty="0"/>
              <a:t>ARP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983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037AD-E222-D865-8B61-5CDFF0D3E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9380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C00000"/>
                </a:solidFill>
              </a:rPr>
              <a:t>CS422 COURSE EVALUATION </a:t>
            </a:r>
          </a:p>
          <a:p>
            <a:pPr lvl="1"/>
            <a:r>
              <a:rPr lang="en-US" sz="3600" dirty="0"/>
              <a:t>Your time and feedback is appreciated! </a:t>
            </a:r>
            <a:r>
              <a:rPr lang="en-US" sz="3600" dirty="0">
                <a:sym typeface="Wingdings" pitchFamily="2" charset="2"/>
              </a:rPr>
              <a:t></a:t>
            </a:r>
            <a:endParaRPr lang="en-US" sz="3600" dirty="0"/>
          </a:p>
          <a:p>
            <a:pPr marL="463550" lvl="1" indent="0">
              <a:buNone/>
            </a:pPr>
            <a:endParaRPr lang="en-US" sz="3200" dirty="0"/>
          </a:p>
          <a:p>
            <a:pPr>
              <a:lnSpc>
                <a:spcPct val="90000"/>
              </a:lnSpc>
            </a:pPr>
            <a:r>
              <a:rPr lang="en-US" sz="3600" dirty="0"/>
              <a:t>Contact us (</a:t>
            </a:r>
            <a:r>
              <a:rPr lang="en-US" sz="3600" dirty="0">
                <a:hlinkClick r:id="rId2"/>
              </a:rPr>
              <a:t>cs422-ta@cs.purdue.edu</a:t>
            </a:r>
            <a:r>
              <a:rPr lang="en-US" sz="36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3200" dirty="0" err="1"/>
              <a:t>Campuswire</a:t>
            </a:r>
            <a:endParaRPr lang="en-US" sz="3200" dirty="0"/>
          </a:p>
          <a:p>
            <a:pPr lvl="1">
              <a:lnSpc>
                <a:spcPct val="90000"/>
              </a:lnSpc>
            </a:pPr>
            <a:r>
              <a:rPr lang="en-US" sz="3200" b="1" dirty="0"/>
              <a:t>Extra Office hours next week:</a:t>
            </a:r>
          </a:p>
          <a:p>
            <a:pPr lvl="2"/>
            <a:r>
              <a:rPr lang="en-US" sz="2800" dirty="0"/>
              <a:t>Monday: 1:30 pm to 2:30 pm (online via Zoom)</a:t>
            </a:r>
          </a:p>
          <a:p>
            <a:pPr marL="130175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B54774-FC42-A633-BF2A-DC3E71000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Question? </a:t>
            </a:r>
          </a:p>
        </p:txBody>
      </p:sp>
    </p:spTree>
    <p:extLst>
      <p:ext uri="{BB962C8B-B14F-4D97-AF65-F5344CB8AC3E}">
        <p14:creationId xmlns:p14="http://schemas.microsoft.com/office/powerpoint/2010/main" val="178209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Good Luck and Best Wishes to our Exam Students - Presentation Secondary  School Castleisland">
            <a:extLst>
              <a:ext uri="{FF2B5EF4-FFF2-40B4-BE49-F238E27FC236}">
                <a16:creationId xmlns:a16="http://schemas.microsoft.com/office/drawing/2014/main" id="{91F7049B-D109-DEBD-6D6A-272971C6A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0971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78844B-9BF9-3F74-4B1E-FFA2CCD0BB26}"/>
              </a:ext>
            </a:extLst>
          </p:cNvPr>
          <p:cNvSpPr txBox="1"/>
          <p:nvPr/>
        </p:nvSpPr>
        <p:spPr>
          <a:xfrm>
            <a:off x="0" y="465407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u="sng" dirty="0">
                <a:solidFill>
                  <a:schemeClr val="bg1"/>
                </a:solidFill>
              </a:rPr>
              <a:t>Final: </a:t>
            </a:r>
            <a:r>
              <a:rPr lang="en-US" sz="4400" b="0" i="0" u="sng" dirty="0">
                <a:solidFill>
                  <a:schemeClr val="bg1"/>
                </a:solidFill>
                <a:effectLst/>
              </a:rPr>
              <a:t> </a:t>
            </a:r>
            <a:r>
              <a:rPr lang="en-US" sz="4400" b="1" i="0" u="sng" dirty="0">
                <a:solidFill>
                  <a:schemeClr val="bg1"/>
                </a:solidFill>
                <a:effectLst/>
              </a:rPr>
              <a:t>7:00PM - 9:00PM</a:t>
            </a:r>
            <a:endParaRPr lang="en-US" sz="4400" u="sng" dirty="0">
              <a:solidFill>
                <a:schemeClr val="bg1"/>
              </a:solidFill>
            </a:endParaRPr>
          </a:p>
        </p:txBody>
      </p:sp>
      <p:pic>
        <p:nvPicPr>
          <p:cNvPr id="1036" name="Picture 12" descr="Mini Kitkat Bars PNG Images Transparent Background">
            <a:extLst>
              <a:ext uri="{FF2B5EF4-FFF2-40B4-BE49-F238E27FC236}">
                <a16:creationId xmlns:a16="http://schemas.microsoft.com/office/drawing/2014/main" id="{4114E853-9332-0875-BF19-C77FD5EA2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698402">
            <a:off x="9869479" y="4425043"/>
            <a:ext cx="22479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Mini Kitkat Bars PNG Images Transparent Background">
            <a:extLst>
              <a:ext uri="{FF2B5EF4-FFF2-40B4-BE49-F238E27FC236}">
                <a16:creationId xmlns:a16="http://schemas.microsoft.com/office/drawing/2014/main" id="{294C304A-07B2-2AC2-372C-72F8C9A85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74154">
            <a:off x="9089571" y="4738080"/>
            <a:ext cx="22479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03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27957</TotalTime>
  <Words>2205</Words>
  <Application>Microsoft Macintosh PowerPoint</Application>
  <PresentationFormat>Widescreen</PresentationFormat>
  <Paragraphs>478</Paragraphs>
  <Slides>30</Slides>
  <Notes>22</Notes>
  <HiddenSlides>7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ＭＳ Ｐゴシック</vt:lpstr>
      <vt:lpstr>Arial</vt:lpstr>
      <vt:lpstr>Calibri</vt:lpstr>
      <vt:lpstr>Calibri Light</vt:lpstr>
      <vt:lpstr>Gill Sans MT</vt:lpstr>
      <vt:lpstr>Symbol</vt:lpstr>
      <vt:lpstr>Times New Roman</vt:lpstr>
      <vt:lpstr>Wingdings</vt:lpstr>
      <vt:lpstr>Office Theme</vt:lpstr>
      <vt:lpstr>CS422 Final Review</vt:lpstr>
      <vt:lpstr>Grading Policy</vt:lpstr>
      <vt:lpstr>Final: 19:00PM – 21:00PM, Dec 16 (Tue)</vt:lpstr>
      <vt:lpstr>Internet protocol stack</vt:lpstr>
      <vt:lpstr>One-page highlights</vt:lpstr>
      <vt:lpstr>One-page highlights</vt:lpstr>
      <vt:lpstr>A Vertical View &amp; Beyond</vt:lpstr>
      <vt:lpstr>Another Synthesis Example</vt:lpstr>
      <vt:lpstr>Synthesis Example (More)</vt:lpstr>
      <vt:lpstr>One-page highlights</vt:lpstr>
      <vt:lpstr>Ch 1: Introduction</vt:lpstr>
      <vt:lpstr>Ch2: Application</vt:lpstr>
      <vt:lpstr>Ch3: Transport</vt:lpstr>
      <vt:lpstr>TCP Congestion Control (and Why?)</vt:lpstr>
      <vt:lpstr>Ch4 + Ch5: Network layer</vt:lpstr>
      <vt:lpstr>Ch4 + Ch5: Network layer (contd.)</vt:lpstr>
      <vt:lpstr>Ch4 + Ch5: Network layer (contd.)</vt:lpstr>
      <vt:lpstr>Ch5: Routing </vt:lpstr>
      <vt:lpstr>Ch 6: Link layer + Multiple Access Protocol</vt:lpstr>
      <vt:lpstr>Ch6: link-layer framing &amp; addressing  </vt:lpstr>
      <vt:lpstr>Ch6 + Ch7: From Ethernet to Wireless</vt:lpstr>
      <vt:lpstr>Ch7: Wireless</vt:lpstr>
      <vt:lpstr>PowerPoint Presentation</vt:lpstr>
      <vt:lpstr>Ch4: Addressing &amp; NAT</vt:lpstr>
      <vt:lpstr>Ch 6: Link layer + Ch 7 Wireless (partly)</vt:lpstr>
      <vt:lpstr>Multiple Access Protocol</vt:lpstr>
      <vt:lpstr>PowerPoint Presentation</vt:lpstr>
      <vt:lpstr>Some Sample Questions</vt:lpstr>
      <vt:lpstr>Any Question?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Shengqing Xia</cp:lastModifiedBy>
  <cp:revision>1068</cp:revision>
  <dcterms:created xsi:type="dcterms:W3CDTF">2020-01-18T07:24:59Z</dcterms:created>
  <dcterms:modified xsi:type="dcterms:W3CDTF">2025-12-11T06:14:57Z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2024-04-11T14:25:35Z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0c130ab6-3c67-4e2d-a461-a2fc5cfedf2b</vt:lpwstr>
  </property>
  <property fmtid="{D5CDD505-2E9C-101B-9397-08002B2CF9AE}" pid="8" name="MSIP_Label_4044bd30-2ed7-4c9d-9d12-46200872a97b_ContentBits">
    <vt:lpwstr>0</vt:lpwstr>
  </property>
</Properties>
</file>